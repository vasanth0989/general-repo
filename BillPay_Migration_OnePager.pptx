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742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 Migration — Executive One-Pager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Capital One   </a:t>
            </a:r>
            <a:r>
              <a:rPr lang="en-US" sz="125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Vendor migration: FIS → Fiserv   |   Associate Pilot (AP) Wave   |   Status as of Aug 13, 2026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104120" y="38404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8404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E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3520440" cy="4041648"/>
          </a:xfrm>
          <a:prstGeom prst="roundRect">
            <a:avLst>
              <a:gd name="adj" fmla="val 2338"/>
            </a:avLst>
          </a:prstGeom>
          <a:solidFill>
            <a:srgbClr val="1D2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17904"/>
            <a:ext cx="420624" cy="420624"/>
          </a:xfrm>
          <a:prstGeom prst="ellipse">
            <a:avLst/>
          </a:prstGeom>
          <a:solidFill>
            <a:srgbClr val="2332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61391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51790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READINESS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139696"/>
            <a:ext cx="3063240" cy="1298448"/>
          </a:xfrm>
          <a:prstGeom prst="roundRect">
            <a:avLst>
              <a:gd name="adj" fmla="val 4930"/>
            </a:avLst>
          </a:prstGeom>
          <a:solidFill>
            <a:srgbClr val="2332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86968" y="2231136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4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28600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75688" y="2231136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 profiles
</a:t>
            </a: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1 · Complete
</a:t>
            </a:r>
            <a:r>
              <a:rPr lang="en-US" sz="11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29 – Jul 7, 2026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3584448"/>
            <a:ext cx="3063240" cy="1298448"/>
          </a:xfrm>
          <a:prstGeom prst="roundRect">
            <a:avLst>
              <a:gd name="adj" fmla="val 4930"/>
            </a:avLst>
          </a:prstGeom>
          <a:solidFill>
            <a:srgbClr val="2332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86968" y="3675888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4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373075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75688" y="3675888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 profiles
</a:t>
            </a: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2 · Complete
</a:t>
            </a:r>
            <a:r>
              <a:rPr lang="en-US" sz="11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 – 21, 2026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49560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rehearsals completed end-to-end — a 3.7× scale-up validated ahead of Migration Day.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297680" y="1298448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MILESTONES  —  DELIVERED BY DFS TEAM FALCONS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297680" y="1719072"/>
            <a:ext cx="2328672" cy="2944368"/>
          </a:xfrm>
          <a:prstGeom prst="roundRect">
            <a:avLst>
              <a:gd name="adj" fmla="val 3534"/>
            </a:avLst>
          </a:prstGeom>
          <a:solidFill>
            <a:srgbClr val="1D2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498848" y="1920240"/>
            <a:ext cx="420624" cy="420624"/>
          </a:xfrm>
          <a:prstGeom prst="ellipse">
            <a:avLst/>
          </a:prstGeom>
          <a:solidFill>
            <a:srgbClr val="2332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016252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10912" y="1883664"/>
            <a:ext cx="1505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MD-8
</a:t>
            </a:r>
            <a:r>
              <a:rPr lang="en-US" sz="1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14 · 5:00 PM ET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498848" y="2505456"/>
            <a:ext cx="1926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freeze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17136" y="2871216"/>
            <a:ext cx="19263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Bill Pay enrollments disabled for the AP population</a:t>
            </a:r>
            <a:endParaRPr lang="en-US" sz="1100" dirty="0"/>
          </a:p>
          <a:p>
            <a:pPr marL="127000" indent="-1270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 customers can no longer add new eBill enrollments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827520" y="1719072"/>
            <a:ext cx="2328672" cy="2944368"/>
          </a:xfrm>
          <a:prstGeom prst="roundRect">
            <a:avLst>
              <a:gd name="adj" fmla="val 3534"/>
            </a:avLst>
          </a:prstGeom>
          <a:solidFill>
            <a:srgbClr val="1D2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028688" y="1920240"/>
            <a:ext cx="420624" cy="420624"/>
          </a:xfrm>
          <a:prstGeom prst="ellipse">
            <a:avLst/>
          </a:prstGeom>
          <a:solidFill>
            <a:srgbClr val="2332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700" y="2016252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40752" y="1883664"/>
            <a:ext cx="1505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MD-2
</a:t>
            </a:r>
            <a:r>
              <a:rPr lang="en-US" sz="1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 · 5:00 PM ET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028688" y="2505456"/>
            <a:ext cx="1926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cutoff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7046976" y="2871216"/>
            <a:ext cx="19263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 access fully disabled for the AP wave</a:t>
            </a:r>
            <a:endParaRPr lang="en-US" sz="1100" dirty="0"/>
          </a:p>
          <a:p>
            <a:pPr marL="127000" indent="-1270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lockdown ahead of the weekend migration window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9357360" y="1719072"/>
            <a:ext cx="2328672" cy="2944368"/>
          </a:xfrm>
          <a:prstGeom prst="roundRect">
            <a:avLst>
              <a:gd name="adj" fmla="val 3534"/>
            </a:avLst>
          </a:prstGeom>
          <a:solidFill>
            <a:srgbClr val="1D2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9558528" y="1920240"/>
            <a:ext cx="420624" cy="420624"/>
          </a:xfrm>
          <a:prstGeom prst="ellipse">
            <a:avLst/>
          </a:prstGeom>
          <a:solidFill>
            <a:srgbClr val="2332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4540" y="2016252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070592" y="1883664"/>
            <a:ext cx="1505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
</a:t>
            </a:r>
            <a:r>
              <a:rPr lang="en-US" sz="1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Oct 8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9558528" y="2505456"/>
            <a:ext cx="1926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suppression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9576816" y="2871216"/>
            <a:ext cx="19263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MMA-funded payments cannot be scheduled on/after Oct 8</a:t>
            </a:r>
            <a:endParaRPr lang="en-US" sz="1100" dirty="0"/>
          </a:p>
          <a:p>
            <a:pPr marL="127000" indent="-1270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+ pop-up inform impacted customers in-page</a:t>
            </a:r>
            <a:endParaRPr lang="en-US" sz="1100" dirty="0"/>
          </a:p>
          <a:p>
            <a:pPr marL="127000" indent="-1270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a checking funding account lifts the restriction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754880" y="4956048"/>
            <a:ext cx="6153912" cy="0"/>
          </a:xfrm>
          <a:prstGeom prst="line">
            <a:avLst/>
          </a:prstGeom>
          <a:noFill/>
          <a:ln w="28575">
            <a:solidFill>
              <a:srgbClr val="2E3D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4690872" y="489204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3977640" y="50657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14
</a:t>
            </a:r>
            <a:r>
              <a:rPr lang="en-US" sz="9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MD-8 freeze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6742176" y="489204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6028944" y="50657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
</a:t>
            </a:r>
            <a:r>
              <a:rPr lang="en-US" sz="9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MD-2 cutoff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8766048" y="4864608"/>
            <a:ext cx="182880" cy="182880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8080248" y="50657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22
</a:t>
            </a:r>
            <a:r>
              <a:rPr lang="en-US" sz="9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Day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10844784" y="489204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10131552" y="50657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8
</a:t>
            </a:r>
            <a:r>
              <a:rPr lang="en-US" sz="900" dirty="0">
                <a:solidFill>
                  <a:srgbClr val="A8B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 calendar cutoff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502920" y="5596128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1D2A5C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861304"/>
            <a:ext cx="310896" cy="310896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234440" y="559612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PRODUCTION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suppression changes are tested with sign-off from UAT, Regression &amp; Mobile teams — releasing to production tonight, Aug 13. AP-wave migration proceeds this weekend as planned.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240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 B</cp:lastModifiedBy>
  <cp:revision>2</cp:revision>
  <dcterms:created xsi:type="dcterms:W3CDTF">2026-08-13T19:08:19Z</dcterms:created>
  <dcterms:modified xsi:type="dcterms:W3CDTF">2026-08-13T19:12:34Z</dcterms:modified>
</cp:coreProperties>
</file>