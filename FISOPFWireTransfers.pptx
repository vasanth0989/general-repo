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2" d="100"/>
          <a:sy n="122" d="100"/>
        </p:scale>
        <p:origin x="114"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51525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briefing: give leadership a working mental model of FIS OPF — what it is, where it sits in Discover's wire architecture, and how outbound wires actually move. Key headline up front: OPF is our outbound wire engine; inbound wires never touch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remember. 1) OPF is a processing platform from FIS — the successor of FIS Quantum, which is why BPM still shows a 'Quantum' step. 2) It sits only on the outbound side. 3) Integration is file-based: request batches out, ACK/NACK responses back, settlement via BNY Mellon.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OPF's seven core jobs condensed to six tiles: intake, validation/compliance, enrichment, format transformation, routing, settlement &amp; exception handling. Point out the naming note — people will see 'Quantum' in BPM screens and this pre-empts the confusion. FIS added strong ISO 20022 compliance starting 2022, which matters because Fedwire itself migrated to ISO 20022 in July 2025.</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answer for this briefing. Outbound: channels → Wires App (validation + EDP fraud decisioning) → BPM case with two human approvals → Wires Batch → FIS OPF → BNY Mellon → Fedwire or SWIFT. Inbound: Fed and BNY report files → parsing portal / DataHub → ComplianceLink OFAC → Beacon → Finacle. OPF appears exactly once — on the outbound lane. The nuance at the bottom pre-empts a sharp question: yes, files flow FROM OPF to us, but they're outbound-wire statuses.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lifecycle left to right. Emphasize the control layers before OPF: validation services, EDP fraud decisioning, and dual approval in BPM. OPF is deliberately downstream of all human decisions — it industrializes the hand-off to the networks. Stage 4 is dark to signal 'money leaves the bank here.'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file relay and renames — worth showing because ops tickets often reference these exact file names. DFTP is our in-house enterprise file transmission; Pep+ is the FIS mainframe-side hub that stages files for OPF. Right: the operational clock. Note: the OPF migration changed only the response flow; the request flow is untouched.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automation story: statuses return without manual work. ACK path: totals from the ACK file, wait for all per-wire XMLs (PSR files), parse, update BPM through its REST API. NACK path: whole batch set stops — a deliberate safety property; cases remain in BPM and ride the next batch after correction.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Routing model: OPF formats and routes; BNY Mellon is our correspondent/settlement agent to Fedwire (domestic) and SWIFT (international). We are not a direct Fedwire participant on this path — FedLine Advantage is only a low-volume manual fallback. BCP files are the continuity answer leadership usually asks about: pre-positioned payment backups a partner bank can run if our stack is down.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contrast: inbound wires arrive via Fed daily reports (parsed to Excel through a secure portal) and BNY export files. DataHub/Beacon stage them, ComplianceLink screens OFAC, Beacon manages exceptions, Finacle posts credit. Manual-heavy but well-controlled (BEST QA, QMS evidence). If asked about the merger: Capital One runs event-driven inbound over FedLine Direct with auto-posting — the likely convergence direction.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strategic frame: OPF buys ISO 20022 readiness, embedded compliance, and network connectivity we'd otherwise build and certify ourselves — and it de-risks merger integration because FIS platforms are common ground. Leave leadership with the one-liner at the bottom.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 leave up during Q&amp;A. Every system named in the earlier flows appears here with a one-line role.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3D"/>
        </a:solidFill>
        <a:effectLst/>
      </p:bgPr>
    </p:bg>
    <p:spTree>
      <p:nvGrpSpPr>
        <p:cNvPr id="1" name=""/>
        <p:cNvGrpSpPr/>
        <p:nvPr/>
      </p:nvGrpSpPr>
      <p:grpSpPr>
        <a:xfrm>
          <a:off x="0" y="0"/>
          <a:ext cx="0" cy="0"/>
          <a:chOff x="0" y="0"/>
          <a:chExt cx="0" cy="0"/>
        </a:xfrm>
      </p:grpSpPr>
      <p:sp>
        <p:nvSpPr>
          <p:cNvPr id="2" name="Text 0"/>
          <p:cNvSpPr txBox="1"/>
          <p:nvPr/>
        </p:nvSpPr>
        <p:spPr>
          <a:xfrm>
            <a:off x="822960" y="1417320"/>
            <a:ext cx="10515600" cy="1097280"/>
          </a:xfrm>
          <a:prstGeom prst="rect">
            <a:avLst/>
          </a:prstGeom>
          <a:noFill/>
          <a:ln/>
        </p:spPr>
        <p:txBody>
          <a:bodyPr wrap="square" lIns="0" tIns="0" rIns="0" bIns="0" rtlCol="0" anchor="ctr"/>
          <a:lstStyle/>
          <a:p>
            <a:pPr marL="0" indent="0">
              <a:buNone/>
            </a:pPr>
            <a:r>
              <a:rPr lang="en-US" sz="6000" b="1" dirty="0">
                <a:solidFill>
                  <a:srgbClr val="FFFFFF"/>
                </a:solidFill>
                <a:latin typeface="Calibri" pitchFamily="34" charset="0"/>
                <a:ea typeface="Calibri" pitchFamily="34" charset="-122"/>
                <a:cs typeface="Calibri" pitchFamily="34" charset="-120"/>
              </a:rPr>
              <a:t>FIS OPF</a:t>
            </a:r>
            <a:endParaRPr lang="en-US" sz="6000" dirty="0"/>
          </a:p>
        </p:txBody>
      </p:sp>
      <p:sp>
        <p:nvSpPr>
          <p:cNvPr id="3" name="Text 1"/>
          <p:cNvSpPr txBox="1"/>
          <p:nvPr/>
        </p:nvSpPr>
        <p:spPr>
          <a:xfrm>
            <a:off x="822960" y="2606040"/>
            <a:ext cx="9875520" cy="548640"/>
          </a:xfrm>
          <a:prstGeom prst="rect">
            <a:avLst/>
          </a:prstGeom>
          <a:noFill/>
          <a:ln/>
        </p:spPr>
        <p:txBody>
          <a:bodyPr wrap="square" lIns="0" tIns="0" rIns="0" bIns="0" rtlCol="0" anchor="ctr"/>
          <a:lstStyle/>
          <a:p>
            <a:pPr marL="0" indent="0">
              <a:buNone/>
            </a:pPr>
            <a:r>
              <a:rPr lang="en-US" sz="2100" dirty="0">
                <a:solidFill>
                  <a:srgbClr val="C9D9F5"/>
                </a:solidFill>
                <a:latin typeface="Calibri" pitchFamily="34" charset="0"/>
                <a:ea typeface="Calibri" pitchFamily="34" charset="-122"/>
                <a:cs typeface="Calibri" pitchFamily="34" charset="-120"/>
              </a:rPr>
              <a:t>How the Open Payments Framework powers Discover's outbound wires</a:t>
            </a:r>
            <a:endParaRPr lang="en-US" sz="2100" dirty="0"/>
          </a:p>
        </p:txBody>
      </p:sp>
      <p:sp>
        <p:nvSpPr>
          <p:cNvPr id="4" name="Text 2"/>
          <p:cNvSpPr txBox="1"/>
          <p:nvPr/>
        </p:nvSpPr>
        <p:spPr>
          <a:xfrm>
            <a:off x="822960" y="3246120"/>
            <a:ext cx="9144000" cy="365760"/>
          </a:xfrm>
          <a:prstGeom prst="rect">
            <a:avLst/>
          </a:prstGeom>
          <a:noFill/>
          <a:ln/>
        </p:spPr>
        <p:txBody>
          <a:bodyPr wrap="square" lIns="0" tIns="0" rIns="0" bIns="0" rtlCol="0" anchor="ctr"/>
          <a:lstStyle/>
          <a:p>
            <a:pPr marL="0" indent="0">
              <a:buNone/>
            </a:pPr>
            <a:r>
              <a:rPr lang="en-US" sz="1300" dirty="0">
                <a:solidFill>
                  <a:srgbClr val="8FA3C8"/>
                </a:solidFill>
                <a:latin typeface="Calibri" pitchFamily="34" charset="0"/>
                <a:ea typeface="Calibri" pitchFamily="34" charset="-122"/>
                <a:cs typeface="Calibri" pitchFamily="34" charset="-120"/>
              </a:rPr>
              <a:t>Money Movement  ·  Leadership Briefing  ·  September 2026</a:t>
            </a:r>
            <a:endParaRPr lang="en-US" sz="1300" dirty="0"/>
          </a:p>
        </p:txBody>
      </p:sp>
      <p:sp>
        <p:nvSpPr>
          <p:cNvPr id="5" name="Text 3"/>
          <p:cNvSpPr txBox="1"/>
          <p:nvPr/>
        </p:nvSpPr>
        <p:spPr>
          <a:xfrm>
            <a:off x="822960" y="5074920"/>
            <a:ext cx="1234440" cy="566928"/>
          </a:xfrm>
          <a:prstGeom prst="roundRect">
            <a:avLst>
              <a:gd name="adj" fmla="val 14516"/>
            </a:avLst>
          </a:prstGeom>
          <a:solidFill>
            <a:srgbClr val="1C3059"/>
          </a:solidFill>
          <a:ln>
            <a:solidFill>
              <a:srgbClr val="1C3059"/>
            </a:solidFill>
          </a:ln>
        </p:spPr>
        <p:txBody>
          <a:bodyPr wrap="square" lIns="25400" tIns="25400" rIns="25400" bIns="25400" rtlCol="0" anchor="ctr">
            <a:normAutofit/>
          </a:bodyPr>
          <a:lstStyle/>
          <a:p>
            <a:pPr marL="0" indent="0" algn="ctr">
              <a:buNone/>
            </a:pPr>
            <a:r>
              <a:rPr lang="en-US" sz="1250" b="1" dirty="0">
                <a:solidFill>
                  <a:srgbClr val="C9D9F5"/>
                </a:solidFill>
                <a:latin typeface="Calibri" pitchFamily="34" charset="0"/>
                <a:ea typeface="Calibri" pitchFamily="34" charset="-122"/>
                <a:cs typeface="Calibri" pitchFamily="34" charset="-120"/>
              </a:rPr>
              <a:t>Customer</a:t>
            </a:r>
            <a:endParaRPr lang="en-US" sz="1250" dirty="0"/>
          </a:p>
        </p:txBody>
      </p:sp>
      <p:sp>
        <p:nvSpPr>
          <p:cNvPr id="6" name="Shape 4"/>
          <p:cNvSpPr/>
          <p:nvPr/>
        </p:nvSpPr>
        <p:spPr>
          <a:xfrm>
            <a:off x="2103120" y="5358384"/>
            <a:ext cx="292608" cy="0"/>
          </a:xfrm>
          <a:prstGeom prst="line">
            <a:avLst/>
          </a:prstGeom>
          <a:noFill/>
          <a:ln w="22225">
            <a:solidFill>
              <a:srgbClr val="44598C"/>
            </a:solidFill>
            <a:prstDash val="solid"/>
            <a:tailEnd type="triangle"/>
          </a:ln>
        </p:spPr>
        <p:txBody>
          <a:bodyPr/>
          <a:lstStyle/>
          <a:p>
            <a:endParaRPr lang="en-US"/>
          </a:p>
        </p:txBody>
      </p:sp>
      <p:sp>
        <p:nvSpPr>
          <p:cNvPr id="7" name="Text 5"/>
          <p:cNvSpPr txBox="1"/>
          <p:nvPr/>
        </p:nvSpPr>
        <p:spPr>
          <a:xfrm>
            <a:off x="2441448" y="5074920"/>
            <a:ext cx="1234440" cy="566928"/>
          </a:xfrm>
          <a:prstGeom prst="roundRect">
            <a:avLst>
              <a:gd name="adj" fmla="val 14516"/>
            </a:avLst>
          </a:prstGeom>
          <a:solidFill>
            <a:srgbClr val="1C3059"/>
          </a:solidFill>
          <a:ln>
            <a:solidFill>
              <a:srgbClr val="1C3059"/>
            </a:solidFill>
          </a:ln>
        </p:spPr>
        <p:txBody>
          <a:bodyPr wrap="square" lIns="25400" tIns="25400" rIns="25400" bIns="25400" rtlCol="0" anchor="ctr">
            <a:normAutofit/>
          </a:bodyPr>
          <a:lstStyle/>
          <a:p>
            <a:pPr marL="0" indent="0" algn="ctr">
              <a:buNone/>
            </a:pPr>
            <a:r>
              <a:rPr lang="en-US" sz="1250" b="1" dirty="0">
                <a:solidFill>
                  <a:srgbClr val="C9D9F5"/>
                </a:solidFill>
                <a:latin typeface="Calibri" pitchFamily="34" charset="0"/>
                <a:ea typeface="Calibri" pitchFamily="34" charset="-122"/>
                <a:cs typeface="Calibri" pitchFamily="34" charset="-120"/>
              </a:rPr>
              <a:t>BPM case</a:t>
            </a:r>
            <a:endParaRPr lang="en-US" sz="1250" dirty="0"/>
          </a:p>
        </p:txBody>
      </p:sp>
      <p:sp>
        <p:nvSpPr>
          <p:cNvPr id="8" name="Shape 6"/>
          <p:cNvSpPr/>
          <p:nvPr/>
        </p:nvSpPr>
        <p:spPr>
          <a:xfrm>
            <a:off x="3721608" y="5358384"/>
            <a:ext cx="292608" cy="0"/>
          </a:xfrm>
          <a:prstGeom prst="line">
            <a:avLst/>
          </a:prstGeom>
          <a:noFill/>
          <a:ln w="22225">
            <a:solidFill>
              <a:srgbClr val="44598C"/>
            </a:solidFill>
            <a:prstDash val="solid"/>
            <a:tailEnd type="triangle"/>
          </a:ln>
        </p:spPr>
        <p:txBody>
          <a:bodyPr/>
          <a:lstStyle/>
          <a:p>
            <a:endParaRPr lang="en-US"/>
          </a:p>
        </p:txBody>
      </p:sp>
      <p:sp>
        <p:nvSpPr>
          <p:cNvPr id="9" name="Text 7"/>
          <p:cNvSpPr txBox="1"/>
          <p:nvPr/>
        </p:nvSpPr>
        <p:spPr>
          <a:xfrm>
            <a:off x="4059936" y="5074920"/>
            <a:ext cx="1371600" cy="566928"/>
          </a:xfrm>
          <a:prstGeom prst="roundRect">
            <a:avLst>
              <a:gd name="adj" fmla="val 14516"/>
            </a:avLst>
          </a:prstGeom>
          <a:solidFill>
            <a:srgbClr val="1C3059"/>
          </a:solidFill>
          <a:ln>
            <a:solidFill>
              <a:srgbClr val="1C3059"/>
            </a:solidFill>
          </a:ln>
        </p:spPr>
        <p:txBody>
          <a:bodyPr wrap="square" lIns="25400" tIns="25400" rIns="25400" bIns="25400" rtlCol="0" anchor="ctr">
            <a:normAutofit/>
          </a:bodyPr>
          <a:lstStyle/>
          <a:p>
            <a:pPr marL="0" indent="0" algn="ctr">
              <a:buNone/>
            </a:pPr>
            <a:r>
              <a:rPr lang="en-US" sz="1250" b="1" dirty="0">
                <a:solidFill>
                  <a:srgbClr val="C9D9F5"/>
                </a:solidFill>
                <a:latin typeface="Calibri" pitchFamily="34" charset="0"/>
                <a:ea typeface="Calibri" pitchFamily="34" charset="-122"/>
                <a:cs typeface="Calibri" pitchFamily="34" charset="-120"/>
              </a:rPr>
              <a:t>Wires Batch</a:t>
            </a:r>
            <a:endParaRPr lang="en-US" sz="1250" dirty="0"/>
          </a:p>
        </p:txBody>
      </p:sp>
      <p:sp>
        <p:nvSpPr>
          <p:cNvPr id="10" name="Shape 8"/>
          <p:cNvSpPr/>
          <p:nvPr/>
        </p:nvSpPr>
        <p:spPr>
          <a:xfrm>
            <a:off x="5477256" y="5358384"/>
            <a:ext cx="292608" cy="0"/>
          </a:xfrm>
          <a:prstGeom prst="line">
            <a:avLst/>
          </a:prstGeom>
          <a:noFill/>
          <a:ln w="22225">
            <a:solidFill>
              <a:srgbClr val="44598C"/>
            </a:solidFill>
            <a:prstDash val="solid"/>
            <a:tailEnd type="triangle"/>
          </a:ln>
        </p:spPr>
        <p:txBody>
          <a:bodyPr/>
          <a:lstStyle/>
          <a:p>
            <a:endParaRPr lang="en-US"/>
          </a:p>
        </p:txBody>
      </p:sp>
      <p:sp>
        <p:nvSpPr>
          <p:cNvPr id="11" name="Text 9"/>
          <p:cNvSpPr txBox="1"/>
          <p:nvPr/>
        </p:nvSpPr>
        <p:spPr>
          <a:xfrm>
            <a:off x="5815584" y="5074920"/>
            <a:ext cx="1325880" cy="566928"/>
          </a:xfrm>
          <a:prstGeom prst="roundRect">
            <a:avLst>
              <a:gd name="adj" fmla="val 14516"/>
            </a:avLst>
          </a:prstGeom>
          <a:solidFill>
            <a:srgbClr val="FF6000"/>
          </a:solidFill>
          <a:ln>
            <a:solidFill>
              <a:srgbClr val="FF6000"/>
            </a:solidFill>
          </a:ln>
        </p:spPr>
        <p:txBody>
          <a:bodyPr wrap="square" lIns="25400" tIns="25400" rIns="25400" bIns="25400" rtlCol="0" anchor="ctr">
            <a:normAutofit/>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FIS OPF</a:t>
            </a:r>
            <a:endParaRPr lang="en-US" sz="1250" dirty="0"/>
          </a:p>
        </p:txBody>
      </p:sp>
      <p:sp>
        <p:nvSpPr>
          <p:cNvPr id="12" name="Shape 10"/>
          <p:cNvSpPr/>
          <p:nvPr/>
        </p:nvSpPr>
        <p:spPr>
          <a:xfrm>
            <a:off x="7187184" y="5358384"/>
            <a:ext cx="292608" cy="0"/>
          </a:xfrm>
          <a:prstGeom prst="line">
            <a:avLst/>
          </a:prstGeom>
          <a:noFill/>
          <a:ln w="22225">
            <a:solidFill>
              <a:srgbClr val="44598C"/>
            </a:solidFill>
            <a:prstDash val="solid"/>
            <a:tailEnd type="triangle"/>
          </a:ln>
        </p:spPr>
        <p:txBody>
          <a:bodyPr/>
          <a:lstStyle/>
          <a:p>
            <a:endParaRPr lang="en-US"/>
          </a:p>
        </p:txBody>
      </p:sp>
      <p:sp>
        <p:nvSpPr>
          <p:cNvPr id="13" name="Text 11"/>
          <p:cNvSpPr txBox="1"/>
          <p:nvPr/>
        </p:nvSpPr>
        <p:spPr>
          <a:xfrm>
            <a:off x="7525512" y="5074920"/>
            <a:ext cx="1371600" cy="566928"/>
          </a:xfrm>
          <a:prstGeom prst="roundRect">
            <a:avLst>
              <a:gd name="adj" fmla="val 14516"/>
            </a:avLst>
          </a:prstGeom>
          <a:solidFill>
            <a:srgbClr val="1C3059"/>
          </a:solidFill>
          <a:ln>
            <a:solidFill>
              <a:srgbClr val="1C3059"/>
            </a:solidFill>
          </a:ln>
        </p:spPr>
        <p:txBody>
          <a:bodyPr wrap="square" lIns="25400" tIns="25400" rIns="25400" bIns="25400" rtlCol="0" anchor="ctr">
            <a:normAutofit/>
          </a:bodyPr>
          <a:lstStyle/>
          <a:p>
            <a:pPr marL="0" indent="0" algn="ctr">
              <a:buNone/>
            </a:pPr>
            <a:r>
              <a:rPr lang="en-US" sz="1250" b="1" dirty="0">
                <a:solidFill>
                  <a:srgbClr val="C9D9F5"/>
                </a:solidFill>
                <a:latin typeface="Calibri" pitchFamily="34" charset="0"/>
                <a:ea typeface="Calibri" pitchFamily="34" charset="-122"/>
                <a:cs typeface="Calibri" pitchFamily="34" charset="-120"/>
              </a:rPr>
              <a:t>BNY Mellon</a:t>
            </a:r>
            <a:endParaRPr lang="en-US" sz="1250" dirty="0"/>
          </a:p>
        </p:txBody>
      </p:sp>
      <p:sp>
        <p:nvSpPr>
          <p:cNvPr id="14" name="Shape 12"/>
          <p:cNvSpPr/>
          <p:nvPr/>
        </p:nvSpPr>
        <p:spPr>
          <a:xfrm>
            <a:off x="8942832" y="5358384"/>
            <a:ext cx="292608" cy="0"/>
          </a:xfrm>
          <a:prstGeom prst="line">
            <a:avLst/>
          </a:prstGeom>
          <a:noFill/>
          <a:ln w="22225">
            <a:solidFill>
              <a:srgbClr val="44598C"/>
            </a:solidFill>
            <a:prstDash val="solid"/>
            <a:tailEnd type="triangle"/>
          </a:ln>
        </p:spPr>
        <p:txBody>
          <a:bodyPr/>
          <a:lstStyle/>
          <a:p>
            <a:endParaRPr lang="en-US"/>
          </a:p>
        </p:txBody>
      </p:sp>
      <p:sp>
        <p:nvSpPr>
          <p:cNvPr id="15" name="Text 13"/>
          <p:cNvSpPr txBox="1"/>
          <p:nvPr/>
        </p:nvSpPr>
        <p:spPr>
          <a:xfrm>
            <a:off x="9281160" y="5074920"/>
            <a:ext cx="1737360" cy="566928"/>
          </a:xfrm>
          <a:prstGeom prst="roundRect">
            <a:avLst>
              <a:gd name="adj" fmla="val 14516"/>
            </a:avLst>
          </a:prstGeom>
          <a:solidFill>
            <a:srgbClr val="1C3059"/>
          </a:solidFill>
          <a:ln>
            <a:solidFill>
              <a:srgbClr val="1C3059"/>
            </a:solidFill>
          </a:ln>
        </p:spPr>
        <p:txBody>
          <a:bodyPr wrap="square" lIns="25400" tIns="25400" rIns="25400" bIns="25400" rtlCol="0" anchor="ctr">
            <a:normAutofit/>
          </a:bodyPr>
          <a:lstStyle/>
          <a:p>
            <a:pPr marL="0" indent="0" algn="ctr">
              <a:buNone/>
            </a:pPr>
            <a:r>
              <a:rPr lang="en-US" sz="1250" b="1" dirty="0">
                <a:solidFill>
                  <a:srgbClr val="C9D9F5"/>
                </a:solidFill>
                <a:latin typeface="Calibri" pitchFamily="34" charset="0"/>
                <a:ea typeface="Calibri" pitchFamily="34" charset="-122"/>
                <a:cs typeface="Calibri" pitchFamily="34" charset="-120"/>
              </a:rPr>
              <a:t>Fedwire / SWIFT</a:t>
            </a:r>
            <a:endParaRPr lang="en-US" sz="1250" dirty="0"/>
          </a:p>
        </p:txBody>
      </p:sp>
      <p:sp>
        <p:nvSpPr>
          <p:cNvPr id="16" name="Text 14"/>
          <p:cNvSpPr txBox="1"/>
          <p:nvPr/>
        </p:nvSpPr>
        <p:spPr>
          <a:xfrm>
            <a:off x="822960" y="5806440"/>
            <a:ext cx="7315200" cy="320040"/>
          </a:xfrm>
          <a:prstGeom prst="rect">
            <a:avLst/>
          </a:prstGeom>
          <a:noFill/>
          <a:ln/>
        </p:spPr>
        <p:txBody>
          <a:bodyPr wrap="square" lIns="0" tIns="0" rIns="0" bIns="0" rtlCol="0" anchor="ctr"/>
          <a:lstStyle/>
          <a:p>
            <a:pPr marL="0" indent="0">
              <a:buNone/>
            </a:pPr>
            <a:r>
              <a:rPr lang="en-US" sz="1150" i="1" dirty="0">
                <a:solidFill>
                  <a:srgbClr val="8FA3C8"/>
                </a:solidFill>
                <a:latin typeface="Calibri" pitchFamily="34" charset="0"/>
                <a:ea typeface="Calibri" pitchFamily="34" charset="-122"/>
                <a:cs typeface="Calibri" pitchFamily="34" charset="-120"/>
              </a:rPr>
              <a:t>the journey every outbound wire takes</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1064240" cy="640080"/>
          </a:xfrm>
          <a:prstGeom prst="rect">
            <a:avLst/>
          </a:prstGeom>
          <a:noFill/>
          <a:ln/>
        </p:spPr>
        <p:txBody>
          <a:bodyPr wrap="square" lIns="0" tIns="0" rIns="0" bIns="0" rtlCol="0" anchor="ctr"/>
          <a:lstStyle/>
          <a:p>
            <a:pPr marL="0" indent="0">
              <a:buNone/>
            </a:pPr>
            <a:r>
              <a:rPr lang="en-US" sz="3000" b="1" dirty="0">
                <a:solidFill>
                  <a:srgbClr val="18243F"/>
                </a:solidFill>
                <a:latin typeface="Calibri" pitchFamily="34" charset="0"/>
                <a:ea typeface="Calibri" pitchFamily="34" charset="-122"/>
                <a:cs typeface="Calibri" pitchFamily="34" charset="-120"/>
              </a:rPr>
              <a:t>The short version</a:t>
            </a:r>
            <a:endParaRPr lang="en-US" sz="3000" dirty="0"/>
          </a:p>
        </p:txBody>
      </p:sp>
      <p:sp>
        <p:nvSpPr>
          <p:cNvPr id="3" name="Shape 1"/>
          <p:cNvSpPr/>
          <p:nvPr/>
        </p:nvSpPr>
        <p:spPr>
          <a:xfrm>
            <a:off x="548640" y="1371600"/>
            <a:ext cx="3566160" cy="3657600"/>
          </a:xfrm>
          <a:prstGeom prst="roundRect">
            <a:avLst>
              <a:gd name="adj" fmla="val 3077"/>
            </a:avLst>
          </a:prstGeom>
          <a:solidFill>
            <a:srgbClr val="EEF2F9"/>
          </a:solidFill>
          <a:ln w="12700">
            <a:solidFill>
              <a:srgbClr val="EEF2F9"/>
            </a:solidFill>
            <a:prstDash val="solid"/>
          </a:ln>
        </p:spPr>
        <p:txBody>
          <a:bodyPr/>
          <a:lstStyle/>
          <a:p>
            <a:endParaRPr lang="en-US"/>
          </a:p>
        </p:txBody>
      </p:sp>
      <p:sp>
        <p:nvSpPr>
          <p:cNvPr id="4" name="Shape 2"/>
          <p:cNvSpPr/>
          <p:nvPr/>
        </p:nvSpPr>
        <p:spPr>
          <a:xfrm>
            <a:off x="841248" y="1645920"/>
            <a:ext cx="566928" cy="566928"/>
          </a:xfrm>
          <a:prstGeom prst="ellipse">
            <a:avLst/>
          </a:prstGeom>
          <a:solidFill>
            <a:srgbClr val="FF6000"/>
          </a:solidFill>
          <a:ln w="12700">
            <a:solidFill>
              <a:srgbClr val="FF6000"/>
            </a:solidFill>
            <a:prstDash val="solid"/>
          </a:ln>
        </p:spPr>
        <p:txBody>
          <a:bodyPr/>
          <a:lstStyle/>
          <a:p>
            <a:endParaRPr lang="en-US"/>
          </a:p>
        </p:txBody>
      </p:sp>
      <p:pic>
        <p:nvPicPr>
          <p:cNvPr id="5" name="Image 0" descr="C:\Users\vasan\AppData\Local\Temp\claude\D--unfold-git-work-fisOPF\bdc8cb48-9752-4a6c-a524-d1dfc31f95fd\scratchpad/icons/cogs_FFFFFF.png"/>
          <p:cNvPicPr>
            <a:picLocks noChangeAspect="1"/>
          </p:cNvPicPr>
          <p:nvPr/>
        </p:nvPicPr>
        <p:blipFill>
          <a:blip r:embed="rId3"/>
          <a:stretch>
            <a:fillRect/>
          </a:stretch>
        </p:blipFill>
        <p:spPr>
          <a:xfrm>
            <a:off x="988649" y="1793321"/>
            <a:ext cx="272125" cy="272125"/>
          </a:xfrm>
          <a:prstGeom prst="rect">
            <a:avLst/>
          </a:prstGeom>
        </p:spPr>
      </p:pic>
      <p:sp>
        <p:nvSpPr>
          <p:cNvPr id="6" name="Text 3"/>
          <p:cNvSpPr txBox="1"/>
          <p:nvPr/>
        </p:nvSpPr>
        <p:spPr>
          <a:xfrm>
            <a:off x="841248" y="2331720"/>
            <a:ext cx="2980944" cy="777240"/>
          </a:xfrm>
          <a:prstGeom prst="rect">
            <a:avLst/>
          </a:prstGeom>
          <a:noFill/>
          <a:ln/>
        </p:spPr>
        <p:txBody>
          <a:bodyPr wrap="square" lIns="0" tIns="0" rIns="0" bIns="0" rtlCol="0" anchor="ctr"/>
          <a:lstStyle/>
          <a:p>
            <a:pPr marL="0" indent="0">
              <a:buNone/>
            </a:pPr>
            <a:r>
              <a:rPr lang="en-US" sz="1700" b="1" dirty="0">
                <a:solidFill>
                  <a:srgbClr val="18243F"/>
                </a:solidFill>
                <a:latin typeface="Calibri" pitchFamily="34" charset="0"/>
                <a:ea typeface="Calibri" pitchFamily="34" charset="-122"/>
                <a:cs typeface="Calibri" pitchFamily="34" charset="-120"/>
              </a:rPr>
              <a:t>A payments engine,</a:t>
            </a:r>
            <a:endParaRPr lang="en-US" sz="1700" dirty="0"/>
          </a:p>
          <a:p>
            <a:pPr marL="0" indent="0">
              <a:buNone/>
            </a:pPr>
            <a:r>
              <a:rPr lang="en-US" sz="1700" b="1" dirty="0">
                <a:solidFill>
                  <a:srgbClr val="18243F"/>
                </a:solidFill>
                <a:latin typeface="Calibri" pitchFamily="34" charset="0"/>
                <a:ea typeface="Calibri" pitchFamily="34" charset="-122"/>
                <a:cs typeface="Calibri" pitchFamily="34" charset="-120"/>
              </a:rPr>
              <a:t>not a network</a:t>
            </a:r>
            <a:endParaRPr lang="en-US" sz="1700" dirty="0"/>
          </a:p>
        </p:txBody>
      </p:sp>
      <p:sp>
        <p:nvSpPr>
          <p:cNvPr id="7" name="Text 4"/>
          <p:cNvSpPr txBox="1"/>
          <p:nvPr/>
        </p:nvSpPr>
        <p:spPr>
          <a:xfrm>
            <a:off x="841248" y="3154680"/>
            <a:ext cx="2980944" cy="1737360"/>
          </a:xfrm>
          <a:prstGeom prst="rect">
            <a:avLst/>
          </a:prstGeom>
          <a:noFill/>
          <a:ln/>
        </p:spPr>
        <p:txBody>
          <a:bodyPr wrap="square" lIns="0" tIns="0" rIns="0" bIns="0" rtlCol="0" anchor="ctr"/>
          <a:lstStyle/>
          <a:p>
            <a:pPr marL="0" indent="0">
              <a:buNone/>
            </a:pPr>
            <a:r>
              <a:rPr lang="en-US" sz="1250" dirty="0">
                <a:solidFill>
                  <a:srgbClr val="18243F"/>
                </a:solidFill>
                <a:latin typeface="Calibri" pitchFamily="34" charset="0"/>
                <a:ea typeface="Calibri" pitchFamily="34" charset="-122"/>
                <a:cs typeface="Calibri" pitchFamily="34" charset="-120"/>
              </a:rPr>
              <a:t>FIS OPF (Open Payments Framework — successor to FIS Quantum) validates, enriches, formats, and routes high-value payments. It gives us Fedwire / SWIFT plumbing without building our own.</a:t>
            </a:r>
            <a:endParaRPr lang="en-US" sz="1250" dirty="0"/>
          </a:p>
        </p:txBody>
      </p:sp>
      <p:sp>
        <p:nvSpPr>
          <p:cNvPr id="8" name="Shape 5"/>
          <p:cNvSpPr/>
          <p:nvPr/>
        </p:nvSpPr>
        <p:spPr>
          <a:xfrm>
            <a:off x="4434840" y="1371600"/>
            <a:ext cx="3566160" cy="3657600"/>
          </a:xfrm>
          <a:prstGeom prst="roundRect">
            <a:avLst>
              <a:gd name="adj" fmla="val 3077"/>
            </a:avLst>
          </a:prstGeom>
          <a:solidFill>
            <a:srgbClr val="EEF2F9"/>
          </a:solidFill>
          <a:ln w="12700">
            <a:solidFill>
              <a:srgbClr val="EEF2F9"/>
            </a:solidFill>
            <a:prstDash val="solid"/>
          </a:ln>
        </p:spPr>
        <p:txBody>
          <a:bodyPr/>
          <a:lstStyle/>
          <a:p>
            <a:endParaRPr lang="en-US"/>
          </a:p>
        </p:txBody>
      </p:sp>
      <p:sp>
        <p:nvSpPr>
          <p:cNvPr id="9" name="Shape 6"/>
          <p:cNvSpPr/>
          <p:nvPr/>
        </p:nvSpPr>
        <p:spPr>
          <a:xfrm>
            <a:off x="4727448" y="1645920"/>
            <a:ext cx="566928" cy="566928"/>
          </a:xfrm>
          <a:prstGeom prst="ellipse">
            <a:avLst/>
          </a:prstGeom>
          <a:solidFill>
            <a:srgbClr val="FF6000"/>
          </a:solidFill>
          <a:ln w="12700">
            <a:solidFill>
              <a:srgbClr val="FF6000"/>
            </a:solidFill>
            <a:prstDash val="solid"/>
          </a:ln>
        </p:spPr>
        <p:txBody>
          <a:bodyPr/>
          <a:lstStyle/>
          <a:p>
            <a:endParaRPr lang="en-US"/>
          </a:p>
        </p:txBody>
      </p:sp>
      <p:pic>
        <p:nvPicPr>
          <p:cNvPr id="10" name="Image 1" descr="C:\Users\vasan\AppData\Local\Temp\claude\D--unfold-git-work-fisOPF\bdc8cb48-9752-4a6c-a524-d1dfc31f95fd\scratchpad/icons/paperPlane_FFFFFF.png"/>
          <p:cNvPicPr>
            <a:picLocks noChangeAspect="1"/>
          </p:cNvPicPr>
          <p:nvPr/>
        </p:nvPicPr>
        <p:blipFill>
          <a:blip r:embed="rId4"/>
          <a:stretch>
            <a:fillRect/>
          </a:stretch>
        </p:blipFill>
        <p:spPr>
          <a:xfrm>
            <a:off x="4874849" y="1793321"/>
            <a:ext cx="272125" cy="272125"/>
          </a:xfrm>
          <a:prstGeom prst="rect">
            <a:avLst/>
          </a:prstGeom>
        </p:spPr>
      </p:pic>
      <p:sp>
        <p:nvSpPr>
          <p:cNvPr id="11" name="Text 7"/>
          <p:cNvSpPr txBox="1"/>
          <p:nvPr/>
        </p:nvSpPr>
        <p:spPr>
          <a:xfrm>
            <a:off x="4727448" y="2331720"/>
            <a:ext cx="2980944" cy="777240"/>
          </a:xfrm>
          <a:prstGeom prst="rect">
            <a:avLst/>
          </a:prstGeom>
          <a:noFill/>
          <a:ln/>
        </p:spPr>
        <p:txBody>
          <a:bodyPr wrap="square" lIns="0" tIns="0" rIns="0" bIns="0" rtlCol="0" anchor="ctr"/>
          <a:lstStyle/>
          <a:p>
            <a:pPr marL="0" indent="0">
              <a:buNone/>
            </a:pPr>
            <a:r>
              <a:rPr lang="en-US" sz="1700" b="1" dirty="0">
                <a:solidFill>
                  <a:srgbClr val="18243F"/>
                </a:solidFill>
                <a:latin typeface="Calibri" pitchFamily="34" charset="0"/>
                <a:ea typeface="Calibri" pitchFamily="34" charset="-122"/>
                <a:cs typeface="Calibri" pitchFamily="34" charset="-120"/>
              </a:rPr>
              <a:t>Our last stop before</a:t>
            </a:r>
            <a:endParaRPr lang="en-US" sz="1700" dirty="0"/>
          </a:p>
          <a:p>
            <a:pPr marL="0" indent="0">
              <a:buNone/>
            </a:pPr>
            <a:r>
              <a:rPr lang="en-US" sz="1700" b="1" dirty="0">
                <a:solidFill>
                  <a:srgbClr val="18243F"/>
                </a:solidFill>
                <a:latin typeface="Calibri" pitchFamily="34" charset="0"/>
                <a:ea typeface="Calibri" pitchFamily="34" charset="-122"/>
                <a:cs typeface="Calibri" pitchFamily="34" charset="-120"/>
              </a:rPr>
              <a:t>money leaves</a:t>
            </a:r>
            <a:endParaRPr lang="en-US" sz="1700" dirty="0"/>
          </a:p>
        </p:txBody>
      </p:sp>
      <p:sp>
        <p:nvSpPr>
          <p:cNvPr id="12" name="Text 8"/>
          <p:cNvSpPr txBox="1"/>
          <p:nvPr/>
        </p:nvSpPr>
        <p:spPr>
          <a:xfrm>
            <a:off x="4727448" y="3154680"/>
            <a:ext cx="2980944" cy="1737360"/>
          </a:xfrm>
          <a:prstGeom prst="rect">
            <a:avLst/>
          </a:prstGeom>
          <a:noFill/>
          <a:ln/>
        </p:spPr>
        <p:txBody>
          <a:bodyPr wrap="square" lIns="0" tIns="0" rIns="0" bIns="0" rtlCol="0" anchor="ctr"/>
          <a:lstStyle/>
          <a:p>
            <a:pPr marL="0" indent="0">
              <a:buNone/>
            </a:pPr>
            <a:r>
              <a:rPr lang="en-US" sz="1250" dirty="0">
                <a:solidFill>
                  <a:srgbClr val="18243F"/>
                </a:solidFill>
                <a:latin typeface="Calibri" pitchFamily="34" charset="0"/>
                <a:ea typeface="Calibri" pitchFamily="34" charset="-122"/>
                <a:cs typeface="Calibri" pitchFamily="34" charset="-120"/>
              </a:rPr>
              <a:t>Every outbound wire funnels through OPF after dual approval in BPM. Inbound wires take a completely separate path (Beacon → Finacle) that never touches OPF.</a:t>
            </a:r>
            <a:endParaRPr lang="en-US" sz="1250" dirty="0"/>
          </a:p>
        </p:txBody>
      </p:sp>
      <p:sp>
        <p:nvSpPr>
          <p:cNvPr id="13" name="Shape 9"/>
          <p:cNvSpPr/>
          <p:nvPr/>
        </p:nvSpPr>
        <p:spPr>
          <a:xfrm>
            <a:off x="8321040" y="1371600"/>
            <a:ext cx="3566160" cy="3657600"/>
          </a:xfrm>
          <a:prstGeom prst="roundRect">
            <a:avLst>
              <a:gd name="adj" fmla="val 3077"/>
            </a:avLst>
          </a:prstGeom>
          <a:solidFill>
            <a:srgbClr val="EEF2F9"/>
          </a:solidFill>
          <a:ln w="12700">
            <a:solidFill>
              <a:srgbClr val="EEF2F9"/>
            </a:solidFill>
            <a:prstDash val="solid"/>
          </a:ln>
        </p:spPr>
        <p:txBody>
          <a:bodyPr/>
          <a:lstStyle/>
          <a:p>
            <a:endParaRPr lang="en-US"/>
          </a:p>
        </p:txBody>
      </p:sp>
      <p:sp>
        <p:nvSpPr>
          <p:cNvPr id="14" name="Shape 10"/>
          <p:cNvSpPr/>
          <p:nvPr/>
        </p:nvSpPr>
        <p:spPr>
          <a:xfrm>
            <a:off x="8613648" y="1645920"/>
            <a:ext cx="566928" cy="566928"/>
          </a:xfrm>
          <a:prstGeom prst="ellipse">
            <a:avLst/>
          </a:prstGeom>
          <a:solidFill>
            <a:srgbClr val="FF6000"/>
          </a:solidFill>
          <a:ln w="12700">
            <a:solidFill>
              <a:srgbClr val="FF6000"/>
            </a:solidFill>
            <a:prstDash val="solid"/>
          </a:ln>
        </p:spPr>
        <p:txBody>
          <a:bodyPr/>
          <a:lstStyle/>
          <a:p>
            <a:endParaRPr lang="en-US"/>
          </a:p>
        </p:txBody>
      </p:sp>
      <p:pic>
        <p:nvPicPr>
          <p:cNvPr id="15" name="Image 2" descr="C:\Users\vasan\AppData\Local\Temp\claude\D--unfold-git-work-fisOPF\bdc8cb48-9752-4a6c-a524-d1dfc31f95fd\scratchpad/icons/sync_FFFFFF.png"/>
          <p:cNvPicPr>
            <a:picLocks noChangeAspect="1"/>
          </p:cNvPicPr>
          <p:nvPr/>
        </p:nvPicPr>
        <p:blipFill>
          <a:blip r:embed="rId5"/>
          <a:stretch>
            <a:fillRect/>
          </a:stretch>
        </p:blipFill>
        <p:spPr>
          <a:xfrm>
            <a:off x="8761049" y="1793321"/>
            <a:ext cx="272125" cy="272125"/>
          </a:xfrm>
          <a:prstGeom prst="rect">
            <a:avLst/>
          </a:prstGeom>
        </p:spPr>
      </p:pic>
      <p:sp>
        <p:nvSpPr>
          <p:cNvPr id="16" name="Text 11"/>
          <p:cNvSpPr txBox="1"/>
          <p:nvPr/>
        </p:nvSpPr>
        <p:spPr>
          <a:xfrm>
            <a:off x="8613648" y="2331720"/>
            <a:ext cx="2980944" cy="777240"/>
          </a:xfrm>
          <a:prstGeom prst="rect">
            <a:avLst/>
          </a:prstGeom>
          <a:noFill/>
          <a:ln/>
        </p:spPr>
        <p:txBody>
          <a:bodyPr wrap="square" lIns="0" tIns="0" rIns="0" bIns="0" rtlCol="0" anchor="ctr"/>
          <a:lstStyle/>
          <a:p>
            <a:pPr marL="0" indent="0">
              <a:buNone/>
            </a:pPr>
            <a:r>
              <a:rPr lang="en-US" sz="1700" b="1" dirty="0">
                <a:solidFill>
                  <a:srgbClr val="18243F"/>
                </a:solidFill>
                <a:latin typeface="Calibri" pitchFamily="34" charset="0"/>
                <a:ea typeface="Calibri" pitchFamily="34" charset="-122"/>
                <a:cs typeface="Calibri" pitchFamily="34" charset="-120"/>
              </a:rPr>
              <a:t>Batch files out,</a:t>
            </a:r>
            <a:endParaRPr lang="en-US" sz="1700" dirty="0"/>
          </a:p>
          <a:p>
            <a:pPr marL="0" indent="0">
              <a:buNone/>
            </a:pPr>
            <a:r>
              <a:rPr lang="en-US" sz="1700" b="1" dirty="0">
                <a:solidFill>
                  <a:srgbClr val="18243F"/>
                </a:solidFill>
                <a:latin typeface="Calibri" pitchFamily="34" charset="0"/>
                <a:ea typeface="Calibri" pitchFamily="34" charset="-122"/>
                <a:cs typeface="Calibri" pitchFamily="34" charset="-120"/>
              </a:rPr>
              <a:t>statuses back</a:t>
            </a:r>
            <a:endParaRPr lang="en-US" sz="1700" dirty="0"/>
          </a:p>
        </p:txBody>
      </p:sp>
      <p:sp>
        <p:nvSpPr>
          <p:cNvPr id="17" name="Text 12"/>
          <p:cNvSpPr txBox="1"/>
          <p:nvPr/>
        </p:nvSpPr>
        <p:spPr>
          <a:xfrm>
            <a:off x="8613648" y="3154680"/>
            <a:ext cx="2980944" cy="1737360"/>
          </a:xfrm>
          <a:prstGeom prst="rect">
            <a:avLst/>
          </a:prstGeom>
          <a:noFill/>
          <a:ln/>
        </p:spPr>
        <p:txBody>
          <a:bodyPr wrap="square" lIns="0" tIns="0" rIns="0" bIns="0" rtlCol="0" anchor="ctr"/>
          <a:lstStyle/>
          <a:p>
            <a:pPr marL="0" indent="0">
              <a:buNone/>
            </a:pPr>
            <a:r>
              <a:rPr lang="en-US" sz="1250" dirty="0">
                <a:solidFill>
                  <a:srgbClr val="18243F"/>
                </a:solidFill>
                <a:latin typeface="Calibri" pitchFamily="34" charset="0"/>
                <a:ea typeface="Calibri" pitchFamily="34" charset="-122"/>
                <a:cs typeface="Calibri" pitchFamily="34" charset="-120"/>
              </a:rPr>
              <a:t>The Wires Batch app sends approved cases as files via DFTP and Pep+(Bank Payment). OPF answers with ACK / NACK plus per-wire XML, and settles through BNY Mellon to Fedwire or SWIFT.</a:t>
            </a:r>
            <a:endParaRPr lang="en-US" sz="1250" dirty="0"/>
          </a:p>
        </p:txBody>
      </p:sp>
      <p:sp>
        <p:nvSpPr>
          <p:cNvPr id="18" name="Shape 13"/>
          <p:cNvSpPr/>
          <p:nvPr/>
        </p:nvSpPr>
        <p:spPr>
          <a:xfrm>
            <a:off x="548640" y="5349240"/>
            <a:ext cx="11091672" cy="914400"/>
          </a:xfrm>
          <a:prstGeom prst="roundRect">
            <a:avLst>
              <a:gd name="adj" fmla="val 12000"/>
            </a:avLst>
          </a:prstGeom>
          <a:solidFill>
            <a:srgbClr val="FFE9DC"/>
          </a:solidFill>
          <a:ln w="12700">
            <a:solidFill>
              <a:srgbClr val="FFE9DC"/>
            </a:solidFill>
            <a:prstDash val="solid"/>
          </a:ln>
        </p:spPr>
        <p:txBody>
          <a:bodyPr/>
          <a:lstStyle/>
          <a:p>
            <a:endParaRPr lang="en-US"/>
          </a:p>
        </p:txBody>
      </p:sp>
      <p:sp>
        <p:nvSpPr>
          <p:cNvPr id="19" name="Text 14"/>
          <p:cNvSpPr txBox="1"/>
          <p:nvPr/>
        </p:nvSpPr>
        <p:spPr>
          <a:xfrm>
            <a:off x="868680" y="5440680"/>
            <a:ext cx="10515600" cy="731520"/>
          </a:xfrm>
          <a:prstGeom prst="rect">
            <a:avLst/>
          </a:prstGeom>
          <a:noFill/>
          <a:ln/>
        </p:spPr>
        <p:txBody>
          <a:bodyPr wrap="square" lIns="0" tIns="0" rIns="0" bIns="0" rtlCol="0" anchor="ctr"/>
          <a:lstStyle/>
          <a:p>
            <a:pPr marL="0" indent="0">
              <a:buNone/>
            </a:pPr>
            <a:r>
              <a:rPr lang="en-US" sz="1450" b="1" dirty="0">
                <a:solidFill>
                  <a:srgbClr val="FF6000"/>
                </a:solidFill>
                <a:latin typeface="Calibri" pitchFamily="34" charset="0"/>
                <a:ea typeface="Calibri" pitchFamily="34" charset="-122"/>
                <a:cs typeface="Calibri" pitchFamily="34" charset="-120"/>
              </a:rPr>
              <a:t>Bottom line:  </a:t>
            </a:r>
            <a:r>
              <a:rPr lang="en-US" sz="1450" dirty="0">
                <a:solidFill>
                  <a:srgbClr val="18243F"/>
                </a:solidFill>
                <a:latin typeface="Calibri" pitchFamily="34" charset="0"/>
                <a:ea typeface="Calibri" pitchFamily="34" charset="-122"/>
                <a:cs typeface="Calibri" pitchFamily="34" charset="-120"/>
              </a:rPr>
              <a:t>FIS OPF is the outbound wire processing engine — the bridge between our case management (BPM) and the payment networks (Fedwire / SWIFT, via BNY Mellon).</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1064240" cy="640080"/>
          </a:xfrm>
          <a:prstGeom prst="rect">
            <a:avLst/>
          </a:prstGeom>
          <a:noFill/>
          <a:ln/>
        </p:spPr>
        <p:txBody>
          <a:bodyPr wrap="square" lIns="0" tIns="0" rIns="0" bIns="0" rtlCol="0" anchor="ctr"/>
          <a:lstStyle/>
          <a:p>
            <a:pPr marL="0" indent="0">
              <a:buNone/>
            </a:pPr>
            <a:r>
              <a:rPr lang="en-US" sz="3000" b="1" dirty="0">
                <a:solidFill>
                  <a:srgbClr val="18243F"/>
                </a:solidFill>
                <a:latin typeface="Calibri" pitchFamily="34" charset="0"/>
                <a:ea typeface="Calibri" pitchFamily="34" charset="-122"/>
                <a:cs typeface="Calibri" pitchFamily="34" charset="-120"/>
              </a:rPr>
              <a:t>What FIS OPF actually does</a:t>
            </a:r>
            <a:endParaRPr lang="en-US" sz="3000" dirty="0"/>
          </a:p>
        </p:txBody>
      </p:sp>
      <p:sp>
        <p:nvSpPr>
          <p:cNvPr id="3" name="Text 1"/>
          <p:cNvSpPr txBox="1"/>
          <p:nvPr/>
        </p:nvSpPr>
        <p:spPr>
          <a:xfrm>
            <a:off x="548640" y="1325880"/>
            <a:ext cx="4160520" cy="1737360"/>
          </a:xfrm>
          <a:prstGeom prst="rect">
            <a:avLst/>
          </a:prstGeom>
          <a:noFill/>
          <a:ln/>
        </p:spPr>
        <p:txBody>
          <a:bodyPr wrap="square" lIns="0" tIns="0" rIns="0" bIns="0" rtlCol="0" anchor="ctr"/>
          <a:lstStyle/>
          <a:p>
            <a:pPr marL="0" indent="0">
              <a:buNone/>
            </a:pPr>
            <a:r>
              <a:rPr lang="en-US" sz="1400" dirty="0">
                <a:solidFill>
                  <a:srgbClr val="18243F"/>
                </a:solidFill>
                <a:latin typeface="Calibri" pitchFamily="34" charset="0"/>
                <a:ea typeface="Calibri" pitchFamily="34" charset="-122"/>
                <a:cs typeface="Calibri" pitchFamily="34" charset="-120"/>
              </a:rPr>
              <a:t>FIS OPF (Open Payments Framework) is an enterprise payment-processing platform from Fidelity Information Services. For wire transfers it acts as the central orchestration layer — the brain between a bank's internal systems and the payment networks.</a:t>
            </a:r>
            <a:endParaRPr lang="en-US" sz="1400" dirty="0"/>
          </a:p>
        </p:txBody>
      </p:sp>
      <p:sp>
        <p:nvSpPr>
          <p:cNvPr id="4" name="Shape 2"/>
          <p:cNvSpPr/>
          <p:nvPr/>
        </p:nvSpPr>
        <p:spPr>
          <a:xfrm>
            <a:off x="548640" y="3200400"/>
            <a:ext cx="4160520" cy="1234440"/>
          </a:xfrm>
          <a:prstGeom prst="roundRect">
            <a:avLst>
              <a:gd name="adj" fmla="val 7407"/>
            </a:avLst>
          </a:prstGeom>
          <a:solidFill>
            <a:srgbClr val="EEF2F9"/>
          </a:solidFill>
          <a:ln w="12700">
            <a:solidFill>
              <a:srgbClr val="EEF2F9"/>
            </a:solidFill>
            <a:prstDash val="solid"/>
          </a:ln>
        </p:spPr>
        <p:txBody>
          <a:bodyPr/>
          <a:lstStyle/>
          <a:p>
            <a:endParaRPr lang="en-US"/>
          </a:p>
        </p:txBody>
      </p:sp>
      <p:sp>
        <p:nvSpPr>
          <p:cNvPr id="5" name="Text 3"/>
          <p:cNvSpPr txBox="1"/>
          <p:nvPr/>
        </p:nvSpPr>
        <p:spPr>
          <a:xfrm>
            <a:off x="777240" y="3310128"/>
            <a:ext cx="3703320" cy="1005840"/>
          </a:xfrm>
          <a:prstGeom prst="rect">
            <a:avLst/>
          </a:prstGeom>
          <a:noFill/>
          <a:ln/>
        </p:spPr>
        <p:txBody>
          <a:bodyPr wrap="square" lIns="0" tIns="0" rIns="0" bIns="0" rtlCol="0" anchor="ctr"/>
          <a:lstStyle/>
          <a:p>
            <a:pPr marL="0" indent="0">
              <a:buNone/>
            </a:pPr>
            <a:r>
              <a:rPr lang="en-US" sz="1200" b="1" dirty="0">
                <a:solidFill>
                  <a:srgbClr val="18243F"/>
                </a:solidFill>
                <a:latin typeface="Calibri" pitchFamily="34" charset="0"/>
                <a:ea typeface="Calibri" pitchFamily="34" charset="-122"/>
                <a:cs typeface="Calibri" pitchFamily="34" charset="-120"/>
              </a:rPr>
              <a:t>Naming note: </a:t>
            </a:r>
            <a:r>
              <a:rPr lang="en-US" sz="1200" dirty="0">
                <a:solidFill>
                  <a:srgbClr val="18243F"/>
                </a:solidFill>
                <a:latin typeface="Calibri" pitchFamily="34" charset="0"/>
                <a:ea typeface="Calibri" pitchFamily="34" charset="-122"/>
                <a:cs typeface="Calibri" pitchFamily="34" charset="-120"/>
              </a:rPr>
              <a:t>OPF succeeded the FIS Quantum platform. BPM's internal “Quantum” step is legacy naming — it is OPF today.</a:t>
            </a:r>
            <a:endParaRPr lang="en-US" sz="1200" dirty="0"/>
          </a:p>
        </p:txBody>
      </p:sp>
      <p:sp>
        <p:nvSpPr>
          <p:cNvPr id="6" name="Shape 4"/>
          <p:cNvSpPr/>
          <p:nvPr/>
        </p:nvSpPr>
        <p:spPr>
          <a:xfrm>
            <a:off x="548640" y="4617720"/>
            <a:ext cx="4160520" cy="1554480"/>
          </a:xfrm>
          <a:prstGeom prst="roundRect">
            <a:avLst>
              <a:gd name="adj" fmla="val 5882"/>
            </a:avLst>
          </a:prstGeom>
          <a:solidFill>
            <a:srgbClr val="0F1E3D"/>
          </a:solidFill>
          <a:ln w="12700">
            <a:solidFill>
              <a:srgbClr val="0F1E3D"/>
            </a:solidFill>
            <a:prstDash val="solid"/>
          </a:ln>
        </p:spPr>
        <p:txBody>
          <a:bodyPr/>
          <a:lstStyle/>
          <a:p>
            <a:endParaRPr lang="en-US"/>
          </a:p>
        </p:txBody>
      </p:sp>
      <p:sp>
        <p:nvSpPr>
          <p:cNvPr id="7" name="Text 5"/>
          <p:cNvSpPr txBox="1"/>
          <p:nvPr/>
        </p:nvSpPr>
        <p:spPr>
          <a:xfrm>
            <a:off x="777240" y="4754880"/>
            <a:ext cx="3703320" cy="1280160"/>
          </a:xfrm>
          <a:prstGeom prst="rect">
            <a:avLst/>
          </a:prstGeom>
          <a:noFill/>
          <a:ln/>
        </p:spPr>
        <p:txBody>
          <a:bodyPr wrap="square" lIns="0" tIns="0" rIns="0" bIns="0" rtlCol="0" anchor="ctr"/>
          <a:lstStyle/>
          <a:p>
            <a:pPr marL="0" indent="0">
              <a:buNone/>
            </a:pPr>
            <a:r>
              <a:rPr lang="en-US" sz="1250" b="1" dirty="0">
                <a:solidFill>
                  <a:srgbClr val="FFFFFF"/>
                </a:solidFill>
                <a:latin typeface="Calibri" pitchFamily="34" charset="0"/>
                <a:ea typeface="Calibri" pitchFamily="34" charset="-122"/>
                <a:cs typeface="Calibri" pitchFamily="34" charset="-120"/>
              </a:rPr>
              <a:t>Carries every wire type we care about
</a:t>
            </a:r>
            <a:r>
              <a:rPr lang="en-US" sz="1150" dirty="0">
                <a:solidFill>
                  <a:srgbClr val="C9D9F5"/>
                </a:solidFill>
                <a:latin typeface="Calibri" pitchFamily="34" charset="0"/>
                <a:ea typeface="Calibri" pitchFamily="34" charset="-122"/>
                <a:cs typeface="Calibri" pitchFamily="34" charset="-120"/>
              </a:rPr>
              <a:t>Fedwire (domestic USD, real-time) · CHIPS · SWIFT MT &amp; ISO MX · international USD via correspondents · FX wires · internal transfers</a:t>
            </a:r>
            <a:endParaRPr lang="en-US" sz="1250" dirty="0"/>
          </a:p>
        </p:txBody>
      </p:sp>
      <p:sp>
        <p:nvSpPr>
          <p:cNvPr id="8" name="Shape 6"/>
          <p:cNvSpPr/>
          <p:nvPr/>
        </p:nvSpPr>
        <p:spPr>
          <a:xfrm>
            <a:off x="5074920" y="1325880"/>
            <a:ext cx="475488" cy="475488"/>
          </a:xfrm>
          <a:prstGeom prst="ellipse">
            <a:avLst/>
          </a:prstGeom>
          <a:solidFill>
            <a:srgbClr val="FF6000"/>
          </a:solidFill>
          <a:ln w="12700">
            <a:solidFill>
              <a:srgbClr val="FF6000"/>
            </a:solidFill>
            <a:prstDash val="solid"/>
          </a:ln>
        </p:spPr>
        <p:txBody>
          <a:bodyPr/>
          <a:lstStyle/>
          <a:p>
            <a:endParaRPr lang="en-US"/>
          </a:p>
        </p:txBody>
      </p:sp>
      <p:pic>
        <p:nvPicPr>
          <p:cNvPr id="9" name="Image 0" descr="C:\Users\vasan\AppData\Local\Temp\claude\D--unfold-git-work-fisOPF\bdc8cb48-9752-4a6c-a524-d1dfc31f95fd\scratchpad/icons/inbox_FFFFFF.png"/>
          <p:cNvPicPr>
            <a:picLocks noChangeAspect="1"/>
          </p:cNvPicPr>
          <p:nvPr/>
        </p:nvPicPr>
        <p:blipFill>
          <a:blip r:embed="rId3"/>
          <a:stretch>
            <a:fillRect/>
          </a:stretch>
        </p:blipFill>
        <p:spPr>
          <a:xfrm>
            <a:off x="5198547" y="1449507"/>
            <a:ext cx="228234" cy="228234"/>
          </a:xfrm>
          <a:prstGeom prst="rect">
            <a:avLst/>
          </a:prstGeom>
        </p:spPr>
      </p:pic>
      <p:sp>
        <p:nvSpPr>
          <p:cNvPr id="10" name="Text 7"/>
          <p:cNvSpPr txBox="1"/>
          <p:nvPr/>
        </p:nvSpPr>
        <p:spPr>
          <a:xfrm>
            <a:off x="5696712" y="1271016"/>
            <a:ext cx="2761488" cy="320040"/>
          </a:xfrm>
          <a:prstGeom prst="rect">
            <a:avLst/>
          </a:prstGeom>
          <a:noFill/>
          <a:ln/>
        </p:spPr>
        <p:txBody>
          <a:bodyPr wrap="square" lIns="0" tIns="0" rIns="0" bIns="0" rtlCol="0" anchor="ctr"/>
          <a:lstStyle/>
          <a:p>
            <a:pPr marL="0" indent="0">
              <a:buNone/>
            </a:pPr>
            <a:r>
              <a:rPr lang="en-US" sz="1350" b="1" dirty="0">
                <a:solidFill>
                  <a:srgbClr val="18243F"/>
                </a:solidFill>
                <a:latin typeface="Calibri" pitchFamily="34" charset="0"/>
                <a:ea typeface="Calibri" pitchFamily="34" charset="-122"/>
                <a:cs typeface="Calibri" pitchFamily="34" charset="-120"/>
              </a:rPr>
              <a:t>Payment intake</a:t>
            </a:r>
            <a:endParaRPr lang="en-US" sz="1350" dirty="0"/>
          </a:p>
        </p:txBody>
      </p:sp>
      <p:sp>
        <p:nvSpPr>
          <p:cNvPr id="11" name="Text 8"/>
          <p:cNvSpPr txBox="1"/>
          <p:nvPr/>
        </p:nvSpPr>
        <p:spPr>
          <a:xfrm>
            <a:off x="5696712" y="1600200"/>
            <a:ext cx="2761488" cy="1051560"/>
          </a:xfrm>
          <a:prstGeom prst="rect">
            <a:avLst/>
          </a:prstGeom>
          <a:noFill/>
          <a:ln/>
        </p:spPr>
        <p:txBody>
          <a:bodyPr wrap="square" lIns="0" tIns="0" rIns="0" bIns="0" rtlCol="0" anchor="ctr"/>
          <a:lstStyle/>
          <a:p>
            <a:pPr marL="0" indent="0">
              <a:buNone/>
            </a:pPr>
            <a:r>
              <a:rPr lang="en-US" sz="1100" dirty="0">
                <a:solidFill>
                  <a:srgbClr val="5A6B8C"/>
                </a:solidFill>
                <a:latin typeface="Calibri" pitchFamily="34" charset="0"/>
                <a:ea typeface="Calibri" pitchFamily="34" charset="-122"/>
                <a:cs typeface="Calibri" pitchFamily="34" charset="-120"/>
              </a:rPr>
              <a:t>Accepts wires from core (Finacle), IBM BPM, APIs, and host systems (mainframe, MQ, file).</a:t>
            </a:r>
            <a:endParaRPr lang="en-US" sz="1100" dirty="0"/>
          </a:p>
        </p:txBody>
      </p:sp>
      <p:sp>
        <p:nvSpPr>
          <p:cNvPr id="12" name="Shape 9"/>
          <p:cNvSpPr/>
          <p:nvPr/>
        </p:nvSpPr>
        <p:spPr>
          <a:xfrm>
            <a:off x="8732520" y="1325880"/>
            <a:ext cx="475488" cy="475488"/>
          </a:xfrm>
          <a:prstGeom prst="ellipse">
            <a:avLst/>
          </a:prstGeom>
          <a:solidFill>
            <a:srgbClr val="FF6000"/>
          </a:solidFill>
          <a:ln w="12700">
            <a:solidFill>
              <a:srgbClr val="FF6000"/>
            </a:solidFill>
            <a:prstDash val="solid"/>
          </a:ln>
        </p:spPr>
        <p:txBody>
          <a:bodyPr/>
          <a:lstStyle/>
          <a:p>
            <a:endParaRPr lang="en-US"/>
          </a:p>
        </p:txBody>
      </p:sp>
      <p:pic>
        <p:nvPicPr>
          <p:cNvPr id="13" name="Image 1" descr="C:\Users\vasan\AppData\Local\Temp\claude\D--unfold-git-work-fisOPF\bdc8cb48-9752-4a6c-a524-d1dfc31f95fd\scratchpad/icons/shield_FFFFFF.png"/>
          <p:cNvPicPr>
            <a:picLocks noChangeAspect="1"/>
          </p:cNvPicPr>
          <p:nvPr/>
        </p:nvPicPr>
        <p:blipFill>
          <a:blip r:embed="rId4"/>
          <a:stretch>
            <a:fillRect/>
          </a:stretch>
        </p:blipFill>
        <p:spPr>
          <a:xfrm>
            <a:off x="8856147" y="1449507"/>
            <a:ext cx="228234" cy="228234"/>
          </a:xfrm>
          <a:prstGeom prst="rect">
            <a:avLst/>
          </a:prstGeom>
        </p:spPr>
      </p:pic>
      <p:sp>
        <p:nvSpPr>
          <p:cNvPr id="14" name="Text 10"/>
          <p:cNvSpPr txBox="1"/>
          <p:nvPr/>
        </p:nvSpPr>
        <p:spPr>
          <a:xfrm>
            <a:off x="9354312" y="1271016"/>
            <a:ext cx="2761488" cy="320040"/>
          </a:xfrm>
          <a:prstGeom prst="rect">
            <a:avLst/>
          </a:prstGeom>
          <a:noFill/>
          <a:ln/>
        </p:spPr>
        <p:txBody>
          <a:bodyPr wrap="square" lIns="0" tIns="0" rIns="0" bIns="0" rtlCol="0" anchor="ctr"/>
          <a:lstStyle/>
          <a:p>
            <a:pPr marL="0" indent="0">
              <a:buNone/>
            </a:pPr>
            <a:r>
              <a:rPr lang="en-US" sz="1350" b="1" dirty="0">
                <a:solidFill>
                  <a:srgbClr val="18243F"/>
                </a:solidFill>
                <a:latin typeface="Calibri" pitchFamily="34" charset="0"/>
                <a:ea typeface="Calibri" pitchFamily="34" charset="-122"/>
                <a:cs typeface="Calibri" pitchFamily="34" charset="-120"/>
              </a:rPr>
              <a:t>Validation &amp; compliance</a:t>
            </a:r>
            <a:endParaRPr lang="en-US" sz="1350" dirty="0"/>
          </a:p>
        </p:txBody>
      </p:sp>
      <p:sp>
        <p:nvSpPr>
          <p:cNvPr id="15" name="Text 11"/>
          <p:cNvSpPr txBox="1"/>
          <p:nvPr/>
        </p:nvSpPr>
        <p:spPr>
          <a:xfrm>
            <a:off x="9354312" y="1600200"/>
            <a:ext cx="2761488" cy="1051560"/>
          </a:xfrm>
          <a:prstGeom prst="rect">
            <a:avLst/>
          </a:prstGeom>
          <a:noFill/>
          <a:ln/>
        </p:spPr>
        <p:txBody>
          <a:bodyPr wrap="square" lIns="0" tIns="0" rIns="0" bIns="0" rtlCol="0" anchor="ctr"/>
          <a:lstStyle/>
          <a:p>
            <a:pPr marL="0" indent="0">
              <a:buNone/>
            </a:pPr>
            <a:r>
              <a:rPr lang="en-US" sz="1100" dirty="0">
                <a:solidFill>
                  <a:srgbClr val="5A6B8C"/>
                </a:solidFill>
                <a:latin typeface="Calibri" pitchFamily="34" charset="0"/>
                <a:ea typeface="Calibri" pitchFamily="34" charset="-122"/>
                <a:cs typeface="Calibri" pitchFamily="34" charset="-120"/>
              </a:rPr>
              <a:t>Account checks, cut-off enforcement, duplicate checks, OFAC / AML / regulatory screening.</a:t>
            </a:r>
            <a:endParaRPr lang="en-US" sz="1100" dirty="0"/>
          </a:p>
        </p:txBody>
      </p:sp>
      <p:sp>
        <p:nvSpPr>
          <p:cNvPr id="16" name="Shape 12"/>
          <p:cNvSpPr/>
          <p:nvPr/>
        </p:nvSpPr>
        <p:spPr>
          <a:xfrm>
            <a:off x="5074920" y="2971800"/>
            <a:ext cx="475488" cy="475488"/>
          </a:xfrm>
          <a:prstGeom prst="ellipse">
            <a:avLst/>
          </a:prstGeom>
          <a:solidFill>
            <a:srgbClr val="FF6000"/>
          </a:solidFill>
          <a:ln w="12700">
            <a:solidFill>
              <a:srgbClr val="FF6000"/>
            </a:solidFill>
            <a:prstDash val="solid"/>
          </a:ln>
        </p:spPr>
        <p:txBody>
          <a:bodyPr/>
          <a:lstStyle/>
          <a:p>
            <a:endParaRPr lang="en-US"/>
          </a:p>
        </p:txBody>
      </p:sp>
      <p:pic>
        <p:nvPicPr>
          <p:cNvPr id="17" name="Image 2" descr="C:\Users\vasan\AppData\Local\Temp\claude\D--unfold-git-work-fisOPF\bdc8cb48-9752-4a6c-a524-d1dfc31f95fd\scratchpad/icons/search_FFFFFF.png"/>
          <p:cNvPicPr>
            <a:picLocks noChangeAspect="1"/>
          </p:cNvPicPr>
          <p:nvPr/>
        </p:nvPicPr>
        <p:blipFill>
          <a:blip r:embed="rId5"/>
          <a:stretch>
            <a:fillRect/>
          </a:stretch>
        </p:blipFill>
        <p:spPr>
          <a:xfrm>
            <a:off x="5198547" y="3095427"/>
            <a:ext cx="228234" cy="228234"/>
          </a:xfrm>
          <a:prstGeom prst="rect">
            <a:avLst/>
          </a:prstGeom>
        </p:spPr>
      </p:pic>
      <p:sp>
        <p:nvSpPr>
          <p:cNvPr id="18" name="Text 13"/>
          <p:cNvSpPr txBox="1"/>
          <p:nvPr/>
        </p:nvSpPr>
        <p:spPr>
          <a:xfrm>
            <a:off x="5696712" y="2916936"/>
            <a:ext cx="2761488" cy="320040"/>
          </a:xfrm>
          <a:prstGeom prst="rect">
            <a:avLst/>
          </a:prstGeom>
          <a:noFill/>
          <a:ln/>
        </p:spPr>
        <p:txBody>
          <a:bodyPr wrap="square" lIns="0" tIns="0" rIns="0" bIns="0" rtlCol="0" anchor="ctr"/>
          <a:lstStyle/>
          <a:p>
            <a:pPr marL="0" indent="0">
              <a:buNone/>
            </a:pPr>
            <a:r>
              <a:rPr lang="en-US" sz="1350" b="1" dirty="0">
                <a:solidFill>
                  <a:srgbClr val="18243F"/>
                </a:solidFill>
                <a:latin typeface="Calibri" pitchFamily="34" charset="0"/>
                <a:ea typeface="Calibri" pitchFamily="34" charset="-122"/>
                <a:cs typeface="Calibri" pitchFamily="34" charset="-120"/>
              </a:rPr>
              <a:t>Message enrichment</a:t>
            </a:r>
            <a:endParaRPr lang="en-US" sz="1350" dirty="0"/>
          </a:p>
        </p:txBody>
      </p:sp>
      <p:sp>
        <p:nvSpPr>
          <p:cNvPr id="19" name="Text 14"/>
          <p:cNvSpPr txBox="1"/>
          <p:nvPr/>
        </p:nvSpPr>
        <p:spPr>
          <a:xfrm>
            <a:off x="5696712" y="3246120"/>
            <a:ext cx="2761488" cy="1051560"/>
          </a:xfrm>
          <a:prstGeom prst="rect">
            <a:avLst/>
          </a:prstGeom>
          <a:noFill/>
          <a:ln/>
        </p:spPr>
        <p:txBody>
          <a:bodyPr wrap="square" lIns="0" tIns="0" rIns="0" bIns="0" rtlCol="0" anchor="ctr"/>
          <a:lstStyle/>
          <a:p>
            <a:pPr marL="0" indent="0">
              <a:buNone/>
            </a:pPr>
            <a:r>
              <a:rPr lang="en-US" sz="1100" dirty="0">
                <a:solidFill>
                  <a:srgbClr val="5A6B8C"/>
                </a:solidFill>
                <a:latin typeface="Calibri" pitchFamily="34" charset="0"/>
                <a:ea typeface="Calibri" pitchFamily="34" charset="-122"/>
                <a:cs typeface="Calibri" pitchFamily="34" charset="-120"/>
              </a:rPr>
              <a:t>Fills in routing numbers, SWIFT BICs, currency codes, intermediary bank details.</a:t>
            </a:r>
            <a:endParaRPr lang="en-US" sz="1100" dirty="0"/>
          </a:p>
        </p:txBody>
      </p:sp>
      <p:sp>
        <p:nvSpPr>
          <p:cNvPr id="20" name="Shape 15"/>
          <p:cNvSpPr/>
          <p:nvPr/>
        </p:nvSpPr>
        <p:spPr>
          <a:xfrm>
            <a:off x="8732520" y="2971800"/>
            <a:ext cx="475488" cy="475488"/>
          </a:xfrm>
          <a:prstGeom prst="ellipse">
            <a:avLst/>
          </a:prstGeom>
          <a:solidFill>
            <a:srgbClr val="FF6000"/>
          </a:solidFill>
          <a:ln w="12700">
            <a:solidFill>
              <a:srgbClr val="FF6000"/>
            </a:solidFill>
            <a:prstDash val="solid"/>
          </a:ln>
        </p:spPr>
        <p:txBody>
          <a:bodyPr/>
          <a:lstStyle/>
          <a:p>
            <a:endParaRPr lang="en-US"/>
          </a:p>
        </p:txBody>
      </p:sp>
      <p:pic>
        <p:nvPicPr>
          <p:cNvPr id="21" name="Image 3" descr="C:\Users\vasan\AppData\Local\Temp\claude\D--unfold-git-work-fisOPF\bdc8cb48-9752-4a6c-a524-d1dfc31f95fd\scratchpad/icons/exchange_FFFFFF.png"/>
          <p:cNvPicPr>
            <a:picLocks noChangeAspect="1"/>
          </p:cNvPicPr>
          <p:nvPr/>
        </p:nvPicPr>
        <p:blipFill>
          <a:blip r:embed="rId6"/>
          <a:stretch>
            <a:fillRect/>
          </a:stretch>
        </p:blipFill>
        <p:spPr>
          <a:xfrm>
            <a:off x="8856147" y="3095427"/>
            <a:ext cx="228234" cy="228234"/>
          </a:xfrm>
          <a:prstGeom prst="rect">
            <a:avLst/>
          </a:prstGeom>
        </p:spPr>
      </p:pic>
      <p:sp>
        <p:nvSpPr>
          <p:cNvPr id="22" name="Text 16"/>
          <p:cNvSpPr txBox="1"/>
          <p:nvPr/>
        </p:nvSpPr>
        <p:spPr>
          <a:xfrm>
            <a:off x="9354312" y="2916936"/>
            <a:ext cx="2761488" cy="320040"/>
          </a:xfrm>
          <a:prstGeom prst="rect">
            <a:avLst/>
          </a:prstGeom>
          <a:noFill/>
          <a:ln/>
        </p:spPr>
        <p:txBody>
          <a:bodyPr wrap="square" lIns="0" tIns="0" rIns="0" bIns="0" rtlCol="0" anchor="ctr"/>
          <a:lstStyle/>
          <a:p>
            <a:pPr marL="0" indent="0">
              <a:buNone/>
            </a:pPr>
            <a:r>
              <a:rPr lang="en-US" sz="1350" b="1" dirty="0">
                <a:solidFill>
                  <a:srgbClr val="18243F"/>
                </a:solidFill>
                <a:latin typeface="Calibri" pitchFamily="34" charset="0"/>
                <a:ea typeface="Calibri" pitchFamily="34" charset="-122"/>
                <a:cs typeface="Calibri" pitchFamily="34" charset="-120"/>
              </a:rPr>
              <a:t>Format transformation</a:t>
            </a:r>
            <a:endParaRPr lang="en-US" sz="1350" dirty="0"/>
          </a:p>
        </p:txBody>
      </p:sp>
      <p:sp>
        <p:nvSpPr>
          <p:cNvPr id="23" name="Text 17"/>
          <p:cNvSpPr txBox="1"/>
          <p:nvPr/>
        </p:nvSpPr>
        <p:spPr>
          <a:xfrm>
            <a:off x="9354312" y="3246120"/>
            <a:ext cx="2761488" cy="1051560"/>
          </a:xfrm>
          <a:prstGeom prst="rect">
            <a:avLst/>
          </a:prstGeom>
          <a:noFill/>
          <a:ln/>
        </p:spPr>
        <p:txBody>
          <a:bodyPr wrap="square" lIns="0" tIns="0" rIns="0" bIns="0" rtlCol="0" anchor="ctr"/>
          <a:lstStyle/>
          <a:p>
            <a:pPr marL="0" indent="0">
              <a:buNone/>
            </a:pPr>
            <a:r>
              <a:rPr lang="en-US" sz="1100" dirty="0">
                <a:solidFill>
                  <a:srgbClr val="5A6B8C"/>
                </a:solidFill>
                <a:latin typeface="Calibri" pitchFamily="34" charset="0"/>
                <a:ea typeface="Calibri" pitchFamily="34" charset="-122"/>
                <a:cs typeface="Calibri" pitchFamily="34" charset="-120"/>
              </a:rPr>
              <a:t>JSON/XML → Fedwire, CHIPS, SWIFT MT/MX; native ISO 20022 (pacs.008 / pacs.009).</a:t>
            </a:r>
            <a:endParaRPr lang="en-US" sz="1100" dirty="0"/>
          </a:p>
        </p:txBody>
      </p:sp>
      <p:sp>
        <p:nvSpPr>
          <p:cNvPr id="24" name="Shape 18"/>
          <p:cNvSpPr/>
          <p:nvPr/>
        </p:nvSpPr>
        <p:spPr>
          <a:xfrm>
            <a:off x="5074920" y="4617720"/>
            <a:ext cx="475488" cy="475488"/>
          </a:xfrm>
          <a:prstGeom prst="ellipse">
            <a:avLst/>
          </a:prstGeom>
          <a:solidFill>
            <a:srgbClr val="FF6000"/>
          </a:solidFill>
          <a:ln w="12700">
            <a:solidFill>
              <a:srgbClr val="FF6000"/>
            </a:solidFill>
            <a:prstDash val="solid"/>
          </a:ln>
        </p:spPr>
        <p:txBody>
          <a:bodyPr/>
          <a:lstStyle/>
          <a:p>
            <a:endParaRPr lang="en-US"/>
          </a:p>
        </p:txBody>
      </p:sp>
      <p:pic>
        <p:nvPicPr>
          <p:cNvPr id="25" name="Image 4" descr="C:\Users\vasan\AppData\Local\Temp\claude\D--unfold-git-work-fisOPF\bdc8cb48-9752-4a6c-a524-d1dfc31f95fd\scratchpad/icons/random_FFFFFF.png"/>
          <p:cNvPicPr>
            <a:picLocks noChangeAspect="1"/>
          </p:cNvPicPr>
          <p:nvPr/>
        </p:nvPicPr>
        <p:blipFill>
          <a:blip r:embed="rId7"/>
          <a:stretch>
            <a:fillRect/>
          </a:stretch>
        </p:blipFill>
        <p:spPr>
          <a:xfrm>
            <a:off x="5198547" y="4741347"/>
            <a:ext cx="228234" cy="228234"/>
          </a:xfrm>
          <a:prstGeom prst="rect">
            <a:avLst/>
          </a:prstGeom>
        </p:spPr>
      </p:pic>
      <p:sp>
        <p:nvSpPr>
          <p:cNvPr id="26" name="Text 19"/>
          <p:cNvSpPr txBox="1"/>
          <p:nvPr/>
        </p:nvSpPr>
        <p:spPr>
          <a:xfrm>
            <a:off x="5696712" y="4562856"/>
            <a:ext cx="2761488" cy="320040"/>
          </a:xfrm>
          <a:prstGeom prst="rect">
            <a:avLst/>
          </a:prstGeom>
          <a:noFill/>
          <a:ln/>
        </p:spPr>
        <p:txBody>
          <a:bodyPr wrap="square" lIns="0" tIns="0" rIns="0" bIns="0" rtlCol="0" anchor="ctr"/>
          <a:lstStyle/>
          <a:p>
            <a:pPr marL="0" indent="0">
              <a:buNone/>
            </a:pPr>
            <a:r>
              <a:rPr lang="en-US" sz="1350" b="1" dirty="0">
                <a:solidFill>
                  <a:srgbClr val="18243F"/>
                </a:solidFill>
                <a:latin typeface="Calibri" pitchFamily="34" charset="0"/>
                <a:ea typeface="Calibri" pitchFamily="34" charset="-122"/>
                <a:cs typeface="Calibri" pitchFamily="34" charset="-120"/>
              </a:rPr>
              <a:t>Orchestration &amp; routing</a:t>
            </a:r>
            <a:endParaRPr lang="en-US" sz="1350" dirty="0"/>
          </a:p>
        </p:txBody>
      </p:sp>
      <p:sp>
        <p:nvSpPr>
          <p:cNvPr id="27" name="Text 20"/>
          <p:cNvSpPr txBox="1"/>
          <p:nvPr/>
        </p:nvSpPr>
        <p:spPr>
          <a:xfrm>
            <a:off x="5696712" y="4892040"/>
            <a:ext cx="2761488" cy="1051560"/>
          </a:xfrm>
          <a:prstGeom prst="rect">
            <a:avLst/>
          </a:prstGeom>
          <a:noFill/>
          <a:ln/>
        </p:spPr>
        <p:txBody>
          <a:bodyPr wrap="square" lIns="0" tIns="0" rIns="0" bIns="0" rtlCol="0" anchor="ctr"/>
          <a:lstStyle/>
          <a:p>
            <a:pPr marL="0" indent="0">
              <a:buNone/>
            </a:pPr>
            <a:r>
              <a:rPr lang="en-US" sz="1100" dirty="0">
                <a:solidFill>
                  <a:srgbClr val="5A6B8C"/>
                </a:solidFill>
                <a:latin typeface="Calibri" pitchFamily="34" charset="0"/>
                <a:ea typeface="Calibri" pitchFamily="34" charset="-122"/>
                <a:cs typeface="Calibri" pitchFamily="34" charset="-120"/>
              </a:rPr>
              <a:t>Picks the rail — Fedwire or CHIPS domestic, SWIFT international — with fallback routing.</a:t>
            </a:r>
            <a:endParaRPr lang="en-US" sz="1100" dirty="0"/>
          </a:p>
        </p:txBody>
      </p:sp>
      <p:sp>
        <p:nvSpPr>
          <p:cNvPr id="28" name="Shape 21"/>
          <p:cNvSpPr/>
          <p:nvPr/>
        </p:nvSpPr>
        <p:spPr>
          <a:xfrm>
            <a:off x="8732520" y="4617720"/>
            <a:ext cx="475488" cy="475488"/>
          </a:xfrm>
          <a:prstGeom prst="ellipse">
            <a:avLst/>
          </a:prstGeom>
          <a:solidFill>
            <a:srgbClr val="FF6000"/>
          </a:solidFill>
          <a:ln w="12700">
            <a:solidFill>
              <a:srgbClr val="FF6000"/>
            </a:solidFill>
            <a:prstDash val="solid"/>
          </a:ln>
        </p:spPr>
        <p:txBody>
          <a:bodyPr/>
          <a:lstStyle/>
          <a:p>
            <a:endParaRPr lang="en-US"/>
          </a:p>
        </p:txBody>
      </p:sp>
      <p:pic>
        <p:nvPicPr>
          <p:cNvPr id="29" name="Image 5" descr="C:\Users\vasan\AppData\Local\Temp\claude\D--unfold-git-work-fisOPF\bdc8cb48-9752-4a6c-a524-d1dfc31f95fd\scratchpad/icons/money_FFFFFF.png"/>
          <p:cNvPicPr>
            <a:picLocks noChangeAspect="1"/>
          </p:cNvPicPr>
          <p:nvPr/>
        </p:nvPicPr>
        <p:blipFill>
          <a:blip r:embed="rId8"/>
          <a:stretch>
            <a:fillRect/>
          </a:stretch>
        </p:blipFill>
        <p:spPr>
          <a:xfrm>
            <a:off x="8856147" y="4741347"/>
            <a:ext cx="228234" cy="228234"/>
          </a:xfrm>
          <a:prstGeom prst="rect">
            <a:avLst/>
          </a:prstGeom>
        </p:spPr>
      </p:pic>
      <p:sp>
        <p:nvSpPr>
          <p:cNvPr id="30" name="Text 22"/>
          <p:cNvSpPr txBox="1"/>
          <p:nvPr/>
        </p:nvSpPr>
        <p:spPr>
          <a:xfrm>
            <a:off x="9354312" y="4562856"/>
            <a:ext cx="2761488" cy="320040"/>
          </a:xfrm>
          <a:prstGeom prst="rect">
            <a:avLst/>
          </a:prstGeom>
          <a:noFill/>
          <a:ln/>
        </p:spPr>
        <p:txBody>
          <a:bodyPr wrap="square" lIns="0" tIns="0" rIns="0" bIns="0" rtlCol="0" anchor="ctr"/>
          <a:lstStyle/>
          <a:p>
            <a:pPr marL="0" indent="0">
              <a:buNone/>
            </a:pPr>
            <a:r>
              <a:rPr lang="en-US" sz="1350" b="1" dirty="0">
                <a:solidFill>
                  <a:srgbClr val="18243F"/>
                </a:solidFill>
                <a:latin typeface="Calibri" pitchFamily="34" charset="0"/>
                <a:ea typeface="Calibri" pitchFamily="34" charset="-122"/>
                <a:cs typeface="Calibri" pitchFamily="34" charset="-120"/>
              </a:rPr>
              <a:t>Settlement &amp; repair</a:t>
            </a:r>
            <a:endParaRPr lang="en-US" sz="1350" dirty="0"/>
          </a:p>
        </p:txBody>
      </p:sp>
      <p:sp>
        <p:nvSpPr>
          <p:cNvPr id="31" name="Text 23"/>
          <p:cNvSpPr txBox="1"/>
          <p:nvPr/>
        </p:nvSpPr>
        <p:spPr>
          <a:xfrm>
            <a:off x="9354312" y="4892040"/>
            <a:ext cx="2761488" cy="1051560"/>
          </a:xfrm>
          <a:prstGeom prst="rect">
            <a:avLst/>
          </a:prstGeom>
          <a:noFill/>
          <a:ln/>
        </p:spPr>
        <p:txBody>
          <a:bodyPr wrap="square" lIns="0" tIns="0" rIns="0" bIns="0" rtlCol="0" anchor="ctr"/>
          <a:lstStyle/>
          <a:p>
            <a:pPr marL="0" indent="0">
              <a:buNone/>
            </a:pPr>
            <a:r>
              <a:rPr lang="en-US" sz="1100" dirty="0">
                <a:solidFill>
                  <a:srgbClr val="5A6B8C"/>
                </a:solidFill>
                <a:latin typeface="Calibri" pitchFamily="34" charset="0"/>
                <a:ea typeface="Calibri" pitchFamily="34" charset="-122"/>
                <a:cs typeface="Calibri" pitchFamily="34" charset="-120"/>
              </a:rPr>
              <a:t>Works with FIS settlement systems; GL and posting correctness; returns, repairs, queues.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1064240" cy="640080"/>
          </a:xfrm>
          <a:prstGeom prst="rect">
            <a:avLst/>
          </a:prstGeom>
          <a:noFill/>
          <a:ln/>
        </p:spPr>
        <p:txBody>
          <a:bodyPr wrap="square" lIns="0" tIns="0" rIns="0" bIns="0" rtlCol="0" anchor="ctr"/>
          <a:lstStyle/>
          <a:p>
            <a:pPr marL="0" indent="0">
              <a:buNone/>
            </a:pPr>
            <a:r>
              <a:rPr lang="en-US" sz="3000" b="1" dirty="0">
                <a:solidFill>
                  <a:srgbClr val="18243F"/>
                </a:solidFill>
                <a:latin typeface="Calibri" pitchFamily="34" charset="0"/>
                <a:ea typeface="Calibri" pitchFamily="34" charset="-122"/>
                <a:cs typeface="Calibri" pitchFamily="34" charset="-120"/>
              </a:rPr>
              <a:t>Where OPF sits: outbound only</a:t>
            </a:r>
            <a:endParaRPr lang="en-US" sz="3000" dirty="0"/>
          </a:p>
        </p:txBody>
      </p:sp>
      <p:sp>
        <p:nvSpPr>
          <p:cNvPr id="3" name="Shape 1"/>
          <p:cNvSpPr/>
          <p:nvPr/>
        </p:nvSpPr>
        <p:spPr>
          <a:xfrm>
            <a:off x="548640" y="1280160"/>
            <a:ext cx="11091672" cy="2057400"/>
          </a:xfrm>
          <a:prstGeom prst="roundRect">
            <a:avLst>
              <a:gd name="adj" fmla="val 5333"/>
            </a:avLst>
          </a:prstGeom>
          <a:solidFill>
            <a:srgbClr val="FFE9DC"/>
          </a:solidFill>
          <a:ln w="12700">
            <a:solidFill>
              <a:srgbClr val="FFE9DC"/>
            </a:solidFill>
            <a:prstDash val="solid"/>
          </a:ln>
        </p:spPr>
        <p:txBody>
          <a:bodyPr/>
          <a:lstStyle/>
          <a:p>
            <a:endParaRPr lang="en-US"/>
          </a:p>
        </p:txBody>
      </p:sp>
      <p:sp>
        <p:nvSpPr>
          <p:cNvPr id="4" name="Text 2"/>
          <p:cNvSpPr txBox="1"/>
          <p:nvPr/>
        </p:nvSpPr>
        <p:spPr>
          <a:xfrm>
            <a:off x="868680" y="1417320"/>
            <a:ext cx="7315200" cy="320040"/>
          </a:xfrm>
          <a:prstGeom prst="rect">
            <a:avLst/>
          </a:prstGeom>
          <a:noFill/>
          <a:ln/>
        </p:spPr>
        <p:txBody>
          <a:bodyPr wrap="square" lIns="0" tIns="0" rIns="0" bIns="0" rtlCol="0" anchor="ctr"/>
          <a:lstStyle/>
          <a:p>
            <a:pPr marL="0" indent="0">
              <a:buNone/>
            </a:pPr>
            <a:r>
              <a:rPr lang="en-US" sz="1300" b="1" dirty="0">
                <a:solidFill>
                  <a:srgbClr val="FF6000"/>
                </a:solidFill>
                <a:latin typeface="Calibri" pitchFamily="34" charset="0"/>
                <a:ea typeface="Calibri" pitchFamily="34" charset="-122"/>
                <a:cs typeface="Calibri" pitchFamily="34" charset="-120"/>
              </a:rPr>
              <a:t>OUTBOUND</a:t>
            </a:r>
            <a:r>
              <a:rPr lang="en-US" sz="1250" dirty="0">
                <a:solidFill>
                  <a:srgbClr val="18243F"/>
                </a:solidFill>
                <a:latin typeface="Calibri" pitchFamily="34" charset="0"/>
                <a:ea typeface="Calibri" pitchFamily="34" charset="-122"/>
                <a:cs typeface="Calibri" pitchFamily="34" charset="-120"/>
              </a:rPr>
              <a:t>  —  every wire we send</a:t>
            </a:r>
            <a:endParaRPr lang="en-US" sz="1300" dirty="0"/>
          </a:p>
        </p:txBody>
      </p:sp>
      <p:sp>
        <p:nvSpPr>
          <p:cNvPr id="5" name="Text 3"/>
          <p:cNvSpPr txBox="1"/>
          <p:nvPr/>
        </p:nvSpPr>
        <p:spPr>
          <a:xfrm>
            <a:off x="868680" y="1965960"/>
            <a:ext cx="1234440" cy="960120"/>
          </a:xfrm>
          <a:prstGeom prst="roundRect">
            <a:avLst>
              <a:gd name="adj" fmla="val 8571"/>
            </a:avLst>
          </a:prstGeom>
          <a:solidFill>
            <a:srgbClr val="FFFFFF"/>
          </a:solidFill>
          <a:ln w="12700">
            <a:solidFill>
              <a:srgbClr val="E3C9B8"/>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Customer</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channels</a:t>
            </a:r>
            <a:endParaRPr lang="en-US" sz="1150" dirty="0"/>
          </a:p>
        </p:txBody>
      </p:sp>
      <p:sp>
        <p:nvSpPr>
          <p:cNvPr id="6" name="Shape 4"/>
          <p:cNvSpPr/>
          <p:nvPr/>
        </p:nvSpPr>
        <p:spPr>
          <a:xfrm>
            <a:off x="2139696" y="2446020"/>
            <a:ext cx="219456" cy="0"/>
          </a:xfrm>
          <a:prstGeom prst="line">
            <a:avLst/>
          </a:prstGeom>
          <a:noFill/>
          <a:ln w="22225">
            <a:solidFill>
              <a:srgbClr val="C77E4E"/>
            </a:solidFill>
            <a:prstDash val="solid"/>
            <a:tailEnd type="triangle"/>
          </a:ln>
        </p:spPr>
        <p:txBody>
          <a:bodyPr/>
          <a:lstStyle/>
          <a:p>
            <a:endParaRPr lang="en-US"/>
          </a:p>
        </p:txBody>
      </p:sp>
      <p:sp>
        <p:nvSpPr>
          <p:cNvPr id="7" name="Text 5"/>
          <p:cNvSpPr txBox="1"/>
          <p:nvPr/>
        </p:nvSpPr>
        <p:spPr>
          <a:xfrm>
            <a:off x="2395728" y="1965960"/>
            <a:ext cx="1371600" cy="960120"/>
          </a:xfrm>
          <a:prstGeom prst="roundRect">
            <a:avLst>
              <a:gd name="adj" fmla="val 8571"/>
            </a:avLst>
          </a:prstGeom>
          <a:solidFill>
            <a:srgbClr val="FFFFFF"/>
          </a:solidFill>
          <a:ln w="12700">
            <a:solidFill>
              <a:srgbClr val="E3C9B8"/>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Wires App</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 fraud check</a:t>
            </a:r>
            <a:endParaRPr lang="en-US" sz="1150" dirty="0"/>
          </a:p>
        </p:txBody>
      </p:sp>
      <p:sp>
        <p:nvSpPr>
          <p:cNvPr id="8" name="Shape 6"/>
          <p:cNvSpPr/>
          <p:nvPr/>
        </p:nvSpPr>
        <p:spPr>
          <a:xfrm>
            <a:off x="3803904" y="2446020"/>
            <a:ext cx="219456" cy="0"/>
          </a:xfrm>
          <a:prstGeom prst="line">
            <a:avLst/>
          </a:prstGeom>
          <a:noFill/>
          <a:ln w="22225">
            <a:solidFill>
              <a:srgbClr val="C77E4E"/>
            </a:solidFill>
            <a:prstDash val="solid"/>
            <a:tailEnd type="triangle"/>
          </a:ln>
        </p:spPr>
        <p:txBody>
          <a:bodyPr/>
          <a:lstStyle/>
          <a:p>
            <a:endParaRPr lang="en-US"/>
          </a:p>
        </p:txBody>
      </p:sp>
      <p:sp>
        <p:nvSpPr>
          <p:cNvPr id="9" name="Text 7"/>
          <p:cNvSpPr txBox="1"/>
          <p:nvPr/>
        </p:nvSpPr>
        <p:spPr>
          <a:xfrm>
            <a:off x="4059936" y="1965960"/>
            <a:ext cx="1371600" cy="960120"/>
          </a:xfrm>
          <a:prstGeom prst="roundRect">
            <a:avLst>
              <a:gd name="adj" fmla="val 8571"/>
            </a:avLst>
          </a:prstGeom>
          <a:solidFill>
            <a:srgbClr val="FFFFFF"/>
          </a:solidFill>
          <a:ln w="12700">
            <a:solidFill>
              <a:srgbClr val="E3C9B8"/>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BPM</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dual approval</a:t>
            </a:r>
            <a:endParaRPr lang="en-US" sz="1150" dirty="0"/>
          </a:p>
        </p:txBody>
      </p:sp>
      <p:sp>
        <p:nvSpPr>
          <p:cNvPr id="10" name="Shape 8"/>
          <p:cNvSpPr/>
          <p:nvPr/>
        </p:nvSpPr>
        <p:spPr>
          <a:xfrm>
            <a:off x="5468112" y="2446020"/>
            <a:ext cx="219456" cy="0"/>
          </a:xfrm>
          <a:prstGeom prst="line">
            <a:avLst/>
          </a:prstGeom>
          <a:noFill/>
          <a:ln w="22225">
            <a:solidFill>
              <a:srgbClr val="C77E4E"/>
            </a:solidFill>
            <a:prstDash val="solid"/>
            <a:tailEnd type="triangle"/>
          </a:ln>
        </p:spPr>
        <p:txBody>
          <a:bodyPr/>
          <a:lstStyle/>
          <a:p>
            <a:endParaRPr lang="en-US"/>
          </a:p>
        </p:txBody>
      </p:sp>
      <p:sp>
        <p:nvSpPr>
          <p:cNvPr id="11" name="Text 9"/>
          <p:cNvSpPr txBox="1"/>
          <p:nvPr/>
        </p:nvSpPr>
        <p:spPr>
          <a:xfrm>
            <a:off x="5724144" y="1965960"/>
            <a:ext cx="1097280" cy="960120"/>
          </a:xfrm>
          <a:prstGeom prst="roundRect">
            <a:avLst>
              <a:gd name="adj" fmla="val 8571"/>
            </a:avLst>
          </a:prstGeom>
          <a:solidFill>
            <a:srgbClr val="FFFFFF"/>
          </a:solidFill>
          <a:ln w="12700">
            <a:solidFill>
              <a:srgbClr val="E3C9B8"/>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Wires</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Batch</a:t>
            </a:r>
            <a:endParaRPr lang="en-US" sz="1150" dirty="0"/>
          </a:p>
        </p:txBody>
      </p:sp>
      <p:sp>
        <p:nvSpPr>
          <p:cNvPr id="12" name="Shape 10"/>
          <p:cNvSpPr/>
          <p:nvPr/>
        </p:nvSpPr>
        <p:spPr>
          <a:xfrm>
            <a:off x="6858000" y="2446020"/>
            <a:ext cx="219456" cy="0"/>
          </a:xfrm>
          <a:prstGeom prst="line">
            <a:avLst/>
          </a:prstGeom>
          <a:noFill/>
          <a:ln w="22225">
            <a:solidFill>
              <a:srgbClr val="C77E4E"/>
            </a:solidFill>
            <a:prstDash val="solid"/>
            <a:tailEnd type="triangle"/>
          </a:ln>
        </p:spPr>
        <p:txBody>
          <a:bodyPr/>
          <a:lstStyle/>
          <a:p>
            <a:endParaRPr lang="en-US"/>
          </a:p>
        </p:txBody>
      </p:sp>
      <p:sp>
        <p:nvSpPr>
          <p:cNvPr id="13" name="Text 11"/>
          <p:cNvSpPr txBox="1"/>
          <p:nvPr/>
        </p:nvSpPr>
        <p:spPr>
          <a:xfrm>
            <a:off x="7114032" y="1965960"/>
            <a:ext cx="1325880" cy="960120"/>
          </a:xfrm>
          <a:prstGeom prst="roundRect">
            <a:avLst>
              <a:gd name="adj" fmla="val 8571"/>
            </a:avLst>
          </a:prstGeom>
          <a:solidFill>
            <a:srgbClr val="FF6000"/>
          </a:solidFill>
          <a:ln w="12700">
            <a:solidFill>
              <a:srgbClr val="FF6000"/>
            </a:solidFill>
          </a:ln>
        </p:spPr>
        <p:txBody>
          <a:bodyPr wrap="square" lIns="25400" tIns="25400" rIns="25400" bIns="25400" rtlCol="0" anchor="ctr">
            <a:normAutofit/>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FIS OPF</a:t>
            </a:r>
            <a:endParaRPr lang="en-US" sz="1150" dirty="0"/>
          </a:p>
        </p:txBody>
      </p:sp>
      <p:sp>
        <p:nvSpPr>
          <p:cNvPr id="14" name="Shape 12"/>
          <p:cNvSpPr/>
          <p:nvPr/>
        </p:nvSpPr>
        <p:spPr>
          <a:xfrm>
            <a:off x="8476488" y="2446020"/>
            <a:ext cx="219456" cy="0"/>
          </a:xfrm>
          <a:prstGeom prst="line">
            <a:avLst/>
          </a:prstGeom>
          <a:noFill/>
          <a:ln w="22225">
            <a:solidFill>
              <a:srgbClr val="C77E4E"/>
            </a:solidFill>
            <a:prstDash val="solid"/>
            <a:tailEnd type="triangle"/>
          </a:ln>
        </p:spPr>
        <p:txBody>
          <a:bodyPr/>
          <a:lstStyle/>
          <a:p>
            <a:endParaRPr lang="en-US"/>
          </a:p>
        </p:txBody>
      </p:sp>
      <p:sp>
        <p:nvSpPr>
          <p:cNvPr id="15" name="Text 13"/>
          <p:cNvSpPr txBox="1"/>
          <p:nvPr/>
        </p:nvSpPr>
        <p:spPr>
          <a:xfrm>
            <a:off x="8732520" y="1965960"/>
            <a:ext cx="1097280" cy="960120"/>
          </a:xfrm>
          <a:prstGeom prst="roundRect">
            <a:avLst>
              <a:gd name="adj" fmla="val 8571"/>
            </a:avLst>
          </a:prstGeom>
          <a:solidFill>
            <a:srgbClr val="FFFFFF"/>
          </a:solidFill>
          <a:ln w="12700">
            <a:solidFill>
              <a:srgbClr val="E3C9B8"/>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BNY</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Mellon</a:t>
            </a:r>
            <a:endParaRPr lang="en-US" sz="1150" dirty="0"/>
          </a:p>
        </p:txBody>
      </p:sp>
      <p:sp>
        <p:nvSpPr>
          <p:cNvPr id="16" name="Shape 14"/>
          <p:cNvSpPr/>
          <p:nvPr/>
        </p:nvSpPr>
        <p:spPr>
          <a:xfrm>
            <a:off x="9866376" y="2446020"/>
            <a:ext cx="219456" cy="0"/>
          </a:xfrm>
          <a:prstGeom prst="line">
            <a:avLst/>
          </a:prstGeom>
          <a:noFill/>
          <a:ln w="22225">
            <a:solidFill>
              <a:srgbClr val="C77E4E"/>
            </a:solidFill>
            <a:prstDash val="solid"/>
            <a:tailEnd type="triangle"/>
          </a:ln>
        </p:spPr>
        <p:txBody>
          <a:bodyPr/>
          <a:lstStyle/>
          <a:p>
            <a:endParaRPr lang="en-US"/>
          </a:p>
        </p:txBody>
      </p:sp>
      <p:sp>
        <p:nvSpPr>
          <p:cNvPr id="17" name="Text 15"/>
          <p:cNvSpPr txBox="1"/>
          <p:nvPr/>
        </p:nvSpPr>
        <p:spPr>
          <a:xfrm>
            <a:off x="10122408" y="1965960"/>
            <a:ext cx="1234440" cy="960120"/>
          </a:xfrm>
          <a:prstGeom prst="roundRect">
            <a:avLst>
              <a:gd name="adj" fmla="val 8571"/>
            </a:avLst>
          </a:prstGeom>
          <a:solidFill>
            <a:srgbClr val="FFFFFF"/>
          </a:solidFill>
          <a:ln w="12700">
            <a:solidFill>
              <a:srgbClr val="E3C9B8"/>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Fedwire /</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SWIFT</a:t>
            </a:r>
            <a:endParaRPr lang="en-US" sz="1150" dirty="0"/>
          </a:p>
        </p:txBody>
      </p:sp>
      <p:sp>
        <p:nvSpPr>
          <p:cNvPr id="18" name="Shape 16"/>
          <p:cNvSpPr/>
          <p:nvPr/>
        </p:nvSpPr>
        <p:spPr>
          <a:xfrm>
            <a:off x="548640" y="3611880"/>
            <a:ext cx="11091672" cy="2057400"/>
          </a:xfrm>
          <a:prstGeom prst="roundRect">
            <a:avLst>
              <a:gd name="adj" fmla="val 5333"/>
            </a:avLst>
          </a:prstGeom>
          <a:solidFill>
            <a:srgbClr val="EEF2F9"/>
          </a:solidFill>
          <a:ln w="12700">
            <a:solidFill>
              <a:srgbClr val="EEF2F9"/>
            </a:solidFill>
            <a:prstDash val="solid"/>
          </a:ln>
        </p:spPr>
        <p:txBody>
          <a:bodyPr/>
          <a:lstStyle/>
          <a:p>
            <a:endParaRPr lang="en-US"/>
          </a:p>
        </p:txBody>
      </p:sp>
      <p:sp>
        <p:nvSpPr>
          <p:cNvPr id="19" name="Text 17"/>
          <p:cNvSpPr txBox="1"/>
          <p:nvPr/>
        </p:nvSpPr>
        <p:spPr>
          <a:xfrm>
            <a:off x="868680" y="3749040"/>
            <a:ext cx="5486400" cy="320040"/>
          </a:xfrm>
          <a:prstGeom prst="rect">
            <a:avLst/>
          </a:prstGeom>
          <a:noFill/>
          <a:ln/>
        </p:spPr>
        <p:txBody>
          <a:bodyPr wrap="square" lIns="0" tIns="0" rIns="0" bIns="0" rtlCol="0" anchor="ctr"/>
          <a:lstStyle/>
          <a:p>
            <a:pPr marL="0" indent="0">
              <a:buNone/>
            </a:pPr>
            <a:r>
              <a:rPr lang="en-US" sz="1300" b="1" dirty="0">
                <a:solidFill>
                  <a:srgbClr val="5A6B8C"/>
                </a:solidFill>
                <a:latin typeface="Calibri" pitchFamily="34" charset="0"/>
                <a:ea typeface="Calibri" pitchFamily="34" charset="-122"/>
                <a:cs typeface="Calibri" pitchFamily="34" charset="-120"/>
              </a:rPr>
              <a:t>INBOUND</a:t>
            </a:r>
            <a:r>
              <a:rPr lang="en-US" sz="1250" dirty="0">
                <a:solidFill>
                  <a:srgbClr val="18243F"/>
                </a:solidFill>
                <a:latin typeface="Calibri" pitchFamily="34" charset="0"/>
                <a:ea typeface="Calibri" pitchFamily="34" charset="-122"/>
                <a:cs typeface="Calibri" pitchFamily="34" charset="-120"/>
              </a:rPr>
              <a:t>  —  every wire we receive</a:t>
            </a:r>
            <a:endParaRPr lang="en-US" sz="1300" dirty="0"/>
          </a:p>
        </p:txBody>
      </p:sp>
      <p:sp>
        <p:nvSpPr>
          <p:cNvPr id="20" name="Text 18"/>
          <p:cNvSpPr txBox="1"/>
          <p:nvPr/>
        </p:nvSpPr>
        <p:spPr>
          <a:xfrm>
            <a:off x="868680" y="4297680"/>
            <a:ext cx="1737360" cy="960120"/>
          </a:xfrm>
          <a:prstGeom prst="roundRect">
            <a:avLst>
              <a:gd name="adj" fmla="val 8571"/>
            </a:avLst>
          </a:prstGeom>
          <a:solidFill>
            <a:srgbClr val="FFFFFF"/>
          </a:solidFill>
          <a:ln w="12700">
            <a:solidFill>
              <a:srgbClr val="CBD6E8"/>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Fed daily report</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 BNY export</a:t>
            </a:r>
            <a:endParaRPr lang="en-US" sz="1150" dirty="0"/>
          </a:p>
        </p:txBody>
      </p:sp>
      <p:sp>
        <p:nvSpPr>
          <p:cNvPr id="21" name="Shape 19"/>
          <p:cNvSpPr/>
          <p:nvPr/>
        </p:nvSpPr>
        <p:spPr>
          <a:xfrm>
            <a:off x="2651760" y="4777740"/>
            <a:ext cx="292608" cy="0"/>
          </a:xfrm>
          <a:prstGeom prst="line">
            <a:avLst/>
          </a:prstGeom>
          <a:noFill/>
          <a:ln w="22225">
            <a:solidFill>
              <a:srgbClr val="5A6B8C"/>
            </a:solidFill>
            <a:prstDash val="solid"/>
            <a:tailEnd type="triangle"/>
          </a:ln>
        </p:spPr>
        <p:txBody>
          <a:bodyPr/>
          <a:lstStyle/>
          <a:p>
            <a:endParaRPr lang="en-US"/>
          </a:p>
        </p:txBody>
      </p:sp>
      <p:sp>
        <p:nvSpPr>
          <p:cNvPr id="22" name="Text 20"/>
          <p:cNvSpPr txBox="1"/>
          <p:nvPr/>
        </p:nvSpPr>
        <p:spPr>
          <a:xfrm>
            <a:off x="2990088" y="4297680"/>
            <a:ext cx="1737360" cy="960120"/>
          </a:xfrm>
          <a:prstGeom prst="roundRect">
            <a:avLst>
              <a:gd name="adj" fmla="val 8571"/>
            </a:avLst>
          </a:prstGeom>
          <a:solidFill>
            <a:srgbClr val="FFFFFF"/>
          </a:solidFill>
          <a:ln w="12700">
            <a:solidFill>
              <a:srgbClr val="CBD6E8"/>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Parsing portal /</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DataHub ETL</a:t>
            </a:r>
            <a:endParaRPr lang="en-US" sz="1150" dirty="0"/>
          </a:p>
        </p:txBody>
      </p:sp>
      <p:sp>
        <p:nvSpPr>
          <p:cNvPr id="23" name="Shape 21"/>
          <p:cNvSpPr/>
          <p:nvPr/>
        </p:nvSpPr>
        <p:spPr>
          <a:xfrm>
            <a:off x="4773168" y="4777740"/>
            <a:ext cx="292608" cy="0"/>
          </a:xfrm>
          <a:prstGeom prst="line">
            <a:avLst/>
          </a:prstGeom>
          <a:noFill/>
          <a:ln w="22225">
            <a:solidFill>
              <a:srgbClr val="5A6B8C"/>
            </a:solidFill>
            <a:prstDash val="solid"/>
            <a:tailEnd type="triangle"/>
          </a:ln>
        </p:spPr>
        <p:txBody>
          <a:bodyPr/>
          <a:lstStyle/>
          <a:p>
            <a:endParaRPr lang="en-US"/>
          </a:p>
        </p:txBody>
      </p:sp>
      <p:sp>
        <p:nvSpPr>
          <p:cNvPr id="24" name="Text 22"/>
          <p:cNvSpPr txBox="1"/>
          <p:nvPr/>
        </p:nvSpPr>
        <p:spPr>
          <a:xfrm>
            <a:off x="5111496" y="4297680"/>
            <a:ext cx="1737360" cy="960120"/>
          </a:xfrm>
          <a:prstGeom prst="roundRect">
            <a:avLst>
              <a:gd name="adj" fmla="val 8571"/>
            </a:avLst>
          </a:prstGeom>
          <a:solidFill>
            <a:srgbClr val="FFFFFF"/>
          </a:solidFill>
          <a:ln w="12700">
            <a:solidFill>
              <a:srgbClr val="CBD6E8"/>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ComplianceLink</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OFAC screen</a:t>
            </a:r>
            <a:endParaRPr lang="en-US" sz="1150" dirty="0"/>
          </a:p>
        </p:txBody>
      </p:sp>
      <p:sp>
        <p:nvSpPr>
          <p:cNvPr id="25" name="Shape 23"/>
          <p:cNvSpPr/>
          <p:nvPr/>
        </p:nvSpPr>
        <p:spPr>
          <a:xfrm>
            <a:off x="6894576" y="4777740"/>
            <a:ext cx="292608" cy="0"/>
          </a:xfrm>
          <a:prstGeom prst="line">
            <a:avLst/>
          </a:prstGeom>
          <a:noFill/>
          <a:ln w="22225">
            <a:solidFill>
              <a:srgbClr val="5A6B8C"/>
            </a:solidFill>
            <a:prstDash val="solid"/>
            <a:tailEnd type="triangle"/>
          </a:ln>
        </p:spPr>
        <p:txBody>
          <a:bodyPr/>
          <a:lstStyle/>
          <a:p>
            <a:endParaRPr lang="en-US"/>
          </a:p>
        </p:txBody>
      </p:sp>
      <p:sp>
        <p:nvSpPr>
          <p:cNvPr id="26" name="Text 24"/>
          <p:cNvSpPr txBox="1"/>
          <p:nvPr/>
        </p:nvSpPr>
        <p:spPr>
          <a:xfrm>
            <a:off x="7232904" y="4297680"/>
            <a:ext cx="1371600" cy="960120"/>
          </a:xfrm>
          <a:prstGeom prst="roundRect">
            <a:avLst>
              <a:gd name="adj" fmla="val 8571"/>
            </a:avLst>
          </a:prstGeom>
          <a:solidFill>
            <a:srgbClr val="FFFFFF"/>
          </a:solidFill>
          <a:ln w="12700">
            <a:solidFill>
              <a:srgbClr val="CBD6E8"/>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Beacon</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workflow</a:t>
            </a:r>
            <a:endParaRPr lang="en-US" sz="1150" dirty="0"/>
          </a:p>
        </p:txBody>
      </p:sp>
      <p:sp>
        <p:nvSpPr>
          <p:cNvPr id="27" name="Shape 25"/>
          <p:cNvSpPr/>
          <p:nvPr/>
        </p:nvSpPr>
        <p:spPr>
          <a:xfrm>
            <a:off x="8650224" y="4777740"/>
            <a:ext cx="292608" cy="0"/>
          </a:xfrm>
          <a:prstGeom prst="line">
            <a:avLst/>
          </a:prstGeom>
          <a:noFill/>
          <a:ln w="22225">
            <a:solidFill>
              <a:srgbClr val="5A6B8C"/>
            </a:solidFill>
            <a:prstDash val="solid"/>
            <a:tailEnd type="triangle"/>
          </a:ln>
        </p:spPr>
        <p:txBody>
          <a:bodyPr/>
          <a:lstStyle/>
          <a:p>
            <a:endParaRPr lang="en-US"/>
          </a:p>
        </p:txBody>
      </p:sp>
      <p:sp>
        <p:nvSpPr>
          <p:cNvPr id="28" name="Text 26"/>
          <p:cNvSpPr txBox="1"/>
          <p:nvPr/>
        </p:nvSpPr>
        <p:spPr>
          <a:xfrm>
            <a:off x="8988552" y="4297680"/>
            <a:ext cx="1554480" cy="960120"/>
          </a:xfrm>
          <a:prstGeom prst="roundRect">
            <a:avLst>
              <a:gd name="adj" fmla="val 8571"/>
            </a:avLst>
          </a:prstGeom>
          <a:solidFill>
            <a:srgbClr val="FFFFFF"/>
          </a:solidFill>
          <a:ln w="12700">
            <a:solidFill>
              <a:srgbClr val="CBD6E8"/>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Finacle credit</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 GL</a:t>
            </a:r>
            <a:endParaRPr lang="en-US" sz="1150" dirty="0"/>
          </a:p>
        </p:txBody>
      </p:sp>
      <p:pic>
        <p:nvPicPr>
          <p:cNvPr id="29" name="Image 0" descr="C:\Users\vasan\AppData\Local\Temp\claude\D--unfold-git-work-fisOPF\bdc8cb48-9752-4a6c-a524-d1dfc31f95fd\scratchpad/icons/times_C0392B.png"/>
          <p:cNvPicPr>
            <a:picLocks noChangeAspect="1"/>
          </p:cNvPicPr>
          <p:nvPr/>
        </p:nvPicPr>
        <p:blipFill>
          <a:blip r:embed="rId3"/>
          <a:stretch>
            <a:fillRect/>
          </a:stretch>
        </p:blipFill>
        <p:spPr>
          <a:xfrm>
            <a:off x="8732520" y="3730752"/>
            <a:ext cx="292608" cy="292608"/>
          </a:xfrm>
          <a:prstGeom prst="rect">
            <a:avLst/>
          </a:prstGeom>
        </p:spPr>
      </p:pic>
      <p:sp>
        <p:nvSpPr>
          <p:cNvPr id="30" name="Text 27"/>
          <p:cNvSpPr txBox="1"/>
          <p:nvPr/>
        </p:nvSpPr>
        <p:spPr>
          <a:xfrm>
            <a:off x="9098280" y="3721608"/>
            <a:ext cx="2514600" cy="320040"/>
          </a:xfrm>
          <a:prstGeom prst="rect">
            <a:avLst/>
          </a:prstGeom>
          <a:noFill/>
          <a:ln/>
        </p:spPr>
        <p:txBody>
          <a:bodyPr wrap="square" lIns="0" tIns="0" rIns="0" bIns="0" rtlCol="0" anchor="ctr"/>
          <a:lstStyle/>
          <a:p>
            <a:pPr marL="0" indent="0">
              <a:buNone/>
            </a:pPr>
            <a:r>
              <a:rPr lang="en-US" sz="1200" b="1" dirty="0">
                <a:solidFill>
                  <a:srgbClr val="C0392B"/>
                </a:solidFill>
                <a:latin typeface="Calibri" pitchFamily="34" charset="0"/>
                <a:ea typeface="Calibri" pitchFamily="34" charset="-122"/>
                <a:cs typeface="Calibri" pitchFamily="34" charset="-120"/>
              </a:rPr>
              <a:t>No OPF anywhere in this path</a:t>
            </a:r>
            <a:endParaRPr lang="en-US" sz="1200" dirty="0"/>
          </a:p>
        </p:txBody>
      </p:sp>
      <p:sp>
        <p:nvSpPr>
          <p:cNvPr id="31" name="Text 28"/>
          <p:cNvSpPr txBox="1"/>
          <p:nvPr/>
        </p:nvSpPr>
        <p:spPr>
          <a:xfrm>
            <a:off x="548640" y="5897880"/>
            <a:ext cx="11064240" cy="548640"/>
          </a:xfrm>
          <a:prstGeom prst="rect">
            <a:avLst/>
          </a:prstGeom>
          <a:noFill/>
          <a:ln/>
        </p:spPr>
        <p:txBody>
          <a:bodyPr wrap="square" lIns="0" tIns="0" rIns="0" bIns="0" rtlCol="0" anchor="ctr"/>
          <a:lstStyle/>
          <a:p>
            <a:pPr marL="0" indent="0">
              <a:buNone/>
            </a:pPr>
            <a:r>
              <a:rPr lang="en-US" sz="1250" i="1" dirty="0">
                <a:solidFill>
                  <a:srgbClr val="5A6B8C"/>
                </a:solidFill>
                <a:latin typeface="Calibri" pitchFamily="34" charset="0"/>
                <a:ea typeface="Calibri" pitchFamily="34" charset="-122"/>
                <a:cs typeface="Calibri" pitchFamily="34" charset="-120"/>
              </a:rPr>
              <a:t>OPF does send files back to us (ACK / NACK / status XML) — but those are responses about outbound wires, not inbound wire processing.</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1064240" cy="640080"/>
          </a:xfrm>
          <a:prstGeom prst="rect">
            <a:avLst/>
          </a:prstGeom>
          <a:noFill/>
          <a:ln/>
        </p:spPr>
        <p:txBody>
          <a:bodyPr wrap="square" lIns="0" tIns="0" rIns="0" bIns="0" rtlCol="0" anchor="ctr"/>
          <a:lstStyle/>
          <a:p>
            <a:pPr marL="0" indent="0">
              <a:buNone/>
            </a:pPr>
            <a:r>
              <a:rPr lang="en-US" sz="3000" b="1" dirty="0">
                <a:solidFill>
                  <a:srgbClr val="18243F"/>
                </a:solidFill>
                <a:latin typeface="Calibri" pitchFamily="34" charset="0"/>
                <a:ea typeface="Calibri" pitchFamily="34" charset="-122"/>
                <a:cs typeface="Calibri" pitchFamily="34" charset="-120"/>
              </a:rPr>
              <a:t>Anatomy of an outbound wire</a:t>
            </a:r>
            <a:endParaRPr lang="en-US" sz="3000" dirty="0"/>
          </a:p>
        </p:txBody>
      </p:sp>
      <p:sp>
        <p:nvSpPr>
          <p:cNvPr id="3" name="Shape 1"/>
          <p:cNvSpPr/>
          <p:nvPr/>
        </p:nvSpPr>
        <p:spPr>
          <a:xfrm>
            <a:off x="548640" y="1371600"/>
            <a:ext cx="2670048" cy="4206240"/>
          </a:xfrm>
          <a:prstGeom prst="roundRect">
            <a:avLst>
              <a:gd name="adj" fmla="val 4110"/>
            </a:avLst>
          </a:prstGeom>
          <a:solidFill>
            <a:srgbClr val="EEF2F9"/>
          </a:solidFill>
          <a:ln w="12700">
            <a:solidFill>
              <a:srgbClr val="EEF2F9"/>
            </a:solidFill>
            <a:prstDash val="solid"/>
          </a:ln>
        </p:spPr>
        <p:txBody>
          <a:bodyPr/>
          <a:lstStyle/>
          <a:p>
            <a:endParaRPr lang="en-US"/>
          </a:p>
        </p:txBody>
      </p:sp>
      <p:sp>
        <p:nvSpPr>
          <p:cNvPr id="4" name="Text 2"/>
          <p:cNvSpPr txBox="1"/>
          <p:nvPr/>
        </p:nvSpPr>
        <p:spPr>
          <a:xfrm>
            <a:off x="804672" y="1536192"/>
            <a:ext cx="731520" cy="685800"/>
          </a:xfrm>
          <a:prstGeom prst="rect">
            <a:avLst/>
          </a:prstGeom>
          <a:noFill/>
          <a:ln/>
        </p:spPr>
        <p:txBody>
          <a:bodyPr wrap="square" lIns="0" tIns="0" rIns="0" bIns="0" rtlCol="0" anchor="ctr"/>
          <a:lstStyle/>
          <a:p>
            <a:pPr marL="0" indent="0">
              <a:buNone/>
            </a:pPr>
            <a:r>
              <a:rPr lang="en-US" sz="4000" b="1" dirty="0">
                <a:solidFill>
                  <a:srgbClr val="FF6000"/>
                </a:solidFill>
                <a:latin typeface="Calibri" pitchFamily="34" charset="0"/>
                <a:ea typeface="Calibri" pitchFamily="34" charset="-122"/>
                <a:cs typeface="Calibri" pitchFamily="34" charset="-120"/>
              </a:rPr>
              <a:t>1</a:t>
            </a:r>
            <a:endParaRPr lang="en-US" sz="4000" dirty="0"/>
          </a:p>
        </p:txBody>
      </p:sp>
      <p:sp>
        <p:nvSpPr>
          <p:cNvPr id="5" name="Shape 3"/>
          <p:cNvSpPr/>
          <p:nvPr/>
        </p:nvSpPr>
        <p:spPr>
          <a:xfrm>
            <a:off x="2350008" y="1627632"/>
            <a:ext cx="512064" cy="512064"/>
          </a:xfrm>
          <a:prstGeom prst="ellipse">
            <a:avLst/>
          </a:prstGeom>
          <a:solidFill>
            <a:srgbClr val="FF6000"/>
          </a:solidFill>
          <a:ln w="12700">
            <a:solidFill>
              <a:srgbClr val="FF6000"/>
            </a:solidFill>
            <a:prstDash val="solid"/>
          </a:ln>
        </p:spPr>
        <p:txBody>
          <a:bodyPr/>
          <a:lstStyle/>
          <a:p>
            <a:endParaRPr lang="en-US"/>
          </a:p>
        </p:txBody>
      </p:sp>
      <p:pic>
        <p:nvPicPr>
          <p:cNvPr id="6" name="Image 0" descr="C:\Users\vasan\AppData\Local\Temp\claude\D--unfold-git-work-fisOPF\bdc8cb48-9752-4a6c-a524-d1dfc31f95fd\scratchpad/icons/userCheck_FFFFFF.png"/>
          <p:cNvPicPr>
            <a:picLocks noChangeAspect="1"/>
          </p:cNvPicPr>
          <p:nvPr/>
        </p:nvPicPr>
        <p:blipFill>
          <a:blip r:embed="rId3"/>
          <a:stretch>
            <a:fillRect/>
          </a:stretch>
        </p:blipFill>
        <p:spPr>
          <a:xfrm>
            <a:off x="2483145" y="1760769"/>
            <a:ext cx="245791" cy="245791"/>
          </a:xfrm>
          <a:prstGeom prst="rect">
            <a:avLst/>
          </a:prstGeom>
        </p:spPr>
      </p:pic>
      <p:sp>
        <p:nvSpPr>
          <p:cNvPr id="7" name="Text 4"/>
          <p:cNvSpPr txBox="1"/>
          <p:nvPr/>
        </p:nvSpPr>
        <p:spPr>
          <a:xfrm>
            <a:off x="804672" y="2286000"/>
            <a:ext cx="2157984" cy="411480"/>
          </a:xfrm>
          <a:prstGeom prst="rect">
            <a:avLst/>
          </a:prstGeom>
          <a:noFill/>
          <a:ln/>
        </p:spPr>
        <p:txBody>
          <a:bodyPr wrap="square" lIns="0" tIns="0" rIns="0" bIns="0" rtlCol="0" anchor="ctr"/>
          <a:lstStyle/>
          <a:p>
            <a:pPr marL="0" indent="0">
              <a:buNone/>
            </a:pPr>
            <a:r>
              <a:rPr lang="en-US" sz="1900" b="1" dirty="0">
                <a:solidFill>
                  <a:srgbClr val="18243F"/>
                </a:solidFill>
                <a:latin typeface="Calibri" pitchFamily="34" charset="0"/>
                <a:ea typeface="Calibri" pitchFamily="34" charset="-122"/>
                <a:cs typeface="Calibri" pitchFamily="34" charset="-120"/>
              </a:rPr>
              <a:t>Initiate</a:t>
            </a:r>
            <a:endParaRPr lang="en-US" sz="1900" dirty="0"/>
          </a:p>
        </p:txBody>
      </p:sp>
      <p:sp>
        <p:nvSpPr>
          <p:cNvPr id="8" name="Text 5"/>
          <p:cNvSpPr txBox="1"/>
          <p:nvPr/>
        </p:nvSpPr>
        <p:spPr>
          <a:xfrm>
            <a:off x="804672" y="2743200"/>
            <a:ext cx="2157984" cy="2651760"/>
          </a:xfrm>
          <a:prstGeom prst="rect">
            <a:avLst/>
          </a:prstGeom>
          <a:noFill/>
          <a:ln/>
        </p:spPr>
        <p:txBody>
          <a:bodyPr wrap="square" lIns="0" tIns="0" rIns="0" bIns="0" rtlCol="0" anchor="ctr"/>
          <a:lstStyle/>
          <a:p>
            <a:pPr marL="0" indent="0">
              <a:buNone/>
            </a:pPr>
            <a:r>
              <a:rPr lang="en-US" sz="1150" dirty="0">
                <a:solidFill>
                  <a:srgbClr val="18243F"/>
                </a:solidFill>
                <a:latin typeface="Calibri" pitchFamily="34" charset="0"/>
                <a:ea typeface="Calibri" pitchFamily="34" charset="-122"/>
                <a:cs typeface="Calibri" pitchFamily="34" charset="-120"/>
              </a:rPr>
              <a:t>Customer submits via web / mobile (Wires-App) or paper, fax &amp; mail handled by Atlas agents.</a:t>
            </a:r>
            <a:endParaRPr lang="en-US" sz="1150" dirty="0"/>
          </a:p>
          <a:p>
            <a:pPr marL="0" indent="0">
              <a:buNone/>
            </a:pPr>
            <a:endParaRPr lang="en-US" sz="1150" dirty="0"/>
          </a:p>
          <a:p>
            <a:pPr marL="0" indent="0">
              <a:buNone/>
            </a:pPr>
            <a:r>
              <a:rPr lang="en-US" sz="1150" dirty="0">
                <a:solidFill>
                  <a:srgbClr val="18243F"/>
                </a:solidFill>
                <a:latin typeface="Calibri" pitchFamily="34" charset="0"/>
                <a:ea typeface="Calibri" pitchFamily="34" charset="-122"/>
                <a:cs typeface="Calibri" pitchFamily="34" charset="-120"/>
              </a:rPr>
              <a:t>Up-front validation and EDP fraud decisioning before a case is even created.</a:t>
            </a:r>
            <a:endParaRPr lang="en-US" sz="1150" dirty="0"/>
          </a:p>
        </p:txBody>
      </p:sp>
      <p:sp>
        <p:nvSpPr>
          <p:cNvPr id="9" name="Shape 6"/>
          <p:cNvSpPr/>
          <p:nvPr/>
        </p:nvSpPr>
        <p:spPr>
          <a:xfrm>
            <a:off x="3246120" y="3383280"/>
            <a:ext cx="237744" cy="0"/>
          </a:xfrm>
          <a:prstGeom prst="line">
            <a:avLst/>
          </a:prstGeom>
          <a:noFill/>
          <a:ln w="22225">
            <a:solidFill>
              <a:srgbClr val="FF6000"/>
            </a:solidFill>
            <a:prstDash val="solid"/>
            <a:tailEnd type="triangle"/>
          </a:ln>
        </p:spPr>
        <p:txBody>
          <a:bodyPr/>
          <a:lstStyle/>
          <a:p>
            <a:endParaRPr lang="en-US"/>
          </a:p>
        </p:txBody>
      </p:sp>
      <p:sp>
        <p:nvSpPr>
          <p:cNvPr id="10" name="Shape 7"/>
          <p:cNvSpPr/>
          <p:nvPr/>
        </p:nvSpPr>
        <p:spPr>
          <a:xfrm>
            <a:off x="3511296" y="1371600"/>
            <a:ext cx="2670048" cy="4206240"/>
          </a:xfrm>
          <a:prstGeom prst="roundRect">
            <a:avLst>
              <a:gd name="adj" fmla="val 4110"/>
            </a:avLst>
          </a:prstGeom>
          <a:solidFill>
            <a:srgbClr val="EEF2F9"/>
          </a:solidFill>
          <a:ln w="12700">
            <a:solidFill>
              <a:srgbClr val="EEF2F9"/>
            </a:solidFill>
            <a:prstDash val="solid"/>
          </a:ln>
        </p:spPr>
        <p:txBody>
          <a:bodyPr/>
          <a:lstStyle/>
          <a:p>
            <a:endParaRPr lang="en-US"/>
          </a:p>
        </p:txBody>
      </p:sp>
      <p:sp>
        <p:nvSpPr>
          <p:cNvPr id="11" name="Text 8"/>
          <p:cNvSpPr txBox="1"/>
          <p:nvPr/>
        </p:nvSpPr>
        <p:spPr>
          <a:xfrm>
            <a:off x="3767328" y="1536192"/>
            <a:ext cx="731520" cy="685800"/>
          </a:xfrm>
          <a:prstGeom prst="rect">
            <a:avLst/>
          </a:prstGeom>
          <a:noFill/>
          <a:ln/>
        </p:spPr>
        <p:txBody>
          <a:bodyPr wrap="square" lIns="0" tIns="0" rIns="0" bIns="0" rtlCol="0" anchor="ctr"/>
          <a:lstStyle/>
          <a:p>
            <a:pPr marL="0" indent="0">
              <a:buNone/>
            </a:pPr>
            <a:r>
              <a:rPr lang="en-US" sz="4000" b="1" dirty="0">
                <a:solidFill>
                  <a:srgbClr val="FF6000"/>
                </a:solidFill>
                <a:latin typeface="Calibri" pitchFamily="34" charset="0"/>
                <a:ea typeface="Calibri" pitchFamily="34" charset="-122"/>
                <a:cs typeface="Calibri" pitchFamily="34" charset="-120"/>
              </a:rPr>
              <a:t>2</a:t>
            </a:r>
            <a:endParaRPr lang="en-US" sz="4000" dirty="0"/>
          </a:p>
        </p:txBody>
      </p:sp>
      <p:sp>
        <p:nvSpPr>
          <p:cNvPr id="12" name="Shape 9"/>
          <p:cNvSpPr/>
          <p:nvPr/>
        </p:nvSpPr>
        <p:spPr>
          <a:xfrm>
            <a:off x="5312664" y="1627632"/>
            <a:ext cx="512064" cy="512064"/>
          </a:xfrm>
          <a:prstGeom prst="ellipse">
            <a:avLst/>
          </a:prstGeom>
          <a:solidFill>
            <a:srgbClr val="FF6000"/>
          </a:solidFill>
          <a:ln w="12700">
            <a:solidFill>
              <a:srgbClr val="FF6000"/>
            </a:solidFill>
            <a:prstDash val="solid"/>
          </a:ln>
        </p:spPr>
        <p:txBody>
          <a:bodyPr/>
          <a:lstStyle/>
          <a:p>
            <a:endParaRPr lang="en-US"/>
          </a:p>
        </p:txBody>
      </p:sp>
      <p:pic>
        <p:nvPicPr>
          <p:cNvPr id="13" name="Image 1" descr="C:\Users\vasan\AppData\Local\Temp\claude\D--unfold-git-work-fisOPF\bdc8cb48-9752-4a6c-a524-d1dfc31f95fd\scratchpad/icons/shield_FFFFFF.png"/>
          <p:cNvPicPr>
            <a:picLocks noChangeAspect="1"/>
          </p:cNvPicPr>
          <p:nvPr/>
        </p:nvPicPr>
        <p:blipFill>
          <a:blip r:embed="rId4"/>
          <a:stretch>
            <a:fillRect/>
          </a:stretch>
        </p:blipFill>
        <p:spPr>
          <a:xfrm>
            <a:off x="5445801" y="1760769"/>
            <a:ext cx="245791" cy="245791"/>
          </a:xfrm>
          <a:prstGeom prst="rect">
            <a:avLst/>
          </a:prstGeom>
        </p:spPr>
      </p:pic>
      <p:sp>
        <p:nvSpPr>
          <p:cNvPr id="14" name="Text 10"/>
          <p:cNvSpPr txBox="1"/>
          <p:nvPr/>
        </p:nvSpPr>
        <p:spPr>
          <a:xfrm>
            <a:off x="3767328" y="2286000"/>
            <a:ext cx="2157984" cy="411480"/>
          </a:xfrm>
          <a:prstGeom prst="rect">
            <a:avLst/>
          </a:prstGeom>
          <a:noFill/>
          <a:ln/>
        </p:spPr>
        <p:txBody>
          <a:bodyPr wrap="square" lIns="0" tIns="0" rIns="0" bIns="0" rtlCol="0" anchor="ctr"/>
          <a:lstStyle/>
          <a:p>
            <a:pPr marL="0" indent="0">
              <a:buNone/>
            </a:pPr>
            <a:r>
              <a:rPr lang="en-US" sz="1900" b="1" dirty="0">
                <a:solidFill>
                  <a:srgbClr val="18243F"/>
                </a:solidFill>
                <a:latin typeface="Calibri" pitchFamily="34" charset="0"/>
                <a:ea typeface="Calibri" pitchFamily="34" charset="-122"/>
                <a:cs typeface="Calibri" pitchFamily="34" charset="-120"/>
              </a:rPr>
              <a:t>Approve</a:t>
            </a:r>
            <a:endParaRPr lang="en-US" sz="1900" dirty="0"/>
          </a:p>
        </p:txBody>
      </p:sp>
      <p:sp>
        <p:nvSpPr>
          <p:cNvPr id="15" name="Text 11"/>
          <p:cNvSpPr txBox="1"/>
          <p:nvPr/>
        </p:nvSpPr>
        <p:spPr>
          <a:xfrm>
            <a:off x="3767328" y="2743200"/>
            <a:ext cx="2157984" cy="2651760"/>
          </a:xfrm>
          <a:prstGeom prst="rect">
            <a:avLst/>
          </a:prstGeom>
          <a:noFill/>
          <a:ln/>
        </p:spPr>
        <p:txBody>
          <a:bodyPr wrap="square" lIns="0" tIns="0" rIns="0" bIns="0" rtlCol="0" anchor="ctr"/>
          <a:lstStyle/>
          <a:p>
            <a:pPr marL="0" indent="0">
              <a:buNone/>
            </a:pPr>
            <a:r>
              <a:rPr lang="en-US" sz="1150" dirty="0">
                <a:solidFill>
                  <a:srgbClr val="18243F"/>
                </a:solidFill>
                <a:latin typeface="Calibri" pitchFamily="34" charset="0"/>
                <a:ea typeface="Calibri" pitchFamily="34" charset="-122"/>
                <a:cs typeface="Calibri" pitchFamily="34" charset="-120"/>
              </a:rPr>
              <a:t>IBM BPM case: validate → contact customer → 1st approval → 2nd approval.</a:t>
            </a:r>
            <a:endParaRPr lang="en-US" sz="1150" dirty="0"/>
          </a:p>
          <a:p>
            <a:pPr marL="0" indent="0">
              <a:buNone/>
            </a:pPr>
            <a:endParaRPr lang="en-US" sz="1150" dirty="0"/>
          </a:p>
          <a:p>
            <a:pPr marL="0" indent="0">
              <a:buNone/>
            </a:pPr>
            <a:r>
              <a:rPr lang="en-US" sz="1150" dirty="0">
                <a:solidFill>
                  <a:srgbClr val="18243F"/>
                </a:solidFill>
                <a:latin typeface="Calibri" pitchFamily="34" charset="0"/>
                <a:ea typeface="Calibri" pitchFamily="34" charset="-122"/>
                <a:cs typeface="Calibri" pitchFamily="34" charset="-120"/>
              </a:rPr>
              <a:t>Finacle debits the account (systematic via BPM; manual only for CD / full-balance wires).</a:t>
            </a:r>
            <a:endParaRPr lang="en-US" sz="1150" dirty="0"/>
          </a:p>
        </p:txBody>
      </p:sp>
      <p:sp>
        <p:nvSpPr>
          <p:cNvPr id="16" name="Shape 12"/>
          <p:cNvSpPr/>
          <p:nvPr/>
        </p:nvSpPr>
        <p:spPr>
          <a:xfrm>
            <a:off x="6208776" y="3383280"/>
            <a:ext cx="237744" cy="0"/>
          </a:xfrm>
          <a:prstGeom prst="line">
            <a:avLst/>
          </a:prstGeom>
          <a:noFill/>
          <a:ln w="22225">
            <a:solidFill>
              <a:srgbClr val="FF6000"/>
            </a:solidFill>
            <a:prstDash val="solid"/>
            <a:tailEnd type="triangle"/>
          </a:ln>
        </p:spPr>
        <p:txBody>
          <a:bodyPr/>
          <a:lstStyle/>
          <a:p>
            <a:endParaRPr lang="en-US"/>
          </a:p>
        </p:txBody>
      </p:sp>
      <p:sp>
        <p:nvSpPr>
          <p:cNvPr id="17" name="Shape 13"/>
          <p:cNvSpPr/>
          <p:nvPr/>
        </p:nvSpPr>
        <p:spPr>
          <a:xfrm>
            <a:off x="6473952" y="1371600"/>
            <a:ext cx="2670048" cy="4206240"/>
          </a:xfrm>
          <a:prstGeom prst="roundRect">
            <a:avLst>
              <a:gd name="adj" fmla="val 4110"/>
            </a:avLst>
          </a:prstGeom>
          <a:solidFill>
            <a:srgbClr val="EEF2F9"/>
          </a:solidFill>
          <a:ln w="12700">
            <a:solidFill>
              <a:srgbClr val="EEF2F9"/>
            </a:solidFill>
            <a:prstDash val="solid"/>
          </a:ln>
        </p:spPr>
        <p:txBody>
          <a:bodyPr/>
          <a:lstStyle/>
          <a:p>
            <a:endParaRPr lang="en-US"/>
          </a:p>
        </p:txBody>
      </p:sp>
      <p:sp>
        <p:nvSpPr>
          <p:cNvPr id="18" name="Text 14"/>
          <p:cNvSpPr txBox="1"/>
          <p:nvPr/>
        </p:nvSpPr>
        <p:spPr>
          <a:xfrm>
            <a:off x="6729984" y="1536192"/>
            <a:ext cx="731520" cy="685800"/>
          </a:xfrm>
          <a:prstGeom prst="rect">
            <a:avLst/>
          </a:prstGeom>
          <a:noFill/>
          <a:ln/>
        </p:spPr>
        <p:txBody>
          <a:bodyPr wrap="square" lIns="0" tIns="0" rIns="0" bIns="0" rtlCol="0" anchor="ctr"/>
          <a:lstStyle/>
          <a:p>
            <a:pPr marL="0" indent="0">
              <a:buNone/>
            </a:pPr>
            <a:r>
              <a:rPr lang="en-US" sz="4000" b="1" dirty="0">
                <a:solidFill>
                  <a:srgbClr val="FF6000"/>
                </a:solidFill>
                <a:latin typeface="Calibri" pitchFamily="34" charset="0"/>
                <a:ea typeface="Calibri" pitchFamily="34" charset="-122"/>
                <a:cs typeface="Calibri" pitchFamily="34" charset="-120"/>
              </a:rPr>
              <a:t>3</a:t>
            </a:r>
            <a:endParaRPr lang="en-US" sz="4000" dirty="0"/>
          </a:p>
        </p:txBody>
      </p:sp>
      <p:sp>
        <p:nvSpPr>
          <p:cNvPr id="19" name="Shape 15"/>
          <p:cNvSpPr/>
          <p:nvPr/>
        </p:nvSpPr>
        <p:spPr>
          <a:xfrm>
            <a:off x="8275320" y="1627632"/>
            <a:ext cx="512064" cy="512064"/>
          </a:xfrm>
          <a:prstGeom prst="ellipse">
            <a:avLst/>
          </a:prstGeom>
          <a:solidFill>
            <a:srgbClr val="FF6000"/>
          </a:solidFill>
          <a:ln w="12700">
            <a:solidFill>
              <a:srgbClr val="FF6000"/>
            </a:solidFill>
            <a:prstDash val="solid"/>
          </a:ln>
        </p:spPr>
        <p:txBody>
          <a:bodyPr/>
          <a:lstStyle/>
          <a:p>
            <a:endParaRPr lang="en-US"/>
          </a:p>
        </p:txBody>
      </p:sp>
      <p:pic>
        <p:nvPicPr>
          <p:cNvPr id="20" name="Image 2" descr="C:\Users\vasan\AppData\Local\Temp\claude\D--unfold-git-work-fisOPF\bdc8cb48-9752-4a6c-a524-d1dfc31f95fd\scratchpad/icons/file_FFFFFF.png"/>
          <p:cNvPicPr>
            <a:picLocks noChangeAspect="1"/>
          </p:cNvPicPr>
          <p:nvPr/>
        </p:nvPicPr>
        <p:blipFill>
          <a:blip r:embed="rId5"/>
          <a:stretch>
            <a:fillRect/>
          </a:stretch>
        </p:blipFill>
        <p:spPr>
          <a:xfrm>
            <a:off x="8408457" y="1760769"/>
            <a:ext cx="245791" cy="245791"/>
          </a:xfrm>
          <a:prstGeom prst="rect">
            <a:avLst/>
          </a:prstGeom>
        </p:spPr>
      </p:pic>
      <p:sp>
        <p:nvSpPr>
          <p:cNvPr id="21" name="Text 16"/>
          <p:cNvSpPr txBox="1"/>
          <p:nvPr/>
        </p:nvSpPr>
        <p:spPr>
          <a:xfrm>
            <a:off x="6729984" y="2286000"/>
            <a:ext cx="2157984" cy="411480"/>
          </a:xfrm>
          <a:prstGeom prst="rect">
            <a:avLst/>
          </a:prstGeom>
          <a:noFill/>
          <a:ln/>
        </p:spPr>
        <p:txBody>
          <a:bodyPr wrap="square" lIns="0" tIns="0" rIns="0" bIns="0" rtlCol="0" anchor="ctr"/>
          <a:lstStyle/>
          <a:p>
            <a:pPr marL="0" indent="0">
              <a:buNone/>
            </a:pPr>
            <a:r>
              <a:rPr lang="en-US" sz="1900" b="1" dirty="0">
                <a:solidFill>
                  <a:srgbClr val="18243F"/>
                </a:solidFill>
                <a:latin typeface="Calibri" pitchFamily="34" charset="0"/>
                <a:ea typeface="Calibri" pitchFamily="34" charset="-122"/>
                <a:cs typeface="Calibri" pitchFamily="34" charset="-120"/>
              </a:rPr>
              <a:t>Transmit</a:t>
            </a:r>
            <a:endParaRPr lang="en-US" sz="1900" dirty="0"/>
          </a:p>
        </p:txBody>
      </p:sp>
      <p:sp>
        <p:nvSpPr>
          <p:cNvPr id="22" name="Text 17"/>
          <p:cNvSpPr txBox="1"/>
          <p:nvPr/>
        </p:nvSpPr>
        <p:spPr>
          <a:xfrm>
            <a:off x="6729984" y="2743200"/>
            <a:ext cx="2157984" cy="2651760"/>
          </a:xfrm>
          <a:prstGeom prst="rect">
            <a:avLst/>
          </a:prstGeom>
          <a:noFill/>
          <a:ln/>
        </p:spPr>
        <p:txBody>
          <a:bodyPr wrap="square" lIns="0" tIns="0" rIns="0" bIns="0" rtlCol="0" anchor="ctr"/>
          <a:lstStyle/>
          <a:p>
            <a:pPr marL="0" indent="0">
              <a:buNone/>
            </a:pPr>
            <a:r>
              <a:rPr lang="en-US" sz="1150" dirty="0">
                <a:solidFill>
                  <a:srgbClr val="18243F"/>
                </a:solidFill>
                <a:latin typeface="Calibri" pitchFamily="34" charset="0"/>
                <a:ea typeface="Calibri" pitchFamily="34" charset="-122"/>
                <a:cs typeface="Calibri" pitchFamily="34" charset="-120"/>
              </a:rPr>
              <a:t>Wires Batch collects approved cases on a schedule and writes a fixed-length request file.</a:t>
            </a:r>
            <a:endParaRPr lang="en-US" sz="1150" dirty="0"/>
          </a:p>
          <a:p>
            <a:pPr marL="0" indent="0">
              <a:buNone/>
            </a:pPr>
            <a:endParaRPr lang="en-US" sz="1150" dirty="0"/>
          </a:p>
          <a:p>
            <a:pPr marL="0" indent="0">
              <a:buNone/>
            </a:pPr>
            <a:r>
              <a:rPr lang="en-US" sz="1150" dirty="0">
                <a:solidFill>
                  <a:srgbClr val="18243F"/>
                </a:solidFill>
                <a:latin typeface="Calibri" pitchFamily="34" charset="0"/>
                <a:ea typeface="Calibri" pitchFamily="34" charset="-122"/>
                <a:cs typeface="Calibri" pitchFamily="34" charset="-120"/>
              </a:rPr>
              <a:t>File travels DFTP → Pep+ → FIS OPF, renamed at each hop.</a:t>
            </a:r>
            <a:endParaRPr lang="en-US" sz="1150" dirty="0"/>
          </a:p>
        </p:txBody>
      </p:sp>
      <p:sp>
        <p:nvSpPr>
          <p:cNvPr id="23" name="Shape 18"/>
          <p:cNvSpPr/>
          <p:nvPr/>
        </p:nvSpPr>
        <p:spPr>
          <a:xfrm>
            <a:off x="9171432" y="3383280"/>
            <a:ext cx="237744" cy="0"/>
          </a:xfrm>
          <a:prstGeom prst="line">
            <a:avLst/>
          </a:prstGeom>
          <a:noFill/>
          <a:ln w="22225">
            <a:solidFill>
              <a:srgbClr val="FF6000"/>
            </a:solidFill>
            <a:prstDash val="solid"/>
            <a:tailEnd type="triangle"/>
          </a:ln>
        </p:spPr>
        <p:txBody>
          <a:bodyPr/>
          <a:lstStyle/>
          <a:p>
            <a:endParaRPr lang="en-US"/>
          </a:p>
        </p:txBody>
      </p:sp>
      <p:sp>
        <p:nvSpPr>
          <p:cNvPr id="24" name="Shape 19"/>
          <p:cNvSpPr/>
          <p:nvPr/>
        </p:nvSpPr>
        <p:spPr>
          <a:xfrm>
            <a:off x="9436608" y="1371600"/>
            <a:ext cx="2670048" cy="4206240"/>
          </a:xfrm>
          <a:prstGeom prst="roundRect">
            <a:avLst>
              <a:gd name="adj" fmla="val 4110"/>
            </a:avLst>
          </a:prstGeom>
          <a:solidFill>
            <a:srgbClr val="0F1E3D"/>
          </a:solidFill>
          <a:ln w="12700">
            <a:solidFill>
              <a:srgbClr val="0F1E3D"/>
            </a:solidFill>
            <a:prstDash val="solid"/>
          </a:ln>
        </p:spPr>
        <p:txBody>
          <a:bodyPr/>
          <a:lstStyle/>
          <a:p>
            <a:endParaRPr lang="en-US"/>
          </a:p>
        </p:txBody>
      </p:sp>
      <p:sp>
        <p:nvSpPr>
          <p:cNvPr id="25" name="Text 20"/>
          <p:cNvSpPr txBox="1"/>
          <p:nvPr/>
        </p:nvSpPr>
        <p:spPr>
          <a:xfrm>
            <a:off x="9692640" y="1536192"/>
            <a:ext cx="731520" cy="685800"/>
          </a:xfrm>
          <a:prstGeom prst="rect">
            <a:avLst/>
          </a:prstGeom>
          <a:noFill/>
          <a:ln/>
        </p:spPr>
        <p:txBody>
          <a:bodyPr wrap="square" lIns="0" tIns="0" rIns="0" bIns="0" rtlCol="0" anchor="ctr"/>
          <a:lstStyle/>
          <a:p>
            <a:pPr marL="0" indent="0">
              <a:buNone/>
            </a:pPr>
            <a:r>
              <a:rPr lang="en-US" sz="4000" b="1" dirty="0">
                <a:solidFill>
                  <a:srgbClr val="FF6000"/>
                </a:solidFill>
                <a:latin typeface="Calibri" pitchFamily="34" charset="0"/>
                <a:ea typeface="Calibri" pitchFamily="34" charset="-122"/>
                <a:cs typeface="Calibri" pitchFamily="34" charset="-120"/>
              </a:rPr>
              <a:t>4</a:t>
            </a:r>
            <a:endParaRPr lang="en-US" sz="4000" dirty="0"/>
          </a:p>
        </p:txBody>
      </p:sp>
      <p:sp>
        <p:nvSpPr>
          <p:cNvPr id="26" name="Shape 21"/>
          <p:cNvSpPr/>
          <p:nvPr/>
        </p:nvSpPr>
        <p:spPr>
          <a:xfrm>
            <a:off x="11237976" y="1627632"/>
            <a:ext cx="512064" cy="512064"/>
          </a:xfrm>
          <a:prstGeom prst="ellipse">
            <a:avLst/>
          </a:prstGeom>
          <a:solidFill>
            <a:srgbClr val="FF6000"/>
          </a:solidFill>
          <a:ln w="12700">
            <a:solidFill>
              <a:srgbClr val="FF6000"/>
            </a:solidFill>
            <a:prstDash val="solid"/>
          </a:ln>
        </p:spPr>
        <p:txBody>
          <a:bodyPr/>
          <a:lstStyle/>
          <a:p>
            <a:endParaRPr lang="en-US"/>
          </a:p>
        </p:txBody>
      </p:sp>
      <p:pic>
        <p:nvPicPr>
          <p:cNvPr id="27" name="Image 3" descr="C:\Users\vasan\AppData\Local\Temp\claude\D--unfold-git-work-fisOPF\bdc8cb48-9752-4a6c-a524-d1dfc31f95fd\scratchpad/icons/globe_FFFFFF.png"/>
          <p:cNvPicPr>
            <a:picLocks noChangeAspect="1"/>
          </p:cNvPicPr>
          <p:nvPr/>
        </p:nvPicPr>
        <p:blipFill>
          <a:blip r:embed="rId6"/>
          <a:stretch>
            <a:fillRect/>
          </a:stretch>
        </p:blipFill>
        <p:spPr>
          <a:xfrm>
            <a:off x="11371113" y="1760769"/>
            <a:ext cx="245791" cy="245791"/>
          </a:xfrm>
          <a:prstGeom prst="rect">
            <a:avLst/>
          </a:prstGeom>
        </p:spPr>
      </p:pic>
      <p:sp>
        <p:nvSpPr>
          <p:cNvPr id="28" name="Text 22"/>
          <p:cNvSpPr txBox="1"/>
          <p:nvPr/>
        </p:nvSpPr>
        <p:spPr>
          <a:xfrm>
            <a:off x="9692640" y="2286000"/>
            <a:ext cx="2157984" cy="41148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Settle</a:t>
            </a:r>
            <a:endParaRPr lang="en-US" sz="1900" dirty="0"/>
          </a:p>
        </p:txBody>
      </p:sp>
      <p:sp>
        <p:nvSpPr>
          <p:cNvPr id="29" name="Text 23"/>
          <p:cNvSpPr txBox="1"/>
          <p:nvPr/>
        </p:nvSpPr>
        <p:spPr>
          <a:xfrm>
            <a:off x="9692640" y="2743200"/>
            <a:ext cx="2157984" cy="2651760"/>
          </a:xfrm>
          <a:prstGeom prst="rect">
            <a:avLst/>
          </a:prstGeom>
          <a:noFill/>
          <a:ln/>
        </p:spPr>
        <p:txBody>
          <a:bodyPr wrap="square" lIns="0" tIns="0" rIns="0" bIns="0" rtlCol="0" anchor="ctr"/>
          <a:lstStyle/>
          <a:p>
            <a:pPr marL="0" indent="0">
              <a:buNone/>
            </a:pPr>
            <a:r>
              <a:rPr lang="en-US" sz="1150" dirty="0">
                <a:solidFill>
                  <a:srgbClr val="C9D9F5"/>
                </a:solidFill>
                <a:latin typeface="Calibri" pitchFamily="34" charset="0"/>
                <a:ea typeface="Calibri" pitchFamily="34" charset="-122"/>
                <a:cs typeface="Calibri" pitchFamily="34" charset="-120"/>
              </a:rPr>
              <a:t>OPF validates, formats, and routes: BNY Mellon settles to Fedwire (domestic) or SWIFT (international).</a:t>
            </a:r>
            <a:endParaRPr lang="en-US" sz="1150" dirty="0"/>
          </a:p>
          <a:p>
            <a:pPr marL="0" indent="0">
              <a:buNone/>
            </a:pPr>
            <a:endParaRPr lang="en-US" sz="1150" dirty="0"/>
          </a:p>
          <a:p>
            <a:pPr marL="0" indent="0">
              <a:buNone/>
            </a:pPr>
            <a:r>
              <a:rPr lang="en-US" sz="1150" dirty="0">
                <a:solidFill>
                  <a:srgbClr val="C9D9F5"/>
                </a:solidFill>
                <a:latin typeface="Calibri" pitchFamily="34" charset="0"/>
                <a:ea typeface="Calibri" pitchFamily="34" charset="-122"/>
                <a:cs typeface="Calibri" pitchFamily="34" charset="-120"/>
              </a:rPr>
              <a:t>ACK / status XML flows back; BPM case confirms &amp; closes.</a:t>
            </a:r>
            <a:endParaRPr lang="en-US" sz="1150" dirty="0"/>
          </a:p>
        </p:txBody>
      </p:sp>
      <p:sp>
        <p:nvSpPr>
          <p:cNvPr id="30" name="Text 24"/>
          <p:cNvSpPr txBox="1"/>
          <p:nvPr/>
        </p:nvSpPr>
        <p:spPr>
          <a:xfrm>
            <a:off x="548640" y="5806440"/>
            <a:ext cx="11064240" cy="411480"/>
          </a:xfrm>
          <a:prstGeom prst="rect">
            <a:avLst/>
          </a:prstGeom>
          <a:noFill/>
          <a:ln/>
        </p:spPr>
        <p:txBody>
          <a:bodyPr wrap="square" lIns="0" tIns="0" rIns="0" bIns="0" rtlCol="0" anchor="ctr"/>
          <a:lstStyle/>
          <a:p>
            <a:pPr marL="0" indent="0" algn="ctr">
              <a:buNone/>
            </a:pPr>
            <a:r>
              <a:rPr lang="en-US" sz="1300" i="1" dirty="0">
                <a:solidFill>
                  <a:srgbClr val="5A6B8C"/>
                </a:solidFill>
                <a:latin typeface="Calibri" pitchFamily="34" charset="0"/>
                <a:ea typeface="Calibri" pitchFamily="34" charset="-122"/>
                <a:cs typeface="Calibri" pitchFamily="34" charset="-120"/>
              </a:rPr>
              <a:t>Every wire is validated, fraud-screened, and approved by two humans before it ever reaches OPF.</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1064240" cy="640080"/>
          </a:xfrm>
          <a:prstGeom prst="rect">
            <a:avLst/>
          </a:prstGeom>
          <a:noFill/>
          <a:ln/>
        </p:spPr>
        <p:txBody>
          <a:bodyPr wrap="square" lIns="0" tIns="0" rIns="0" bIns="0" rtlCol="0" anchor="ctr"/>
          <a:lstStyle/>
          <a:p>
            <a:pPr marL="0" indent="0">
              <a:buNone/>
            </a:pPr>
            <a:r>
              <a:rPr lang="en-US" sz="3000" b="1" dirty="0">
                <a:solidFill>
                  <a:srgbClr val="18243F"/>
                </a:solidFill>
                <a:latin typeface="Calibri" pitchFamily="34" charset="0"/>
                <a:ea typeface="Calibri" pitchFamily="34" charset="-122"/>
                <a:cs typeface="Calibri" pitchFamily="34" charset="-120"/>
              </a:rPr>
              <a:t>The Wires Transfer Batch: files on a schedule</a:t>
            </a:r>
            <a:endParaRPr lang="en-US" sz="30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400" dirty="0">
                <a:solidFill>
                  <a:srgbClr val="5A6B8C"/>
                </a:solidFill>
                <a:latin typeface="Calibri" pitchFamily="34" charset="0"/>
                <a:ea typeface="Calibri" pitchFamily="34" charset="-122"/>
                <a:cs typeface="Calibri" pitchFamily="34" charset="-120"/>
              </a:rPr>
              <a:t>Spring Batch application, orchestrated by AutoSys — request files out, response files in</a:t>
            </a:r>
            <a:endParaRPr lang="en-US" sz="1400" dirty="0"/>
          </a:p>
        </p:txBody>
      </p:sp>
      <p:sp>
        <p:nvSpPr>
          <p:cNvPr id="4" name="Shape 2"/>
          <p:cNvSpPr/>
          <p:nvPr/>
        </p:nvSpPr>
        <p:spPr>
          <a:xfrm>
            <a:off x="548640" y="1600200"/>
            <a:ext cx="5989320" cy="841248"/>
          </a:xfrm>
          <a:prstGeom prst="roundRect">
            <a:avLst>
              <a:gd name="adj" fmla="val 9783"/>
            </a:avLst>
          </a:prstGeom>
          <a:solidFill>
            <a:srgbClr val="EEF2F9"/>
          </a:solidFill>
          <a:ln w="12700">
            <a:solidFill>
              <a:srgbClr val="EEF2F9"/>
            </a:solidFill>
            <a:prstDash val="solid"/>
          </a:ln>
        </p:spPr>
        <p:txBody>
          <a:bodyPr/>
          <a:lstStyle/>
          <a:p>
            <a:endParaRPr lang="en-US"/>
          </a:p>
        </p:txBody>
      </p:sp>
      <p:sp>
        <p:nvSpPr>
          <p:cNvPr id="5" name="Text 3"/>
          <p:cNvSpPr txBox="1"/>
          <p:nvPr/>
        </p:nvSpPr>
        <p:spPr>
          <a:xfrm>
            <a:off x="777240" y="1673352"/>
            <a:ext cx="5577840" cy="274320"/>
          </a:xfrm>
          <a:prstGeom prst="rect">
            <a:avLst/>
          </a:prstGeom>
          <a:noFill/>
          <a:ln/>
        </p:spPr>
        <p:txBody>
          <a:bodyPr wrap="square" lIns="0" tIns="0" rIns="0" bIns="0" rtlCol="0" anchor="ctr"/>
          <a:lstStyle/>
          <a:p>
            <a:pPr marL="0" indent="0">
              <a:buNone/>
            </a:pPr>
            <a:r>
              <a:rPr lang="en-US" sz="1200" b="1" dirty="0">
                <a:solidFill>
                  <a:srgbClr val="18243F"/>
                </a:solidFill>
                <a:latin typeface="Calibri" pitchFamily="34" charset="0"/>
                <a:ea typeface="Calibri" pitchFamily="34" charset="-122"/>
                <a:cs typeface="Calibri" pitchFamily="34" charset="-120"/>
              </a:rPr>
              <a:t>Batch server</a:t>
            </a:r>
            <a:endParaRPr lang="en-US" sz="1200" dirty="0"/>
          </a:p>
        </p:txBody>
      </p:sp>
      <p:sp>
        <p:nvSpPr>
          <p:cNvPr id="6" name="Text 4"/>
          <p:cNvSpPr txBox="1"/>
          <p:nvPr/>
        </p:nvSpPr>
        <p:spPr>
          <a:xfrm>
            <a:off x="777240" y="1965960"/>
            <a:ext cx="5577840" cy="384048"/>
          </a:xfrm>
          <a:prstGeom prst="rect">
            <a:avLst/>
          </a:prstGeom>
          <a:noFill/>
          <a:ln/>
        </p:spPr>
        <p:txBody>
          <a:bodyPr wrap="square" lIns="0" tIns="0" rIns="0" bIns="0" rtlCol="0" anchor="ctr"/>
          <a:lstStyle/>
          <a:p>
            <a:pPr marL="0" indent="0">
              <a:buNone/>
            </a:pPr>
            <a:r>
              <a:rPr lang="en-US" sz="1050" b="1" dirty="0">
                <a:solidFill>
                  <a:srgbClr val="FF6000"/>
                </a:solidFill>
                <a:latin typeface="Courier New" pitchFamily="34" charset="0"/>
                <a:ea typeface="Courier New" pitchFamily="34" charset="-122"/>
                <a:cs typeface="Courier New" pitchFamily="34" charset="-120"/>
              </a:rPr>
              <a:t>DEPW&lt;ddmmyyyy&gt;&lt;HHMMSS&gt;.txt   </a:t>
            </a:r>
            <a:r>
              <a:rPr lang="en-US" sz="1050" dirty="0">
                <a:solidFill>
                  <a:srgbClr val="5A6B8C"/>
                </a:solidFill>
                <a:latin typeface="Calibri" pitchFamily="34" charset="0"/>
                <a:ea typeface="Calibri" pitchFamily="34" charset="-122"/>
                <a:cs typeface="Calibri" pitchFamily="34" charset="-120"/>
              </a:rPr>
              <a:t>fixed-length request file from active BPM cases</a:t>
            </a:r>
            <a:endParaRPr lang="en-US" sz="1050" dirty="0"/>
          </a:p>
        </p:txBody>
      </p:sp>
      <p:sp>
        <p:nvSpPr>
          <p:cNvPr id="7" name="Shape 5"/>
          <p:cNvSpPr/>
          <p:nvPr/>
        </p:nvSpPr>
        <p:spPr>
          <a:xfrm>
            <a:off x="3538728" y="2459736"/>
            <a:ext cx="0" cy="219456"/>
          </a:xfrm>
          <a:prstGeom prst="line">
            <a:avLst/>
          </a:prstGeom>
          <a:noFill/>
          <a:ln w="22225">
            <a:solidFill>
              <a:srgbClr val="FF6000"/>
            </a:solidFill>
            <a:prstDash val="solid"/>
            <a:tailEnd type="triangle"/>
          </a:ln>
        </p:spPr>
        <p:txBody>
          <a:bodyPr/>
          <a:lstStyle/>
          <a:p>
            <a:endParaRPr lang="en-US"/>
          </a:p>
        </p:txBody>
      </p:sp>
      <p:sp>
        <p:nvSpPr>
          <p:cNvPr id="8" name="Shape 6"/>
          <p:cNvSpPr/>
          <p:nvPr/>
        </p:nvSpPr>
        <p:spPr>
          <a:xfrm>
            <a:off x="548640" y="2679192"/>
            <a:ext cx="5989320" cy="841248"/>
          </a:xfrm>
          <a:prstGeom prst="roundRect">
            <a:avLst>
              <a:gd name="adj" fmla="val 9783"/>
            </a:avLst>
          </a:prstGeom>
          <a:solidFill>
            <a:srgbClr val="EEF2F9"/>
          </a:solidFill>
          <a:ln w="12700">
            <a:solidFill>
              <a:srgbClr val="EEF2F9"/>
            </a:solidFill>
            <a:prstDash val="solid"/>
          </a:ln>
        </p:spPr>
        <p:txBody>
          <a:bodyPr/>
          <a:lstStyle/>
          <a:p>
            <a:endParaRPr lang="en-US"/>
          </a:p>
        </p:txBody>
      </p:sp>
      <p:sp>
        <p:nvSpPr>
          <p:cNvPr id="9" name="Text 7"/>
          <p:cNvSpPr txBox="1"/>
          <p:nvPr/>
        </p:nvSpPr>
        <p:spPr>
          <a:xfrm>
            <a:off x="777240" y="2752344"/>
            <a:ext cx="5577840" cy="274320"/>
          </a:xfrm>
          <a:prstGeom prst="rect">
            <a:avLst/>
          </a:prstGeom>
          <a:noFill/>
          <a:ln/>
        </p:spPr>
        <p:txBody>
          <a:bodyPr wrap="square" lIns="0" tIns="0" rIns="0" bIns="0" rtlCol="0" anchor="ctr"/>
          <a:lstStyle/>
          <a:p>
            <a:pPr marL="0" indent="0">
              <a:buNone/>
            </a:pPr>
            <a:r>
              <a:rPr lang="en-US" sz="1200" b="1" dirty="0">
                <a:solidFill>
                  <a:srgbClr val="18243F"/>
                </a:solidFill>
                <a:latin typeface="Calibri" pitchFamily="34" charset="0"/>
                <a:ea typeface="Calibri" pitchFamily="34" charset="-122"/>
                <a:cs typeface="Calibri" pitchFamily="34" charset="-120"/>
              </a:rPr>
              <a:t>DFTP  (in-house enterprise file transfer)</a:t>
            </a:r>
            <a:endParaRPr lang="en-US" sz="1200" dirty="0"/>
          </a:p>
        </p:txBody>
      </p:sp>
      <p:sp>
        <p:nvSpPr>
          <p:cNvPr id="10" name="Text 8"/>
          <p:cNvSpPr txBox="1"/>
          <p:nvPr/>
        </p:nvSpPr>
        <p:spPr>
          <a:xfrm>
            <a:off x="777240" y="3044952"/>
            <a:ext cx="5577840" cy="384048"/>
          </a:xfrm>
          <a:prstGeom prst="rect">
            <a:avLst/>
          </a:prstGeom>
          <a:noFill/>
          <a:ln/>
        </p:spPr>
        <p:txBody>
          <a:bodyPr wrap="square" lIns="0" tIns="0" rIns="0" bIns="0" rtlCol="0" anchor="ctr"/>
          <a:lstStyle/>
          <a:p>
            <a:pPr marL="0" indent="0">
              <a:buNone/>
            </a:pPr>
            <a:r>
              <a:rPr lang="en-US" sz="1050" b="1" dirty="0">
                <a:solidFill>
                  <a:srgbClr val="FF6000"/>
                </a:solidFill>
                <a:latin typeface="Courier New" pitchFamily="34" charset="0"/>
                <a:ea typeface="Courier New" pitchFamily="34" charset="-122"/>
                <a:cs typeface="Courier New" pitchFamily="34" charset="-120"/>
              </a:rPr>
              <a:t>CHP0.DEPOSITS.FEDWIRE   </a:t>
            </a:r>
            <a:r>
              <a:rPr lang="en-US" sz="1050" dirty="0">
                <a:solidFill>
                  <a:srgbClr val="5A6B8C"/>
                </a:solidFill>
                <a:latin typeface="Calibri" pitchFamily="34" charset="0"/>
                <a:ea typeface="Calibri" pitchFamily="34" charset="-122"/>
                <a:cs typeface="Calibri" pitchFamily="34" charset="-120"/>
              </a:rPr>
              <a:t>renamed in flight</a:t>
            </a:r>
            <a:endParaRPr lang="en-US" sz="1050" dirty="0"/>
          </a:p>
        </p:txBody>
      </p:sp>
      <p:sp>
        <p:nvSpPr>
          <p:cNvPr id="11" name="Shape 9"/>
          <p:cNvSpPr/>
          <p:nvPr/>
        </p:nvSpPr>
        <p:spPr>
          <a:xfrm>
            <a:off x="3538728" y="3538728"/>
            <a:ext cx="0" cy="219456"/>
          </a:xfrm>
          <a:prstGeom prst="line">
            <a:avLst/>
          </a:prstGeom>
          <a:noFill/>
          <a:ln w="22225">
            <a:solidFill>
              <a:srgbClr val="FF6000"/>
            </a:solidFill>
            <a:prstDash val="solid"/>
            <a:tailEnd type="triangle"/>
          </a:ln>
        </p:spPr>
        <p:txBody>
          <a:bodyPr/>
          <a:lstStyle/>
          <a:p>
            <a:endParaRPr lang="en-US"/>
          </a:p>
        </p:txBody>
      </p:sp>
      <p:sp>
        <p:nvSpPr>
          <p:cNvPr id="12" name="Shape 10"/>
          <p:cNvSpPr/>
          <p:nvPr/>
        </p:nvSpPr>
        <p:spPr>
          <a:xfrm>
            <a:off x="548640" y="3758184"/>
            <a:ext cx="5989320" cy="841248"/>
          </a:xfrm>
          <a:prstGeom prst="roundRect">
            <a:avLst>
              <a:gd name="adj" fmla="val 9783"/>
            </a:avLst>
          </a:prstGeom>
          <a:solidFill>
            <a:srgbClr val="EEF2F9"/>
          </a:solidFill>
          <a:ln w="12700">
            <a:solidFill>
              <a:srgbClr val="EEF2F9"/>
            </a:solidFill>
            <a:prstDash val="solid"/>
          </a:ln>
        </p:spPr>
        <p:txBody>
          <a:bodyPr/>
          <a:lstStyle/>
          <a:p>
            <a:endParaRPr lang="en-US"/>
          </a:p>
        </p:txBody>
      </p:sp>
      <p:sp>
        <p:nvSpPr>
          <p:cNvPr id="13" name="Text 11"/>
          <p:cNvSpPr txBox="1"/>
          <p:nvPr/>
        </p:nvSpPr>
        <p:spPr>
          <a:xfrm>
            <a:off x="777240" y="3831336"/>
            <a:ext cx="5577840" cy="274320"/>
          </a:xfrm>
          <a:prstGeom prst="rect">
            <a:avLst/>
          </a:prstGeom>
          <a:noFill/>
          <a:ln/>
        </p:spPr>
        <p:txBody>
          <a:bodyPr wrap="square" lIns="0" tIns="0" rIns="0" bIns="0" rtlCol="0" anchor="ctr"/>
          <a:lstStyle/>
          <a:p>
            <a:pPr marL="0" indent="0">
              <a:buNone/>
            </a:pPr>
            <a:r>
              <a:rPr lang="en-US" sz="1200" b="1" dirty="0">
                <a:solidFill>
                  <a:srgbClr val="18243F"/>
                </a:solidFill>
                <a:latin typeface="Calibri" pitchFamily="34" charset="0"/>
                <a:ea typeface="Calibri" pitchFamily="34" charset="-122"/>
                <a:cs typeface="Calibri" pitchFamily="34" charset="-120"/>
              </a:rPr>
              <a:t>Pep+  (DFS mainframe hub)</a:t>
            </a:r>
            <a:endParaRPr lang="en-US" sz="1200" dirty="0"/>
          </a:p>
        </p:txBody>
      </p:sp>
      <p:sp>
        <p:nvSpPr>
          <p:cNvPr id="14" name="Text 12"/>
          <p:cNvSpPr txBox="1"/>
          <p:nvPr/>
        </p:nvSpPr>
        <p:spPr>
          <a:xfrm>
            <a:off x="777240" y="4123944"/>
            <a:ext cx="5577840" cy="384048"/>
          </a:xfrm>
          <a:prstGeom prst="rect">
            <a:avLst/>
          </a:prstGeom>
          <a:noFill/>
          <a:ln/>
        </p:spPr>
        <p:txBody>
          <a:bodyPr wrap="square" lIns="0" tIns="0" rIns="0" bIns="0" rtlCol="0" anchor="ctr"/>
          <a:lstStyle/>
          <a:p>
            <a:pPr marL="0" indent="0">
              <a:buNone/>
            </a:pPr>
            <a:r>
              <a:rPr lang="en-US" sz="1050" b="1" dirty="0">
                <a:solidFill>
                  <a:srgbClr val="FF6000"/>
                </a:solidFill>
                <a:latin typeface="Courier New" pitchFamily="34" charset="0"/>
                <a:ea typeface="Courier New" pitchFamily="34" charset="-122"/>
                <a:cs typeface="Courier New" pitchFamily="34" charset="-120"/>
              </a:rPr>
              <a:t>CHP0.ACHM320.SUNGARD.DEPOSITS   </a:t>
            </a:r>
            <a:r>
              <a:rPr lang="en-US" sz="1050" dirty="0">
                <a:solidFill>
                  <a:srgbClr val="5A6B8C"/>
                </a:solidFill>
                <a:latin typeface="Calibri" pitchFamily="34" charset="0"/>
                <a:ea typeface="Calibri" pitchFamily="34" charset="-122"/>
                <a:cs typeface="Calibri" pitchFamily="34" charset="-120"/>
              </a:rPr>
              <a:t>renamed again, staged for OPF</a:t>
            </a:r>
            <a:endParaRPr lang="en-US" sz="1050" dirty="0"/>
          </a:p>
        </p:txBody>
      </p:sp>
      <p:sp>
        <p:nvSpPr>
          <p:cNvPr id="15" name="Shape 13"/>
          <p:cNvSpPr/>
          <p:nvPr/>
        </p:nvSpPr>
        <p:spPr>
          <a:xfrm>
            <a:off x="3538728" y="4617720"/>
            <a:ext cx="0" cy="219456"/>
          </a:xfrm>
          <a:prstGeom prst="line">
            <a:avLst/>
          </a:prstGeom>
          <a:noFill/>
          <a:ln w="22225">
            <a:solidFill>
              <a:srgbClr val="FF6000"/>
            </a:solidFill>
            <a:prstDash val="solid"/>
            <a:tailEnd type="triangle"/>
          </a:ln>
        </p:spPr>
        <p:txBody>
          <a:bodyPr/>
          <a:lstStyle/>
          <a:p>
            <a:endParaRPr lang="en-US"/>
          </a:p>
        </p:txBody>
      </p:sp>
      <p:sp>
        <p:nvSpPr>
          <p:cNvPr id="16" name="Shape 14"/>
          <p:cNvSpPr/>
          <p:nvPr/>
        </p:nvSpPr>
        <p:spPr>
          <a:xfrm>
            <a:off x="548640" y="4837176"/>
            <a:ext cx="5989320" cy="841248"/>
          </a:xfrm>
          <a:prstGeom prst="roundRect">
            <a:avLst>
              <a:gd name="adj" fmla="val 9783"/>
            </a:avLst>
          </a:prstGeom>
          <a:solidFill>
            <a:srgbClr val="0F1E3D"/>
          </a:solidFill>
          <a:ln w="12700">
            <a:solidFill>
              <a:srgbClr val="0F1E3D"/>
            </a:solidFill>
            <a:prstDash val="solid"/>
          </a:ln>
        </p:spPr>
        <p:txBody>
          <a:bodyPr/>
          <a:lstStyle/>
          <a:p>
            <a:endParaRPr lang="en-US"/>
          </a:p>
        </p:txBody>
      </p:sp>
      <p:sp>
        <p:nvSpPr>
          <p:cNvPr id="17" name="Text 15"/>
          <p:cNvSpPr txBox="1"/>
          <p:nvPr/>
        </p:nvSpPr>
        <p:spPr>
          <a:xfrm>
            <a:off x="777240" y="4910328"/>
            <a:ext cx="5577840" cy="27432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DFTP → FIS OPF</a:t>
            </a:r>
            <a:endParaRPr lang="en-US" sz="1200" dirty="0"/>
          </a:p>
        </p:txBody>
      </p:sp>
      <p:sp>
        <p:nvSpPr>
          <p:cNvPr id="18" name="Text 16"/>
          <p:cNvSpPr txBox="1"/>
          <p:nvPr/>
        </p:nvSpPr>
        <p:spPr>
          <a:xfrm>
            <a:off x="777240" y="5202936"/>
            <a:ext cx="5577840" cy="384048"/>
          </a:xfrm>
          <a:prstGeom prst="rect">
            <a:avLst/>
          </a:prstGeom>
          <a:noFill/>
          <a:ln/>
        </p:spPr>
        <p:txBody>
          <a:bodyPr wrap="square" lIns="0" tIns="0" rIns="0" bIns="0" rtlCol="0" anchor="ctr"/>
          <a:lstStyle/>
          <a:p>
            <a:pPr marL="0" indent="0">
              <a:buNone/>
            </a:pPr>
            <a:r>
              <a:rPr lang="en-US" sz="1050" b="1" dirty="0">
                <a:solidFill>
                  <a:srgbClr val="FFB380"/>
                </a:solidFill>
                <a:latin typeface="Courier New" pitchFamily="34" charset="0"/>
                <a:ea typeface="Courier New" pitchFamily="34" charset="-122"/>
                <a:cs typeface="Courier New" pitchFamily="34" charset="-120"/>
              </a:rPr>
              <a:t>&lt;ENV&gt;_BPM_YYYYMMDD_HHMMSS.txt   </a:t>
            </a:r>
            <a:r>
              <a:rPr lang="en-US" sz="1050" dirty="0">
                <a:solidFill>
                  <a:srgbClr val="C9D9F5"/>
                </a:solidFill>
                <a:latin typeface="Calibri" pitchFamily="34" charset="0"/>
                <a:ea typeface="Calibri" pitchFamily="34" charset="-122"/>
                <a:cs typeface="Calibri" pitchFamily="34" charset="-120"/>
              </a:rPr>
              <a:t>OPF validates &amp; processes the batch</a:t>
            </a:r>
            <a:endParaRPr lang="en-US" sz="1050" dirty="0"/>
          </a:p>
        </p:txBody>
      </p:sp>
      <p:sp>
        <p:nvSpPr>
          <p:cNvPr id="19" name="Text 17"/>
          <p:cNvSpPr txBox="1"/>
          <p:nvPr/>
        </p:nvSpPr>
        <p:spPr>
          <a:xfrm>
            <a:off x="548640" y="5989320"/>
            <a:ext cx="6035040" cy="320040"/>
          </a:xfrm>
          <a:prstGeom prst="rect">
            <a:avLst/>
          </a:prstGeom>
          <a:noFill/>
          <a:ln/>
        </p:spPr>
        <p:txBody>
          <a:bodyPr wrap="square" lIns="0" tIns="0" rIns="0" bIns="0" rtlCol="0" anchor="ctr"/>
          <a:lstStyle/>
          <a:p>
            <a:pPr marL="0" indent="0">
              <a:buNone/>
            </a:pPr>
            <a:r>
              <a:rPr lang="en-US" sz="1100" i="1" dirty="0">
                <a:solidFill>
                  <a:srgbClr val="5A6B8C"/>
                </a:solidFill>
                <a:latin typeface="Calibri" pitchFamily="34" charset="0"/>
                <a:ea typeface="Calibri" pitchFamily="34" charset="-122"/>
                <a:cs typeface="Calibri" pitchFamily="34" charset="-120"/>
              </a:rPr>
              <a:t>Every file is tracked with .SENT markers; processed files are archived.</a:t>
            </a:r>
            <a:endParaRPr lang="en-US" sz="1100" dirty="0"/>
          </a:p>
        </p:txBody>
      </p:sp>
      <p:sp>
        <p:nvSpPr>
          <p:cNvPr id="20" name="Shape 18"/>
          <p:cNvSpPr/>
          <p:nvPr/>
        </p:nvSpPr>
        <p:spPr>
          <a:xfrm>
            <a:off x="6903720" y="1600200"/>
            <a:ext cx="4736592" cy="932688"/>
          </a:xfrm>
          <a:prstGeom prst="roundRect">
            <a:avLst>
              <a:gd name="adj" fmla="val 8824"/>
            </a:avLst>
          </a:prstGeom>
          <a:solidFill>
            <a:srgbClr val="FFFFFF"/>
          </a:solidFill>
          <a:ln w="12700">
            <a:solidFill>
              <a:srgbClr val="D8E1F0"/>
            </a:solidFill>
            <a:prstDash val="solid"/>
          </a:ln>
        </p:spPr>
        <p:txBody>
          <a:bodyPr/>
          <a:lstStyle/>
          <a:p>
            <a:endParaRPr lang="en-US"/>
          </a:p>
        </p:txBody>
      </p:sp>
      <p:sp>
        <p:nvSpPr>
          <p:cNvPr id="21" name="Text 19"/>
          <p:cNvSpPr txBox="1"/>
          <p:nvPr/>
        </p:nvSpPr>
        <p:spPr>
          <a:xfrm>
            <a:off x="7132320" y="1691640"/>
            <a:ext cx="2011680" cy="731520"/>
          </a:xfrm>
          <a:prstGeom prst="rect">
            <a:avLst/>
          </a:prstGeom>
          <a:noFill/>
          <a:ln/>
        </p:spPr>
        <p:txBody>
          <a:bodyPr wrap="square" lIns="0" tIns="0" rIns="0" bIns="0" rtlCol="0" anchor="ctr"/>
          <a:lstStyle/>
          <a:p>
            <a:pPr marL="0" indent="0">
              <a:buNone/>
            </a:pPr>
            <a:r>
              <a:rPr lang="en-US" sz="2100" b="1" dirty="0">
                <a:solidFill>
                  <a:srgbClr val="FF6000"/>
                </a:solidFill>
                <a:latin typeface="Calibri" pitchFamily="34" charset="0"/>
                <a:ea typeface="Calibri" pitchFamily="34" charset="-122"/>
                <a:cs typeface="Calibri" pitchFamily="34" charset="-120"/>
              </a:rPr>
              <a:t>8:45 AM</a:t>
            </a:r>
            <a:endParaRPr lang="en-US" sz="2100" dirty="0"/>
          </a:p>
        </p:txBody>
      </p:sp>
      <p:sp>
        <p:nvSpPr>
          <p:cNvPr id="22" name="Text 20"/>
          <p:cNvSpPr txBox="1"/>
          <p:nvPr/>
        </p:nvSpPr>
        <p:spPr>
          <a:xfrm>
            <a:off x="9189720" y="1691640"/>
            <a:ext cx="2331720" cy="749808"/>
          </a:xfrm>
          <a:prstGeom prst="rect">
            <a:avLst/>
          </a:prstGeom>
          <a:noFill/>
          <a:ln/>
        </p:spPr>
        <p:txBody>
          <a:bodyPr wrap="square" lIns="0" tIns="0" rIns="0" bIns="0" rtlCol="0" anchor="ctr"/>
          <a:lstStyle/>
          <a:p>
            <a:pPr marL="0" indent="0">
              <a:buNone/>
            </a:pPr>
            <a:r>
              <a:rPr lang="en-US" sz="1100" dirty="0">
                <a:solidFill>
                  <a:srgbClr val="18243F"/>
                </a:solidFill>
                <a:latin typeface="Calibri" pitchFamily="34" charset="0"/>
                <a:ea typeface="Calibri" pitchFamily="34" charset="-122"/>
                <a:cs typeface="Calibri" pitchFamily="34" charset="-120"/>
              </a:rPr>
              <a:t>first batch of the day (EST)</a:t>
            </a:r>
            <a:endParaRPr lang="en-US" sz="1100" dirty="0"/>
          </a:p>
        </p:txBody>
      </p:sp>
      <p:sp>
        <p:nvSpPr>
          <p:cNvPr id="23" name="Shape 21"/>
          <p:cNvSpPr/>
          <p:nvPr/>
        </p:nvSpPr>
        <p:spPr>
          <a:xfrm>
            <a:off x="6903720" y="2679192"/>
            <a:ext cx="4736592" cy="932688"/>
          </a:xfrm>
          <a:prstGeom prst="roundRect">
            <a:avLst>
              <a:gd name="adj" fmla="val 8824"/>
            </a:avLst>
          </a:prstGeom>
          <a:solidFill>
            <a:srgbClr val="FFFFFF"/>
          </a:solidFill>
          <a:ln w="12700">
            <a:solidFill>
              <a:srgbClr val="D8E1F0"/>
            </a:solidFill>
            <a:prstDash val="solid"/>
          </a:ln>
        </p:spPr>
        <p:txBody>
          <a:bodyPr/>
          <a:lstStyle/>
          <a:p>
            <a:endParaRPr lang="en-US"/>
          </a:p>
        </p:txBody>
      </p:sp>
      <p:sp>
        <p:nvSpPr>
          <p:cNvPr id="24" name="Text 22"/>
          <p:cNvSpPr txBox="1"/>
          <p:nvPr/>
        </p:nvSpPr>
        <p:spPr>
          <a:xfrm>
            <a:off x="7132320" y="2770632"/>
            <a:ext cx="2011680" cy="731520"/>
          </a:xfrm>
          <a:prstGeom prst="rect">
            <a:avLst/>
          </a:prstGeom>
          <a:noFill/>
          <a:ln/>
        </p:spPr>
        <p:txBody>
          <a:bodyPr wrap="square" lIns="0" tIns="0" rIns="0" bIns="0" rtlCol="0" anchor="ctr"/>
          <a:lstStyle/>
          <a:p>
            <a:pPr marL="0" indent="0">
              <a:buNone/>
            </a:pPr>
            <a:r>
              <a:rPr lang="en-US" sz="2100" b="1" dirty="0">
                <a:solidFill>
                  <a:srgbClr val="FF6000"/>
                </a:solidFill>
                <a:latin typeface="Calibri" pitchFamily="34" charset="0"/>
                <a:ea typeface="Calibri" pitchFamily="34" charset="-122"/>
                <a:cs typeface="Calibri" pitchFamily="34" charset="-120"/>
              </a:rPr>
              <a:t>30 → 15 min</a:t>
            </a:r>
            <a:endParaRPr lang="en-US" sz="2100" dirty="0"/>
          </a:p>
        </p:txBody>
      </p:sp>
      <p:sp>
        <p:nvSpPr>
          <p:cNvPr id="25" name="Text 23"/>
          <p:cNvSpPr txBox="1"/>
          <p:nvPr/>
        </p:nvSpPr>
        <p:spPr>
          <a:xfrm>
            <a:off x="9189720" y="2770632"/>
            <a:ext cx="2331720" cy="749808"/>
          </a:xfrm>
          <a:prstGeom prst="rect">
            <a:avLst/>
          </a:prstGeom>
          <a:noFill/>
          <a:ln/>
        </p:spPr>
        <p:txBody>
          <a:bodyPr wrap="square" lIns="0" tIns="0" rIns="0" bIns="0" rtlCol="0" anchor="ctr"/>
          <a:lstStyle/>
          <a:p>
            <a:pPr marL="0" indent="0">
              <a:buNone/>
            </a:pPr>
            <a:r>
              <a:rPr lang="en-US" sz="1100" dirty="0">
                <a:solidFill>
                  <a:srgbClr val="18243F"/>
                </a:solidFill>
                <a:latin typeface="Calibri" pitchFamily="34" charset="0"/>
                <a:ea typeface="Calibri" pitchFamily="34" charset="-122"/>
                <a:cs typeface="Calibri" pitchFamily="34" charset="-120"/>
              </a:rPr>
              <a:t>cadence: mornings every 30 min, afternoons every 15 from 1 PM</a:t>
            </a:r>
            <a:endParaRPr lang="en-US" sz="1100" dirty="0"/>
          </a:p>
        </p:txBody>
      </p:sp>
      <p:sp>
        <p:nvSpPr>
          <p:cNvPr id="26" name="Shape 24"/>
          <p:cNvSpPr/>
          <p:nvPr/>
        </p:nvSpPr>
        <p:spPr>
          <a:xfrm>
            <a:off x="6903720" y="3758184"/>
            <a:ext cx="4736592" cy="932688"/>
          </a:xfrm>
          <a:prstGeom prst="roundRect">
            <a:avLst>
              <a:gd name="adj" fmla="val 8824"/>
            </a:avLst>
          </a:prstGeom>
          <a:solidFill>
            <a:srgbClr val="FFFFFF"/>
          </a:solidFill>
          <a:ln w="12700">
            <a:solidFill>
              <a:srgbClr val="D8E1F0"/>
            </a:solidFill>
            <a:prstDash val="solid"/>
          </a:ln>
        </p:spPr>
        <p:txBody>
          <a:bodyPr/>
          <a:lstStyle/>
          <a:p>
            <a:endParaRPr lang="en-US"/>
          </a:p>
        </p:txBody>
      </p:sp>
      <p:sp>
        <p:nvSpPr>
          <p:cNvPr id="27" name="Text 25"/>
          <p:cNvSpPr txBox="1"/>
          <p:nvPr/>
        </p:nvSpPr>
        <p:spPr>
          <a:xfrm>
            <a:off x="7132320" y="3849624"/>
            <a:ext cx="2011680" cy="731520"/>
          </a:xfrm>
          <a:prstGeom prst="rect">
            <a:avLst/>
          </a:prstGeom>
          <a:noFill/>
          <a:ln/>
        </p:spPr>
        <p:txBody>
          <a:bodyPr wrap="square" lIns="0" tIns="0" rIns="0" bIns="0" rtlCol="0" anchor="ctr"/>
          <a:lstStyle/>
          <a:p>
            <a:pPr marL="0" indent="0">
              <a:buNone/>
            </a:pPr>
            <a:r>
              <a:rPr lang="en-US" sz="2100" b="1" dirty="0">
                <a:solidFill>
                  <a:srgbClr val="FF6000"/>
                </a:solidFill>
                <a:latin typeface="Calibri" pitchFamily="34" charset="0"/>
                <a:ea typeface="Calibri" pitchFamily="34" charset="-122"/>
                <a:cs typeface="Calibri" pitchFamily="34" charset="-120"/>
              </a:rPr>
              <a:t>4:30 PM</a:t>
            </a:r>
            <a:endParaRPr lang="en-US" sz="2100" dirty="0"/>
          </a:p>
        </p:txBody>
      </p:sp>
      <p:sp>
        <p:nvSpPr>
          <p:cNvPr id="28" name="Text 26"/>
          <p:cNvSpPr txBox="1"/>
          <p:nvPr/>
        </p:nvSpPr>
        <p:spPr>
          <a:xfrm>
            <a:off x="9189720" y="3849624"/>
            <a:ext cx="2331720" cy="749808"/>
          </a:xfrm>
          <a:prstGeom prst="rect">
            <a:avLst/>
          </a:prstGeom>
          <a:noFill/>
          <a:ln/>
        </p:spPr>
        <p:txBody>
          <a:bodyPr wrap="square" lIns="0" tIns="0" rIns="0" bIns="0" rtlCol="0" anchor="ctr"/>
          <a:lstStyle/>
          <a:p>
            <a:pPr marL="0" indent="0">
              <a:buNone/>
            </a:pPr>
            <a:r>
              <a:rPr lang="en-US" sz="1100" dirty="0">
                <a:solidFill>
                  <a:srgbClr val="18243F"/>
                </a:solidFill>
                <a:latin typeface="Calibri" pitchFamily="34" charset="0"/>
                <a:ea typeface="Calibri" pitchFamily="34" charset="-122"/>
                <a:cs typeface="Calibri" pitchFamily="34" charset="-120"/>
              </a:rPr>
              <a:t>cut-off for verbal authorization</a:t>
            </a:r>
            <a:endParaRPr lang="en-US" sz="1100" dirty="0"/>
          </a:p>
        </p:txBody>
      </p:sp>
      <p:sp>
        <p:nvSpPr>
          <p:cNvPr id="29" name="Shape 27"/>
          <p:cNvSpPr/>
          <p:nvPr/>
        </p:nvSpPr>
        <p:spPr>
          <a:xfrm>
            <a:off x="6903720" y="4837176"/>
            <a:ext cx="4736592" cy="932688"/>
          </a:xfrm>
          <a:prstGeom prst="roundRect">
            <a:avLst>
              <a:gd name="adj" fmla="val 8824"/>
            </a:avLst>
          </a:prstGeom>
          <a:solidFill>
            <a:srgbClr val="FFFFFF"/>
          </a:solidFill>
          <a:ln w="12700">
            <a:solidFill>
              <a:srgbClr val="D8E1F0"/>
            </a:solidFill>
            <a:prstDash val="solid"/>
          </a:ln>
        </p:spPr>
        <p:txBody>
          <a:bodyPr/>
          <a:lstStyle/>
          <a:p>
            <a:endParaRPr lang="en-US"/>
          </a:p>
        </p:txBody>
      </p:sp>
      <p:sp>
        <p:nvSpPr>
          <p:cNvPr id="30" name="Text 28"/>
          <p:cNvSpPr txBox="1"/>
          <p:nvPr/>
        </p:nvSpPr>
        <p:spPr>
          <a:xfrm>
            <a:off x="7132320" y="4928616"/>
            <a:ext cx="2011680" cy="731520"/>
          </a:xfrm>
          <a:prstGeom prst="rect">
            <a:avLst/>
          </a:prstGeom>
          <a:noFill/>
          <a:ln/>
        </p:spPr>
        <p:txBody>
          <a:bodyPr wrap="square" lIns="0" tIns="0" rIns="0" bIns="0" rtlCol="0" anchor="ctr"/>
          <a:lstStyle/>
          <a:p>
            <a:pPr marL="0" indent="0">
              <a:buNone/>
            </a:pPr>
            <a:r>
              <a:rPr lang="en-US" sz="2100" b="1" dirty="0">
                <a:solidFill>
                  <a:srgbClr val="FF6000"/>
                </a:solidFill>
                <a:latin typeface="Calibri" pitchFamily="34" charset="0"/>
                <a:ea typeface="Calibri" pitchFamily="34" charset="-122"/>
                <a:cs typeface="Calibri" pitchFamily="34" charset="-120"/>
              </a:rPr>
              <a:t>5:15 PM</a:t>
            </a:r>
            <a:endParaRPr lang="en-US" sz="2100" dirty="0"/>
          </a:p>
        </p:txBody>
      </p:sp>
      <p:sp>
        <p:nvSpPr>
          <p:cNvPr id="31" name="Text 29"/>
          <p:cNvSpPr txBox="1"/>
          <p:nvPr/>
        </p:nvSpPr>
        <p:spPr>
          <a:xfrm>
            <a:off x="9189720" y="4928616"/>
            <a:ext cx="2331720" cy="749808"/>
          </a:xfrm>
          <a:prstGeom prst="rect">
            <a:avLst/>
          </a:prstGeom>
          <a:noFill/>
          <a:ln/>
        </p:spPr>
        <p:txBody>
          <a:bodyPr wrap="square" lIns="0" tIns="0" rIns="0" bIns="0" rtlCol="0" anchor="ctr"/>
          <a:lstStyle/>
          <a:p>
            <a:pPr marL="0" indent="0">
              <a:buNone/>
            </a:pPr>
            <a:r>
              <a:rPr lang="en-US" sz="1100" dirty="0">
                <a:solidFill>
                  <a:srgbClr val="18243F"/>
                </a:solidFill>
                <a:latin typeface="Calibri" pitchFamily="34" charset="0"/>
                <a:ea typeface="Calibri" pitchFamily="34" charset="-122"/>
                <a:cs typeface="Calibri" pitchFamily="34" charset="-120"/>
              </a:rPr>
              <a:t>last batch — received &amp; verified by 3 PM = same-day wire</a:t>
            </a:r>
            <a:endParaRPr lang="en-US" sz="1100" dirty="0"/>
          </a:p>
        </p:txBody>
      </p:sp>
      <p:sp>
        <p:nvSpPr>
          <p:cNvPr id="32" name="Text 30"/>
          <p:cNvSpPr txBox="1"/>
          <p:nvPr/>
        </p:nvSpPr>
        <p:spPr>
          <a:xfrm>
            <a:off x="6903720" y="5989320"/>
            <a:ext cx="4754880" cy="320040"/>
          </a:xfrm>
          <a:prstGeom prst="rect">
            <a:avLst/>
          </a:prstGeom>
          <a:noFill/>
          <a:ln/>
        </p:spPr>
        <p:txBody>
          <a:bodyPr wrap="square" lIns="0" tIns="0" rIns="0" bIns="0" rtlCol="0" anchor="ctr"/>
          <a:lstStyle/>
          <a:p>
            <a:pPr marL="0" indent="0">
              <a:buNone/>
            </a:pPr>
            <a:r>
              <a:rPr lang="en-US" sz="1100" i="1" dirty="0">
                <a:solidFill>
                  <a:srgbClr val="5A6B8C"/>
                </a:solidFill>
                <a:latin typeface="Calibri" pitchFamily="34" charset="0"/>
                <a:ea typeface="Calibri" pitchFamily="34" charset="-122"/>
                <a:cs typeface="Calibri" pitchFamily="34" charset="-120"/>
              </a:rPr>
              <a:t>AutoSys runs it all: request jobs, response jobs, and 5-minute file watchers.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1064240" cy="640080"/>
          </a:xfrm>
          <a:prstGeom prst="rect">
            <a:avLst/>
          </a:prstGeom>
          <a:noFill/>
          <a:ln/>
        </p:spPr>
        <p:txBody>
          <a:bodyPr wrap="square" lIns="0" tIns="0" rIns="0" bIns="0" rtlCol="0" anchor="ctr"/>
          <a:lstStyle/>
          <a:p>
            <a:pPr marL="0" indent="0">
              <a:buNone/>
            </a:pPr>
            <a:r>
              <a:rPr lang="en-US" sz="3000" b="1" dirty="0">
                <a:solidFill>
                  <a:srgbClr val="18243F"/>
                </a:solidFill>
                <a:latin typeface="Calibri" pitchFamily="34" charset="0"/>
                <a:ea typeface="Calibri" pitchFamily="34" charset="-122"/>
                <a:cs typeface="Calibri" pitchFamily="34" charset="-120"/>
              </a:rPr>
              <a:t>Closing the loop: ACK &amp; NACK</a:t>
            </a:r>
            <a:endParaRPr lang="en-US" sz="30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400" dirty="0">
                <a:solidFill>
                  <a:srgbClr val="5A6B8C"/>
                </a:solidFill>
                <a:latin typeface="Calibri" pitchFamily="34" charset="0"/>
                <a:ea typeface="Calibri" pitchFamily="34" charset="-122"/>
                <a:cs typeface="Calibri" pitchFamily="34" charset="-120"/>
              </a:rPr>
              <a:t>How wire statuses get back into BPM without a human touching them</a:t>
            </a:r>
            <a:endParaRPr lang="en-US" sz="1400" dirty="0"/>
          </a:p>
        </p:txBody>
      </p:sp>
      <p:sp>
        <p:nvSpPr>
          <p:cNvPr id="4" name="Text 2"/>
          <p:cNvSpPr txBox="1"/>
          <p:nvPr/>
        </p:nvSpPr>
        <p:spPr>
          <a:xfrm>
            <a:off x="685800" y="1371600"/>
            <a:ext cx="1691640" cy="868680"/>
          </a:xfrm>
          <a:prstGeom prst="roundRect">
            <a:avLst>
              <a:gd name="adj" fmla="val 9474"/>
            </a:avLst>
          </a:prstGeom>
          <a:solidFill>
            <a:srgbClr val="EEF2F9"/>
          </a:solidFill>
          <a:ln>
            <a:solidFill>
              <a:srgbClr val="EEF2F9"/>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OPF drops</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response files</a:t>
            </a:r>
            <a:endParaRPr lang="en-US" sz="1150" dirty="0"/>
          </a:p>
        </p:txBody>
      </p:sp>
      <p:sp>
        <p:nvSpPr>
          <p:cNvPr id="5" name="Shape 3"/>
          <p:cNvSpPr/>
          <p:nvPr/>
        </p:nvSpPr>
        <p:spPr>
          <a:xfrm>
            <a:off x="2423160" y="1805940"/>
            <a:ext cx="292608" cy="0"/>
          </a:xfrm>
          <a:prstGeom prst="line">
            <a:avLst/>
          </a:prstGeom>
          <a:noFill/>
          <a:ln w="22225">
            <a:solidFill>
              <a:srgbClr val="FF6000"/>
            </a:solidFill>
            <a:prstDash val="solid"/>
            <a:tailEnd type="triangle"/>
          </a:ln>
        </p:spPr>
        <p:txBody>
          <a:bodyPr/>
          <a:lstStyle/>
          <a:p>
            <a:endParaRPr lang="en-US"/>
          </a:p>
        </p:txBody>
      </p:sp>
      <p:sp>
        <p:nvSpPr>
          <p:cNvPr id="6" name="Text 4"/>
          <p:cNvSpPr txBox="1"/>
          <p:nvPr/>
        </p:nvSpPr>
        <p:spPr>
          <a:xfrm>
            <a:off x="2761488" y="1371600"/>
            <a:ext cx="1783080" cy="868680"/>
          </a:xfrm>
          <a:prstGeom prst="roundRect">
            <a:avLst>
              <a:gd name="adj" fmla="val 9474"/>
            </a:avLst>
          </a:prstGeom>
          <a:solidFill>
            <a:srgbClr val="EEF2F9"/>
          </a:solidFill>
          <a:ln>
            <a:solidFill>
              <a:srgbClr val="EEF2F9"/>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AutoSys watcher</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(every 5 min)</a:t>
            </a:r>
            <a:endParaRPr lang="en-US" sz="1150" dirty="0"/>
          </a:p>
        </p:txBody>
      </p:sp>
      <p:sp>
        <p:nvSpPr>
          <p:cNvPr id="7" name="Shape 5"/>
          <p:cNvSpPr/>
          <p:nvPr/>
        </p:nvSpPr>
        <p:spPr>
          <a:xfrm>
            <a:off x="4590288" y="1805940"/>
            <a:ext cx="292608" cy="0"/>
          </a:xfrm>
          <a:prstGeom prst="line">
            <a:avLst/>
          </a:prstGeom>
          <a:noFill/>
          <a:ln w="22225">
            <a:solidFill>
              <a:srgbClr val="FF6000"/>
            </a:solidFill>
            <a:prstDash val="solid"/>
            <a:tailEnd type="triangle"/>
          </a:ln>
        </p:spPr>
        <p:txBody>
          <a:bodyPr/>
          <a:lstStyle/>
          <a:p>
            <a:endParaRPr lang="en-US"/>
          </a:p>
        </p:txBody>
      </p:sp>
      <p:sp>
        <p:nvSpPr>
          <p:cNvPr id="8" name="Text 6"/>
          <p:cNvSpPr txBox="1"/>
          <p:nvPr/>
        </p:nvSpPr>
        <p:spPr>
          <a:xfrm>
            <a:off x="4928616" y="1371600"/>
            <a:ext cx="1737360" cy="868680"/>
          </a:xfrm>
          <a:prstGeom prst="roundRect">
            <a:avLst>
              <a:gd name="adj" fmla="val 9474"/>
            </a:avLst>
          </a:prstGeom>
          <a:solidFill>
            <a:srgbClr val="EEF2F9"/>
          </a:solidFill>
          <a:ln>
            <a:solidFill>
              <a:srgbClr val="EEF2F9"/>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agWireResponse</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Batch.sh</a:t>
            </a:r>
            <a:endParaRPr lang="en-US" sz="1150" dirty="0"/>
          </a:p>
        </p:txBody>
      </p:sp>
      <p:sp>
        <p:nvSpPr>
          <p:cNvPr id="9" name="Shape 7"/>
          <p:cNvSpPr/>
          <p:nvPr/>
        </p:nvSpPr>
        <p:spPr>
          <a:xfrm>
            <a:off x="6711696" y="1805940"/>
            <a:ext cx="292608" cy="0"/>
          </a:xfrm>
          <a:prstGeom prst="line">
            <a:avLst/>
          </a:prstGeom>
          <a:noFill/>
          <a:ln w="22225">
            <a:solidFill>
              <a:srgbClr val="FF6000"/>
            </a:solidFill>
            <a:prstDash val="solid"/>
            <a:tailEnd type="triangle"/>
          </a:ln>
        </p:spPr>
        <p:txBody>
          <a:bodyPr/>
          <a:lstStyle/>
          <a:p>
            <a:endParaRPr lang="en-US"/>
          </a:p>
        </p:txBody>
      </p:sp>
      <p:sp>
        <p:nvSpPr>
          <p:cNvPr id="10" name="Text 8"/>
          <p:cNvSpPr txBox="1"/>
          <p:nvPr/>
        </p:nvSpPr>
        <p:spPr>
          <a:xfrm>
            <a:off x="7050024" y="1371600"/>
            <a:ext cx="1783080" cy="868680"/>
          </a:xfrm>
          <a:prstGeom prst="roundRect">
            <a:avLst>
              <a:gd name="adj" fmla="val 9474"/>
            </a:avLst>
          </a:prstGeom>
          <a:solidFill>
            <a:srgbClr val="EEF2F9"/>
          </a:solidFill>
          <a:ln>
            <a:solidFill>
              <a:srgbClr val="EEF2F9"/>
            </a:solidFill>
          </a:ln>
        </p:spPr>
        <p:txBody>
          <a:bodyPr wrap="square" lIns="25400" tIns="25400" rIns="25400" bIns="25400" rtlCol="0" anchor="ctr">
            <a:normAutofit/>
          </a:bodyPr>
          <a:lstStyle/>
          <a:p>
            <a:pPr marL="0" indent="0" algn="ctr">
              <a:buNone/>
            </a:pPr>
            <a:r>
              <a:rPr lang="en-US" sz="1150" b="1" dirty="0">
                <a:solidFill>
                  <a:srgbClr val="18243F"/>
                </a:solidFill>
                <a:latin typeface="Calibri" pitchFamily="34" charset="0"/>
                <a:ea typeface="Calibri" pitchFamily="34" charset="-122"/>
                <a:cs typeface="Calibri" pitchFamily="34" charset="-120"/>
              </a:rPr>
              <a:t>opfResponseJob</a:t>
            </a:r>
            <a:endParaRPr lang="en-US" sz="1150" dirty="0"/>
          </a:p>
          <a:p>
            <a:pPr marL="0" indent="0" algn="ctr">
              <a:buNone/>
            </a:pPr>
            <a:r>
              <a:rPr lang="en-US" sz="1150" b="1" dirty="0">
                <a:solidFill>
                  <a:srgbClr val="18243F"/>
                </a:solidFill>
                <a:latin typeface="Calibri" pitchFamily="34" charset="0"/>
                <a:ea typeface="Calibri" pitchFamily="34" charset="-122"/>
                <a:cs typeface="Calibri" pitchFamily="34" charset="-120"/>
              </a:rPr>
              <a:t>(Spring Batch)</a:t>
            </a:r>
            <a:endParaRPr lang="en-US" sz="1150" dirty="0"/>
          </a:p>
        </p:txBody>
      </p:sp>
      <p:sp>
        <p:nvSpPr>
          <p:cNvPr id="11" name="Shape 9"/>
          <p:cNvSpPr/>
          <p:nvPr/>
        </p:nvSpPr>
        <p:spPr>
          <a:xfrm>
            <a:off x="8878824" y="1805940"/>
            <a:ext cx="292608" cy="0"/>
          </a:xfrm>
          <a:prstGeom prst="line">
            <a:avLst/>
          </a:prstGeom>
          <a:noFill/>
          <a:ln w="22225">
            <a:solidFill>
              <a:srgbClr val="FF6000"/>
            </a:solidFill>
            <a:prstDash val="solid"/>
            <a:tailEnd type="triangle"/>
          </a:ln>
        </p:spPr>
        <p:txBody>
          <a:bodyPr/>
          <a:lstStyle/>
          <a:p>
            <a:endParaRPr lang="en-US"/>
          </a:p>
        </p:txBody>
      </p:sp>
      <p:sp>
        <p:nvSpPr>
          <p:cNvPr id="12" name="Text 10"/>
          <p:cNvSpPr txBox="1"/>
          <p:nvPr/>
        </p:nvSpPr>
        <p:spPr>
          <a:xfrm>
            <a:off x="9217152" y="1371600"/>
            <a:ext cx="1783080" cy="868680"/>
          </a:xfrm>
          <a:prstGeom prst="roundRect">
            <a:avLst>
              <a:gd name="adj" fmla="val 9474"/>
            </a:avLst>
          </a:prstGeom>
          <a:solidFill>
            <a:srgbClr val="0F1E3D"/>
          </a:solidFill>
          <a:ln>
            <a:solidFill>
              <a:srgbClr val="0F1E3D"/>
            </a:solidFill>
          </a:ln>
        </p:spPr>
        <p:txBody>
          <a:bodyPr wrap="square" lIns="25400" tIns="25400" rIns="25400" bIns="25400" rtlCol="0" anchor="ctr">
            <a:normAutofit/>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BPM case</a:t>
            </a:r>
            <a:endParaRPr lang="en-US" sz="1150" dirty="0"/>
          </a:p>
          <a:p>
            <a:pPr marL="0" indent="0" algn="ctr">
              <a:buNone/>
            </a:pPr>
            <a:r>
              <a:rPr lang="en-US" sz="1150" b="1" dirty="0">
                <a:solidFill>
                  <a:srgbClr val="FFFFFF"/>
                </a:solidFill>
                <a:latin typeface="Calibri" pitchFamily="34" charset="0"/>
                <a:ea typeface="Calibri" pitchFamily="34" charset="-122"/>
                <a:cs typeface="Calibri" pitchFamily="34" charset="-120"/>
              </a:rPr>
              <a:t>updated via REST</a:t>
            </a:r>
            <a:endParaRPr lang="en-US" sz="1150" dirty="0"/>
          </a:p>
        </p:txBody>
      </p:sp>
      <p:sp>
        <p:nvSpPr>
          <p:cNvPr id="13" name="Shape 11"/>
          <p:cNvSpPr/>
          <p:nvPr/>
        </p:nvSpPr>
        <p:spPr>
          <a:xfrm>
            <a:off x="548640" y="2606040"/>
            <a:ext cx="5440680" cy="2880360"/>
          </a:xfrm>
          <a:prstGeom prst="roundRect">
            <a:avLst>
              <a:gd name="adj" fmla="val 3810"/>
            </a:avLst>
          </a:prstGeom>
          <a:solidFill>
            <a:srgbClr val="E2F3EA"/>
          </a:solidFill>
          <a:ln w="12700">
            <a:solidFill>
              <a:srgbClr val="E2F3EA"/>
            </a:solidFill>
            <a:prstDash val="solid"/>
          </a:ln>
        </p:spPr>
        <p:txBody>
          <a:bodyPr/>
          <a:lstStyle/>
          <a:p>
            <a:endParaRPr lang="en-US"/>
          </a:p>
        </p:txBody>
      </p:sp>
      <p:pic>
        <p:nvPicPr>
          <p:cNvPr id="14" name="Image 0" descr="C:\Users\vasan\AppData\Local\Temp\claude\D--unfold-git-work-fisOPF\bdc8cb48-9752-4a6c-a524-d1dfc31f95fd\scratchpad/icons/check_1E8E5A.png"/>
          <p:cNvPicPr>
            <a:picLocks noChangeAspect="1"/>
          </p:cNvPicPr>
          <p:nvPr/>
        </p:nvPicPr>
        <p:blipFill>
          <a:blip r:embed="rId3"/>
          <a:stretch>
            <a:fillRect/>
          </a:stretch>
        </p:blipFill>
        <p:spPr>
          <a:xfrm>
            <a:off x="868680" y="2834640"/>
            <a:ext cx="384048" cy="384048"/>
          </a:xfrm>
          <a:prstGeom prst="rect">
            <a:avLst/>
          </a:prstGeom>
        </p:spPr>
      </p:pic>
      <p:sp>
        <p:nvSpPr>
          <p:cNvPr id="15" name="Text 12"/>
          <p:cNvSpPr txBox="1"/>
          <p:nvPr/>
        </p:nvSpPr>
        <p:spPr>
          <a:xfrm>
            <a:off x="1371600" y="2834640"/>
            <a:ext cx="4389120" cy="411480"/>
          </a:xfrm>
          <a:prstGeom prst="rect">
            <a:avLst/>
          </a:prstGeom>
          <a:noFill/>
          <a:ln/>
        </p:spPr>
        <p:txBody>
          <a:bodyPr wrap="square" lIns="0" tIns="0" rIns="0" bIns="0" rtlCol="0" anchor="ctr"/>
          <a:lstStyle/>
          <a:p>
            <a:pPr marL="0" indent="0">
              <a:buNone/>
            </a:pPr>
            <a:r>
              <a:rPr lang="en-US" sz="1700" b="1" dirty="0">
                <a:solidFill>
                  <a:srgbClr val="1E8E5A"/>
                </a:solidFill>
                <a:latin typeface="Calibri" pitchFamily="34" charset="0"/>
                <a:ea typeface="Calibri" pitchFamily="34" charset="-122"/>
                <a:cs typeface="Calibri" pitchFamily="34" charset="-120"/>
              </a:rPr>
              <a:t>ACK — batch accepted</a:t>
            </a:r>
            <a:endParaRPr lang="en-US" sz="1700" dirty="0"/>
          </a:p>
        </p:txBody>
      </p:sp>
      <p:sp>
        <p:nvSpPr>
          <p:cNvPr id="16" name="Text 13"/>
          <p:cNvSpPr txBox="1"/>
          <p:nvPr/>
        </p:nvSpPr>
        <p:spPr>
          <a:xfrm>
            <a:off x="896112" y="3337560"/>
            <a:ext cx="4846320" cy="201168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18243F"/>
                </a:solidFill>
                <a:latin typeface="Calibri" pitchFamily="34" charset="0"/>
                <a:ea typeface="Calibri" pitchFamily="34" charset="-122"/>
                <a:cs typeface="Calibri" pitchFamily="34" charset="-120"/>
              </a:rPr>
              <a:t>ACK*.txt arrives with one XML per wire</a:t>
            </a:r>
            <a:endParaRPr lang="en-US" sz="1200" dirty="0"/>
          </a:p>
          <a:p>
            <a:pPr marL="342900" indent="-342900">
              <a:spcAft>
                <a:spcPts val="600"/>
              </a:spcAft>
              <a:buSzPct val="100000"/>
              <a:buChar char="•"/>
            </a:pPr>
            <a:r>
              <a:rPr lang="en-US" sz="1200" dirty="0">
                <a:solidFill>
                  <a:srgbClr val="18243F"/>
                </a:solidFill>
                <a:latin typeface="Calibri" pitchFamily="34" charset="0"/>
                <a:ea typeface="Calibri" pitchFamily="34" charset="-122"/>
                <a:cs typeface="Calibri" pitchFamily="34" charset="-120"/>
              </a:rPr>
              <a:t>AckStep reads the expected transaction count</a:t>
            </a:r>
            <a:endParaRPr lang="en-US" sz="1200" dirty="0"/>
          </a:p>
          <a:p>
            <a:pPr marL="342900" indent="-342900">
              <a:spcAft>
                <a:spcPts val="600"/>
              </a:spcAft>
              <a:buSzPct val="100000"/>
              <a:buChar char="•"/>
            </a:pPr>
            <a:r>
              <a:rPr lang="en-US" sz="1200" dirty="0">
                <a:solidFill>
                  <a:srgbClr val="18243F"/>
                </a:solidFill>
                <a:latin typeface="Calibri" pitchFamily="34" charset="0"/>
                <a:ea typeface="Calibri" pitchFamily="34" charset="-122"/>
                <a:cs typeface="Calibri" pitchFamily="34" charset="-120"/>
              </a:rPr>
              <a:t>WatchPSRFileStep waits until every XML lands</a:t>
            </a:r>
            <a:endParaRPr lang="en-US" sz="1200" dirty="0"/>
          </a:p>
          <a:p>
            <a:pPr marL="342900" indent="-342900">
              <a:spcAft>
                <a:spcPts val="600"/>
              </a:spcAft>
              <a:buSzPct val="100000"/>
              <a:buChar char="•"/>
            </a:pPr>
            <a:r>
              <a:rPr lang="en-US" sz="1200" dirty="0">
                <a:solidFill>
                  <a:srgbClr val="18243F"/>
                </a:solidFill>
                <a:latin typeface="Calibri" pitchFamily="34" charset="0"/>
                <a:ea typeface="Calibri" pitchFamily="34" charset="-122"/>
                <a:cs typeface="Calibri" pitchFamily="34" charset="-120"/>
              </a:rPr>
              <a:t>xmlProcessStep parses each case and posts its status to BPM via REST</a:t>
            </a:r>
            <a:endParaRPr lang="en-US" sz="1200" dirty="0"/>
          </a:p>
          <a:p>
            <a:pPr marL="342900" indent="-342900">
              <a:spcAft>
                <a:spcPts val="600"/>
              </a:spcAft>
              <a:buSzPct val="100000"/>
              <a:buChar char="•"/>
            </a:pPr>
            <a:r>
              <a:rPr lang="en-US" sz="1200" dirty="0">
                <a:solidFill>
                  <a:srgbClr val="18243F"/>
                </a:solidFill>
                <a:latin typeface="Calibri" pitchFamily="34" charset="0"/>
                <a:ea typeface="Calibri" pitchFamily="34" charset="-122"/>
                <a:cs typeface="Calibri" pitchFamily="34" charset="-120"/>
              </a:rPr>
              <a:t>Files archived; case moves to confirmation &amp; close</a:t>
            </a:r>
            <a:endParaRPr lang="en-US" sz="1200" dirty="0"/>
          </a:p>
        </p:txBody>
      </p:sp>
      <p:sp>
        <p:nvSpPr>
          <p:cNvPr id="17" name="Shape 14"/>
          <p:cNvSpPr/>
          <p:nvPr/>
        </p:nvSpPr>
        <p:spPr>
          <a:xfrm>
            <a:off x="6199632" y="2606040"/>
            <a:ext cx="5440680" cy="2880360"/>
          </a:xfrm>
          <a:prstGeom prst="roundRect">
            <a:avLst>
              <a:gd name="adj" fmla="val 3810"/>
            </a:avLst>
          </a:prstGeom>
          <a:solidFill>
            <a:srgbClr val="FBE9E7"/>
          </a:solidFill>
          <a:ln w="12700">
            <a:solidFill>
              <a:srgbClr val="FBE9E7"/>
            </a:solidFill>
            <a:prstDash val="solid"/>
          </a:ln>
        </p:spPr>
        <p:txBody>
          <a:bodyPr/>
          <a:lstStyle/>
          <a:p>
            <a:endParaRPr lang="en-US"/>
          </a:p>
        </p:txBody>
      </p:sp>
      <p:pic>
        <p:nvPicPr>
          <p:cNvPr id="18" name="Image 1" descr="C:\Users\vasan\AppData\Local\Temp\claude\D--unfold-git-work-fisOPF\bdc8cb48-9752-4a6c-a524-d1dfc31f95fd\scratchpad/icons/times_C0392B.png"/>
          <p:cNvPicPr>
            <a:picLocks noChangeAspect="1"/>
          </p:cNvPicPr>
          <p:nvPr/>
        </p:nvPicPr>
        <p:blipFill>
          <a:blip r:embed="rId4"/>
          <a:stretch>
            <a:fillRect/>
          </a:stretch>
        </p:blipFill>
        <p:spPr>
          <a:xfrm>
            <a:off x="6519672" y="2834640"/>
            <a:ext cx="384048" cy="384048"/>
          </a:xfrm>
          <a:prstGeom prst="rect">
            <a:avLst/>
          </a:prstGeom>
        </p:spPr>
      </p:pic>
      <p:sp>
        <p:nvSpPr>
          <p:cNvPr id="19" name="Text 15"/>
          <p:cNvSpPr txBox="1"/>
          <p:nvPr/>
        </p:nvSpPr>
        <p:spPr>
          <a:xfrm>
            <a:off x="7022592" y="2834640"/>
            <a:ext cx="4389120" cy="411480"/>
          </a:xfrm>
          <a:prstGeom prst="rect">
            <a:avLst/>
          </a:prstGeom>
          <a:noFill/>
          <a:ln/>
        </p:spPr>
        <p:txBody>
          <a:bodyPr wrap="square" lIns="0" tIns="0" rIns="0" bIns="0" rtlCol="0" anchor="ctr"/>
          <a:lstStyle/>
          <a:p>
            <a:pPr marL="0" indent="0">
              <a:buNone/>
            </a:pPr>
            <a:r>
              <a:rPr lang="en-US" sz="1700" b="1" dirty="0">
                <a:solidFill>
                  <a:srgbClr val="C0392B"/>
                </a:solidFill>
                <a:latin typeface="Calibri" pitchFamily="34" charset="0"/>
                <a:ea typeface="Calibri" pitchFamily="34" charset="-122"/>
                <a:cs typeface="Calibri" pitchFamily="34" charset="-120"/>
              </a:rPr>
              <a:t>NACK — batch rejected</a:t>
            </a:r>
            <a:endParaRPr lang="en-US" sz="1700" dirty="0"/>
          </a:p>
        </p:txBody>
      </p:sp>
      <p:sp>
        <p:nvSpPr>
          <p:cNvPr id="20" name="Text 16"/>
          <p:cNvSpPr txBox="1"/>
          <p:nvPr/>
        </p:nvSpPr>
        <p:spPr>
          <a:xfrm>
            <a:off x="6547104" y="3337560"/>
            <a:ext cx="4846320" cy="201168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18243F"/>
                </a:solidFill>
                <a:latin typeface="Calibri" pitchFamily="34" charset="0"/>
                <a:ea typeface="Calibri" pitchFamily="34" charset="-122"/>
                <a:cs typeface="Calibri" pitchFamily="34" charset="-120"/>
              </a:rPr>
              <a:t>Any case failing OPF validation rejects the batch set — no further processing</a:t>
            </a:r>
            <a:endParaRPr lang="en-US" sz="1200" dirty="0"/>
          </a:p>
          <a:p>
            <a:pPr marL="342900" indent="-342900">
              <a:spcAft>
                <a:spcPts val="600"/>
              </a:spcAft>
              <a:buSzPct val="100000"/>
              <a:buChar char="•"/>
            </a:pPr>
            <a:r>
              <a:rPr lang="en-US" sz="1200" dirty="0">
                <a:solidFill>
                  <a:srgbClr val="18243F"/>
                </a:solidFill>
                <a:latin typeface="Calibri" pitchFamily="34" charset="0"/>
                <a:ea typeface="Calibri" pitchFamily="34" charset="-122"/>
                <a:cs typeface="Calibri" pitchFamily="34" charset="-120"/>
              </a:rPr>
              <a:t>Watcher detects NACK*.txt.SENT and archives the files</a:t>
            </a:r>
            <a:endParaRPr lang="en-US" sz="1200" dirty="0"/>
          </a:p>
          <a:p>
            <a:pPr marL="342900" indent="-342900">
              <a:spcAft>
                <a:spcPts val="600"/>
              </a:spcAft>
              <a:buSzPct val="100000"/>
              <a:buChar char="•"/>
            </a:pPr>
            <a:r>
              <a:rPr lang="en-US" sz="1200" dirty="0">
                <a:solidFill>
                  <a:srgbClr val="18243F"/>
                </a:solidFill>
                <a:latin typeface="Calibri" pitchFamily="34" charset="0"/>
                <a:ea typeface="Calibri" pitchFamily="34" charset="-122"/>
                <a:cs typeface="Calibri" pitchFamily="34" charset="-120"/>
              </a:rPr>
              <a:t>Cases stay open in BPM for correction and the next scheduled batch</a:t>
            </a:r>
            <a:endParaRPr lang="en-US" sz="1200" dirty="0"/>
          </a:p>
          <a:p>
            <a:pPr marL="342900" indent="-342900">
              <a:spcAft>
                <a:spcPts val="600"/>
              </a:spcAft>
              <a:buSzPct val="100000"/>
              <a:buChar char="•"/>
            </a:pPr>
            <a:r>
              <a:rPr lang="en-US" sz="1200" dirty="0">
                <a:solidFill>
                  <a:srgbClr val="18243F"/>
                </a:solidFill>
                <a:latin typeface="Calibri" pitchFamily="34" charset="0"/>
                <a:ea typeface="Calibri" pitchFamily="34" charset="-122"/>
                <a:cs typeface="Calibri" pitchFamily="34" charset="-120"/>
              </a:rPr>
              <a:t>Ops investigates via BPM queues — nothing is silently lost</a:t>
            </a:r>
            <a:endParaRPr lang="en-US" sz="1200" dirty="0"/>
          </a:p>
        </p:txBody>
      </p:sp>
      <p:sp>
        <p:nvSpPr>
          <p:cNvPr id="21" name="Text 17"/>
          <p:cNvSpPr txBox="1"/>
          <p:nvPr/>
        </p:nvSpPr>
        <p:spPr>
          <a:xfrm>
            <a:off x="548640" y="5806440"/>
            <a:ext cx="11064240" cy="365760"/>
          </a:xfrm>
          <a:prstGeom prst="rect">
            <a:avLst/>
          </a:prstGeom>
          <a:noFill/>
          <a:ln/>
        </p:spPr>
        <p:txBody>
          <a:bodyPr wrap="square" lIns="0" tIns="0" rIns="0" bIns="0" rtlCol="0" anchor="ctr"/>
          <a:lstStyle/>
          <a:p>
            <a:pPr marL="0" indent="0" algn="ctr">
              <a:buNone/>
            </a:pPr>
            <a:r>
              <a:rPr lang="en-US" sz="1250" i="1" dirty="0">
                <a:solidFill>
                  <a:srgbClr val="5A6B8C"/>
                </a:solidFill>
                <a:latin typeface="Calibri" pitchFamily="34" charset="0"/>
                <a:ea typeface="Calibri" pitchFamily="34" charset="-122"/>
                <a:cs typeface="Calibri" pitchFamily="34" charset="-120"/>
              </a:rPr>
              <a:t>The OPF platform migration only changed this response flow — the request flow was untouched.</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E3D"/>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106424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How money actually leaves: BNY Mellon &amp; the networks</a:t>
            </a:r>
            <a:endParaRPr lang="en-US" sz="3000" dirty="0"/>
          </a:p>
        </p:txBody>
      </p:sp>
      <p:sp>
        <p:nvSpPr>
          <p:cNvPr id="3" name="Text 1"/>
          <p:cNvSpPr txBox="1"/>
          <p:nvPr/>
        </p:nvSpPr>
        <p:spPr>
          <a:xfrm>
            <a:off x="822960" y="1828800"/>
            <a:ext cx="1920240" cy="914400"/>
          </a:xfrm>
          <a:prstGeom prst="roundRect">
            <a:avLst>
              <a:gd name="adj" fmla="val 9000"/>
            </a:avLst>
          </a:prstGeom>
          <a:solidFill>
            <a:srgbClr val="FF6000"/>
          </a:solidFill>
          <a:ln>
            <a:solidFill>
              <a:srgbClr val="FF6000"/>
            </a:solidFill>
          </a:ln>
        </p:spPr>
        <p:txBody>
          <a:bodyPr wrap="square" lIns="25400" tIns="25400" rIns="25400" bIns="25400" rtlCol="0" anchor="ctr">
            <a:normAutofit/>
          </a:bodyPr>
          <a:lstStyle/>
          <a:p>
            <a:pPr marL="0" indent="0" algn="ctr">
              <a:buNone/>
            </a:pPr>
            <a:r>
              <a:rPr lang="en-US" sz="1600" b="1" dirty="0">
                <a:solidFill>
                  <a:srgbClr val="FFFFFF"/>
                </a:solidFill>
                <a:latin typeface="Calibri" pitchFamily="34" charset="0"/>
                <a:ea typeface="Calibri" pitchFamily="34" charset="-122"/>
                <a:cs typeface="Calibri" pitchFamily="34" charset="-120"/>
              </a:rPr>
              <a:t>FIS OPF</a:t>
            </a:r>
            <a:endParaRPr lang="en-US" sz="1600" dirty="0"/>
          </a:p>
        </p:txBody>
      </p:sp>
      <p:sp>
        <p:nvSpPr>
          <p:cNvPr id="4" name="Shape 2"/>
          <p:cNvSpPr/>
          <p:nvPr/>
        </p:nvSpPr>
        <p:spPr>
          <a:xfrm>
            <a:off x="2834640" y="2286000"/>
            <a:ext cx="502920" cy="0"/>
          </a:xfrm>
          <a:prstGeom prst="line">
            <a:avLst/>
          </a:prstGeom>
          <a:noFill/>
          <a:ln w="22225">
            <a:solidFill>
              <a:srgbClr val="C9D9F5"/>
            </a:solidFill>
            <a:prstDash val="solid"/>
            <a:tailEnd type="triangle"/>
          </a:ln>
        </p:spPr>
        <p:txBody>
          <a:bodyPr/>
          <a:lstStyle/>
          <a:p>
            <a:endParaRPr lang="en-US"/>
          </a:p>
        </p:txBody>
      </p:sp>
      <p:sp>
        <p:nvSpPr>
          <p:cNvPr id="5" name="Text 3"/>
          <p:cNvSpPr txBox="1"/>
          <p:nvPr/>
        </p:nvSpPr>
        <p:spPr>
          <a:xfrm>
            <a:off x="3429000" y="1828800"/>
            <a:ext cx="2286000" cy="914400"/>
          </a:xfrm>
          <a:prstGeom prst="roundRect">
            <a:avLst>
              <a:gd name="adj" fmla="val 9000"/>
            </a:avLst>
          </a:prstGeom>
          <a:solidFill>
            <a:srgbClr val="FFFFFF"/>
          </a:solidFill>
          <a:ln>
            <a:solidFill>
              <a:srgbClr val="FFFFFF"/>
            </a:solidFill>
          </a:ln>
        </p:spPr>
        <p:txBody>
          <a:bodyPr wrap="square" lIns="25400" tIns="25400" rIns="25400" bIns="25400" rtlCol="0" anchor="ctr">
            <a:normAutofit/>
          </a:bodyPr>
          <a:lstStyle/>
          <a:p>
            <a:pPr marL="0" indent="0" algn="ctr">
              <a:buNone/>
            </a:pPr>
            <a:r>
              <a:rPr lang="en-US" sz="1250" b="1" dirty="0">
                <a:solidFill>
                  <a:srgbClr val="18243F"/>
                </a:solidFill>
                <a:latin typeface="Calibri" pitchFamily="34" charset="0"/>
                <a:ea typeface="Calibri" pitchFamily="34" charset="-122"/>
                <a:cs typeface="Calibri" pitchFamily="34" charset="-120"/>
              </a:rPr>
              <a:t>BNY Mellon</a:t>
            </a:r>
            <a:endParaRPr lang="en-US" sz="1250" dirty="0"/>
          </a:p>
          <a:p>
            <a:pPr marL="0" indent="0" algn="ctr">
              <a:buNone/>
            </a:pPr>
            <a:r>
              <a:rPr lang="en-US" sz="1250" b="1" dirty="0">
                <a:solidFill>
                  <a:srgbClr val="18243F"/>
                </a:solidFill>
                <a:latin typeface="Calibri" pitchFamily="34" charset="0"/>
                <a:ea typeface="Calibri" pitchFamily="34" charset="-122"/>
                <a:cs typeface="Calibri" pitchFamily="34" charset="-120"/>
              </a:rPr>
              <a:t>correspondent bank</a:t>
            </a:r>
            <a:endParaRPr lang="en-US" sz="1250" dirty="0"/>
          </a:p>
        </p:txBody>
      </p:sp>
      <p:sp>
        <p:nvSpPr>
          <p:cNvPr id="6" name="Shape 4"/>
          <p:cNvSpPr/>
          <p:nvPr/>
        </p:nvSpPr>
        <p:spPr>
          <a:xfrm flipV="1">
            <a:off x="5806440" y="1645920"/>
            <a:ext cx="548640" cy="640080"/>
          </a:xfrm>
          <a:prstGeom prst="line">
            <a:avLst/>
          </a:prstGeom>
          <a:noFill/>
          <a:ln w="22225">
            <a:solidFill>
              <a:srgbClr val="C9D9F5"/>
            </a:solidFill>
            <a:prstDash val="solid"/>
            <a:tailEnd type="triangle"/>
          </a:ln>
        </p:spPr>
        <p:txBody>
          <a:bodyPr/>
          <a:lstStyle/>
          <a:p>
            <a:endParaRPr lang="en-US"/>
          </a:p>
        </p:txBody>
      </p:sp>
      <p:sp>
        <p:nvSpPr>
          <p:cNvPr id="7" name="Shape 5"/>
          <p:cNvSpPr/>
          <p:nvPr/>
        </p:nvSpPr>
        <p:spPr>
          <a:xfrm>
            <a:off x="5806440" y="2286000"/>
            <a:ext cx="548640" cy="640080"/>
          </a:xfrm>
          <a:prstGeom prst="line">
            <a:avLst/>
          </a:prstGeom>
          <a:noFill/>
          <a:ln w="22225">
            <a:solidFill>
              <a:srgbClr val="C9D9F5"/>
            </a:solidFill>
            <a:prstDash val="solid"/>
            <a:tailEnd type="triangle"/>
          </a:ln>
        </p:spPr>
        <p:txBody>
          <a:bodyPr/>
          <a:lstStyle/>
          <a:p>
            <a:endParaRPr lang="en-US"/>
          </a:p>
        </p:txBody>
      </p:sp>
      <p:sp>
        <p:nvSpPr>
          <p:cNvPr id="8" name="Text 6"/>
          <p:cNvSpPr txBox="1"/>
          <p:nvPr/>
        </p:nvSpPr>
        <p:spPr>
          <a:xfrm>
            <a:off x="6492240" y="1143000"/>
            <a:ext cx="2651760" cy="868680"/>
          </a:xfrm>
          <a:prstGeom prst="roundRect">
            <a:avLst>
              <a:gd name="adj" fmla="val 9474"/>
            </a:avLst>
          </a:prstGeom>
          <a:solidFill>
            <a:srgbClr val="1C3059"/>
          </a:solidFill>
          <a:ln w="12700">
            <a:solidFill>
              <a:srgbClr val="44598C"/>
            </a:solidFill>
          </a:ln>
        </p:spPr>
        <p:txBody>
          <a:bodyPr wrap="square" lIns="25400" tIns="25400" rIns="25400" bIns="25400" rtlCol="0" anchor="ctr">
            <a:normAutofit/>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Fedwire</a:t>
            </a:r>
            <a:endParaRPr lang="en-US" sz="1250" dirty="0"/>
          </a:p>
          <a:p>
            <a:pPr marL="0" indent="0" algn="ctr">
              <a:buNone/>
            </a:pPr>
            <a:r>
              <a:rPr lang="en-US" sz="1250" b="1" dirty="0">
                <a:solidFill>
                  <a:srgbClr val="FFFFFF"/>
                </a:solidFill>
                <a:latin typeface="Calibri" pitchFamily="34" charset="0"/>
                <a:ea typeface="Calibri" pitchFamily="34" charset="-122"/>
                <a:cs typeface="Calibri" pitchFamily="34" charset="-120"/>
              </a:rPr>
              <a:t>domestic USD, real-time</a:t>
            </a:r>
            <a:endParaRPr lang="en-US" sz="1250" dirty="0"/>
          </a:p>
        </p:txBody>
      </p:sp>
      <p:sp>
        <p:nvSpPr>
          <p:cNvPr id="9" name="Text 7"/>
          <p:cNvSpPr txBox="1"/>
          <p:nvPr/>
        </p:nvSpPr>
        <p:spPr>
          <a:xfrm>
            <a:off x="6492240" y="2606040"/>
            <a:ext cx="2651760" cy="868680"/>
          </a:xfrm>
          <a:prstGeom prst="roundRect">
            <a:avLst>
              <a:gd name="adj" fmla="val 9474"/>
            </a:avLst>
          </a:prstGeom>
          <a:solidFill>
            <a:srgbClr val="1C3059"/>
          </a:solidFill>
          <a:ln w="12700">
            <a:solidFill>
              <a:srgbClr val="44598C"/>
            </a:solidFill>
          </a:ln>
        </p:spPr>
        <p:txBody>
          <a:bodyPr wrap="square" lIns="25400" tIns="25400" rIns="25400" bIns="25400" rtlCol="0" anchor="ctr">
            <a:normAutofit/>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SWIFT</a:t>
            </a:r>
            <a:endParaRPr lang="en-US" sz="1250" dirty="0"/>
          </a:p>
          <a:p>
            <a:pPr marL="0" indent="0" algn="ctr">
              <a:buNone/>
            </a:pPr>
            <a:r>
              <a:rPr lang="en-US" sz="1250" b="1" dirty="0">
                <a:solidFill>
                  <a:srgbClr val="FFFFFF"/>
                </a:solidFill>
                <a:latin typeface="Calibri" pitchFamily="34" charset="0"/>
                <a:ea typeface="Calibri" pitchFamily="34" charset="-122"/>
                <a:cs typeface="Calibri" pitchFamily="34" charset="-120"/>
              </a:rPr>
              <a:t>international, via BNY</a:t>
            </a:r>
            <a:endParaRPr lang="en-US" sz="1250" dirty="0"/>
          </a:p>
        </p:txBody>
      </p:sp>
      <p:pic>
        <p:nvPicPr>
          <p:cNvPr id="10" name="Image 0" descr="C:\Users\vasan\AppData\Local\Temp\claude\D--unfold-git-work-fisOPF\bdc8cb48-9752-4a6c-a524-d1dfc31f95fd\scratchpad/icons/bank_FFFFFF.png"/>
          <p:cNvPicPr>
            <a:picLocks noChangeAspect="1"/>
          </p:cNvPicPr>
          <p:nvPr/>
        </p:nvPicPr>
        <p:blipFill>
          <a:blip r:embed="rId3"/>
          <a:stretch>
            <a:fillRect/>
          </a:stretch>
        </p:blipFill>
        <p:spPr>
          <a:xfrm>
            <a:off x="9555480" y="1325880"/>
            <a:ext cx="457200" cy="457200"/>
          </a:xfrm>
          <a:prstGeom prst="rect">
            <a:avLst/>
          </a:prstGeom>
        </p:spPr>
      </p:pic>
      <p:pic>
        <p:nvPicPr>
          <p:cNvPr id="11" name="Image 1" descr="C:\Users\vasan\AppData\Local\Temp\claude\D--unfold-git-work-fisOPF\bdc8cb48-9752-4a6c-a524-d1dfc31f95fd\scratchpad/icons/globe_FFFFFF.png"/>
          <p:cNvPicPr>
            <a:picLocks noChangeAspect="1"/>
          </p:cNvPicPr>
          <p:nvPr/>
        </p:nvPicPr>
        <p:blipFill>
          <a:blip r:embed="rId4"/>
          <a:stretch>
            <a:fillRect/>
          </a:stretch>
        </p:blipFill>
        <p:spPr>
          <a:xfrm>
            <a:off x="9555480" y="2788920"/>
            <a:ext cx="457200" cy="457200"/>
          </a:xfrm>
          <a:prstGeom prst="rect">
            <a:avLst/>
          </a:prstGeom>
        </p:spPr>
      </p:pic>
      <p:sp>
        <p:nvSpPr>
          <p:cNvPr id="12" name="Text 8"/>
          <p:cNvSpPr txBox="1"/>
          <p:nvPr/>
        </p:nvSpPr>
        <p:spPr>
          <a:xfrm>
            <a:off x="822960" y="3291840"/>
            <a:ext cx="4937760" cy="1188720"/>
          </a:xfrm>
          <a:prstGeom prst="rect">
            <a:avLst/>
          </a:prstGeom>
          <a:noFill/>
          <a:ln/>
        </p:spPr>
        <p:txBody>
          <a:bodyPr wrap="square" lIns="0" tIns="0" rIns="0" bIns="0" rtlCol="0" anchor="ctr"/>
          <a:lstStyle/>
          <a:p>
            <a:pPr marL="0" indent="0">
              <a:buNone/>
            </a:pPr>
            <a:r>
              <a:rPr lang="en-US" sz="1250" dirty="0">
                <a:solidFill>
                  <a:srgbClr val="C9D9F5"/>
                </a:solidFill>
                <a:latin typeface="Calibri" pitchFamily="34" charset="0"/>
                <a:ea typeface="Calibri" pitchFamily="34" charset="-122"/>
                <a:cs typeface="Calibri" pitchFamily="34" charset="-120"/>
              </a:rPr>
              <a:t>Discover is not a direct Fedwire participant in this flow — BNY Mellon settles on our behalf. FedLine Advantage exists only as a rare, manual fallback.</a:t>
            </a:r>
            <a:endParaRPr lang="en-US" sz="1250" dirty="0"/>
          </a:p>
        </p:txBody>
      </p:sp>
      <p:sp>
        <p:nvSpPr>
          <p:cNvPr id="13" name="Shape 9"/>
          <p:cNvSpPr/>
          <p:nvPr/>
        </p:nvSpPr>
        <p:spPr>
          <a:xfrm>
            <a:off x="822960" y="4663440"/>
            <a:ext cx="10515600" cy="1463040"/>
          </a:xfrm>
          <a:prstGeom prst="roundRect">
            <a:avLst>
              <a:gd name="adj" fmla="val 7500"/>
            </a:avLst>
          </a:prstGeom>
          <a:solidFill>
            <a:srgbClr val="1C3059"/>
          </a:solidFill>
          <a:ln w="12700">
            <a:solidFill>
              <a:srgbClr val="44598C"/>
            </a:solidFill>
            <a:prstDash val="solid"/>
          </a:ln>
        </p:spPr>
        <p:txBody>
          <a:bodyPr/>
          <a:lstStyle/>
          <a:p>
            <a:endParaRPr lang="en-US"/>
          </a:p>
        </p:txBody>
      </p:sp>
      <p:sp>
        <p:nvSpPr>
          <p:cNvPr id="14" name="Shape 10"/>
          <p:cNvSpPr/>
          <p:nvPr/>
        </p:nvSpPr>
        <p:spPr>
          <a:xfrm>
            <a:off x="1143000" y="4937760"/>
            <a:ext cx="566928" cy="566928"/>
          </a:xfrm>
          <a:prstGeom prst="ellipse">
            <a:avLst/>
          </a:prstGeom>
          <a:solidFill>
            <a:srgbClr val="FF6000"/>
          </a:solidFill>
          <a:ln w="12700">
            <a:solidFill>
              <a:srgbClr val="FF6000"/>
            </a:solidFill>
            <a:prstDash val="solid"/>
          </a:ln>
        </p:spPr>
        <p:txBody>
          <a:bodyPr/>
          <a:lstStyle/>
          <a:p>
            <a:endParaRPr lang="en-US"/>
          </a:p>
        </p:txBody>
      </p:sp>
      <p:pic>
        <p:nvPicPr>
          <p:cNvPr id="15" name="Image 2" descr="C:\Users\vasan\AppData\Local\Temp\claude\D--unfold-git-work-fisOPF\bdc8cb48-9752-4a6c-a524-d1dfc31f95fd\scratchpad/icons/lifeRing_FFFFFF.png"/>
          <p:cNvPicPr>
            <a:picLocks noChangeAspect="1"/>
          </p:cNvPicPr>
          <p:nvPr/>
        </p:nvPicPr>
        <p:blipFill>
          <a:blip r:embed="rId5"/>
          <a:stretch>
            <a:fillRect/>
          </a:stretch>
        </p:blipFill>
        <p:spPr>
          <a:xfrm>
            <a:off x="1290401" y="5085161"/>
            <a:ext cx="272125" cy="272125"/>
          </a:xfrm>
          <a:prstGeom prst="rect">
            <a:avLst/>
          </a:prstGeom>
        </p:spPr>
      </p:pic>
      <p:sp>
        <p:nvSpPr>
          <p:cNvPr id="16" name="Text 11"/>
          <p:cNvSpPr txBox="1"/>
          <p:nvPr/>
        </p:nvSpPr>
        <p:spPr>
          <a:xfrm>
            <a:off x="1920240" y="4846320"/>
            <a:ext cx="9144000" cy="1097280"/>
          </a:xfrm>
          <a:prstGeom prst="rect">
            <a:avLst/>
          </a:prstGeom>
          <a:noFill/>
          <a:ln/>
        </p:spPr>
        <p:txBody>
          <a:bodyPr wrap="square" lIns="0" tIns="0" rIns="0" bIns="0" rtlCol="0" anchor="ctr"/>
          <a:lstStyle/>
          <a:p>
            <a:pPr marL="0" indent="0">
              <a:buNone/>
            </a:pPr>
            <a:r>
              <a:rPr lang="en-US" sz="1350" b="1" dirty="0">
                <a:solidFill>
                  <a:srgbClr val="FFFFFF"/>
                </a:solidFill>
                <a:latin typeface="Calibri" pitchFamily="34" charset="0"/>
                <a:ea typeface="Calibri" pitchFamily="34" charset="-122"/>
                <a:cs typeface="Calibri" pitchFamily="34" charset="-120"/>
              </a:rPr>
              <a:t>Business continuity is built into every batch.  </a:t>
            </a:r>
            <a:r>
              <a:rPr lang="en-US" sz="1350" dirty="0">
                <a:solidFill>
                  <a:srgbClr val="C9D9F5"/>
                </a:solidFill>
                <a:latin typeface="Calibri" pitchFamily="34" charset="0"/>
                <a:ea typeface="Calibri" pitchFamily="34" charset="-122"/>
                <a:cs typeface="Calibri" pitchFamily="34" charset="-120"/>
              </a:rPr>
              <a:t>OPF pre-positions BCP backup files with the correspondent bank so that if OPF (or our wires stack) ever goes down, BNY Mellon or JPMC can process the critical payments manually or semi-automatically.</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1064240" cy="640080"/>
          </a:xfrm>
          <a:prstGeom prst="rect">
            <a:avLst/>
          </a:prstGeom>
          <a:noFill/>
          <a:ln/>
        </p:spPr>
        <p:txBody>
          <a:bodyPr wrap="square" lIns="0" tIns="0" rIns="0" bIns="0" rtlCol="0" anchor="ctr"/>
          <a:lstStyle/>
          <a:p>
            <a:pPr marL="0" indent="0">
              <a:buNone/>
            </a:pPr>
            <a:r>
              <a:rPr lang="en-US" sz="3000" b="1" dirty="0">
                <a:solidFill>
                  <a:srgbClr val="18243F"/>
                </a:solidFill>
                <a:latin typeface="Calibri" pitchFamily="34" charset="0"/>
                <a:ea typeface="Calibri" pitchFamily="34" charset="-122"/>
                <a:cs typeface="Calibri" pitchFamily="34" charset="-120"/>
              </a:rPr>
              <a:t>Meanwhile, inbound wires: a different world</a:t>
            </a:r>
            <a:endParaRPr lang="en-US" sz="3000" dirty="0"/>
          </a:p>
        </p:txBody>
      </p:sp>
      <p:sp>
        <p:nvSpPr>
          <p:cNvPr id="3" name="Text 1"/>
          <p:cNvSpPr txBox="1"/>
          <p:nvPr/>
        </p:nvSpPr>
        <p:spPr>
          <a:xfrm>
            <a:off x="548640" y="896112"/>
            <a:ext cx="11064240" cy="365760"/>
          </a:xfrm>
          <a:prstGeom prst="rect">
            <a:avLst/>
          </a:prstGeom>
          <a:noFill/>
          <a:ln/>
        </p:spPr>
        <p:txBody>
          <a:bodyPr wrap="square" lIns="0" tIns="0" rIns="0" bIns="0" rtlCol="0" anchor="ctr"/>
          <a:lstStyle/>
          <a:p>
            <a:pPr marL="0" indent="0">
              <a:buNone/>
            </a:pPr>
            <a:r>
              <a:rPr lang="en-US" sz="1400" dirty="0">
                <a:solidFill>
                  <a:srgbClr val="5A6B8C"/>
                </a:solidFill>
                <a:latin typeface="Calibri" pitchFamily="34" charset="0"/>
                <a:ea typeface="Calibri" pitchFamily="34" charset="-122"/>
                <a:cs typeface="Calibri" pitchFamily="34" charset="-120"/>
              </a:rPr>
              <a:t>Report-driven and Beacon-managed — FIS OPF is not involved</a:t>
            </a:r>
            <a:endParaRPr lang="en-US" sz="1400" dirty="0"/>
          </a:p>
        </p:txBody>
      </p:sp>
      <p:sp>
        <p:nvSpPr>
          <p:cNvPr id="4" name="Text 2"/>
          <p:cNvSpPr txBox="1"/>
          <p:nvPr/>
        </p:nvSpPr>
        <p:spPr>
          <a:xfrm>
            <a:off x="548640" y="1463040"/>
            <a:ext cx="2377440" cy="960120"/>
          </a:xfrm>
          <a:prstGeom prst="roundRect">
            <a:avLst>
              <a:gd name="adj" fmla="val 8571"/>
            </a:avLst>
          </a:prstGeom>
          <a:solidFill>
            <a:srgbClr val="EEF2F9"/>
          </a:solidFill>
          <a:ln>
            <a:solidFill>
              <a:srgbClr val="EEF2F9"/>
            </a:solidFill>
          </a:ln>
        </p:spPr>
        <p:txBody>
          <a:bodyPr wrap="square" lIns="25400" tIns="25400" rIns="25400" bIns="25400" rtlCol="0" anchor="ctr">
            <a:normAutofit/>
          </a:bodyPr>
          <a:lstStyle/>
          <a:p>
            <a:pPr marL="0" indent="0" algn="ctr">
              <a:buNone/>
            </a:pPr>
            <a:r>
              <a:rPr lang="en-US" sz="1050" b="1" dirty="0">
                <a:solidFill>
                  <a:srgbClr val="18243F"/>
                </a:solidFill>
                <a:latin typeface="Calibri" pitchFamily="34" charset="0"/>
                <a:ea typeface="Calibri" pitchFamily="34" charset="-122"/>
                <a:cs typeface="Calibri" pitchFamily="34" charset="-120"/>
              </a:rPr>
              <a:t>Fed daily report</a:t>
            </a:r>
            <a:endParaRPr lang="en-US" sz="1050" dirty="0"/>
          </a:p>
          <a:p>
            <a:pPr marL="0" indent="0" algn="ctr">
              <a:buNone/>
            </a:pPr>
            <a:r>
              <a:rPr lang="en-US" sz="1050" b="1" dirty="0">
                <a:solidFill>
                  <a:srgbClr val="18243F"/>
                </a:solidFill>
                <a:latin typeface="Calibri" pitchFamily="34" charset="0"/>
                <a:ea typeface="Calibri" pitchFamily="34" charset="-122"/>
                <a:cs typeface="Calibri" pitchFamily="34" charset="-120"/>
              </a:rPr>
              <a:t>(secure parsing portal → Excel)</a:t>
            </a:r>
            <a:endParaRPr lang="en-US" sz="1050" dirty="0"/>
          </a:p>
        </p:txBody>
      </p:sp>
      <p:sp>
        <p:nvSpPr>
          <p:cNvPr id="5" name="Shape 3"/>
          <p:cNvSpPr/>
          <p:nvPr/>
        </p:nvSpPr>
        <p:spPr>
          <a:xfrm>
            <a:off x="2953512" y="1943100"/>
            <a:ext cx="201168" cy="0"/>
          </a:xfrm>
          <a:prstGeom prst="line">
            <a:avLst/>
          </a:prstGeom>
          <a:noFill/>
          <a:ln w="22225">
            <a:solidFill>
              <a:srgbClr val="5A6B8C"/>
            </a:solidFill>
            <a:prstDash val="solid"/>
            <a:tailEnd type="triangle"/>
          </a:ln>
        </p:spPr>
        <p:txBody>
          <a:bodyPr/>
          <a:lstStyle/>
          <a:p>
            <a:endParaRPr lang="en-US"/>
          </a:p>
        </p:txBody>
      </p:sp>
      <p:sp>
        <p:nvSpPr>
          <p:cNvPr id="6" name="Text 4"/>
          <p:cNvSpPr txBox="1"/>
          <p:nvPr/>
        </p:nvSpPr>
        <p:spPr>
          <a:xfrm>
            <a:off x="3182112" y="1463040"/>
            <a:ext cx="1828800" cy="960120"/>
          </a:xfrm>
          <a:prstGeom prst="roundRect">
            <a:avLst>
              <a:gd name="adj" fmla="val 8571"/>
            </a:avLst>
          </a:prstGeom>
          <a:solidFill>
            <a:srgbClr val="EEF2F9"/>
          </a:solidFill>
          <a:ln>
            <a:solidFill>
              <a:srgbClr val="EEF2F9"/>
            </a:solidFill>
          </a:ln>
        </p:spPr>
        <p:txBody>
          <a:bodyPr wrap="square" lIns="25400" tIns="25400" rIns="25400" bIns="25400" rtlCol="0" anchor="ctr">
            <a:normAutofit/>
          </a:bodyPr>
          <a:lstStyle/>
          <a:p>
            <a:pPr marL="0" indent="0" algn="ctr">
              <a:buNone/>
            </a:pPr>
            <a:r>
              <a:rPr lang="en-US" sz="1050" b="1" dirty="0">
                <a:solidFill>
                  <a:srgbClr val="18243F"/>
                </a:solidFill>
                <a:latin typeface="Calibri" pitchFamily="34" charset="0"/>
                <a:ea typeface="Calibri" pitchFamily="34" charset="-122"/>
                <a:cs typeface="Calibri" pitchFamily="34" charset="-120"/>
              </a:rPr>
              <a:t>BNY export</a:t>
            </a:r>
            <a:endParaRPr lang="en-US" sz="1050" dirty="0"/>
          </a:p>
          <a:p>
            <a:pPr marL="0" indent="0" algn="ctr">
              <a:buNone/>
            </a:pPr>
            <a:r>
              <a:rPr lang="en-US" sz="1050" b="1" dirty="0">
                <a:solidFill>
                  <a:srgbClr val="18243F"/>
                </a:solidFill>
                <a:latin typeface="Calibri" pitchFamily="34" charset="0"/>
                <a:ea typeface="Calibri" pitchFamily="34" charset="-122"/>
                <a:cs typeface="Calibri" pitchFamily="34" charset="-120"/>
              </a:rPr>
              <a:t>(CSV, international)</a:t>
            </a:r>
            <a:endParaRPr lang="en-US" sz="1050" dirty="0"/>
          </a:p>
        </p:txBody>
      </p:sp>
      <p:sp>
        <p:nvSpPr>
          <p:cNvPr id="7" name="Shape 5"/>
          <p:cNvSpPr/>
          <p:nvPr/>
        </p:nvSpPr>
        <p:spPr>
          <a:xfrm>
            <a:off x="5038344" y="1943100"/>
            <a:ext cx="201168" cy="0"/>
          </a:xfrm>
          <a:prstGeom prst="line">
            <a:avLst/>
          </a:prstGeom>
          <a:noFill/>
          <a:ln w="22225">
            <a:solidFill>
              <a:srgbClr val="5A6B8C"/>
            </a:solidFill>
            <a:prstDash val="solid"/>
            <a:tailEnd type="triangle"/>
          </a:ln>
        </p:spPr>
        <p:txBody>
          <a:bodyPr/>
          <a:lstStyle/>
          <a:p>
            <a:endParaRPr lang="en-US"/>
          </a:p>
        </p:txBody>
      </p:sp>
      <p:sp>
        <p:nvSpPr>
          <p:cNvPr id="8" name="Text 6"/>
          <p:cNvSpPr txBox="1"/>
          <p:nvPr/>
        </p:nvSpPr>
        <p:spPr>
          <a:xfrm>
            <a:off x="5266944" y="1463040"/>
            <a:ext cx="1691640" cy="960120"/>
          </a:xfrm>
          <a:prstGeom prst="roundRect">
            <a:avLst>
              <a:gd name="adj" fmla="val 8571"/>
            </a:avLst>
          </a:prstGeom>
          <a:solidFill>
            <a:srgbClr val="EEF2F9"/>
          </a:solidFill>
          <a:ln>
            <a:solidFill>
              <a:srgbClr val="EEF2F9"/>
            </a:solidFill>
          </a:ln>
        </p:spPr>
        <p:txBody>
          <a:bodyPr wrap="square" lIns="25400" tIns="25400" rIns="25400" bIns="25400" rtlCol="0" anchor="ctr">
            <a:normAutofit/>
          </a:bodyPr>
          <a:lstStyle/>
          <a:p>
            <a:pPr marL="0" indent="0" algn="ctr">
              <a:buNone/>
            </a:pPr>
            <a:r>
              <a:rPr lang="en-US" sz="1050" b="1" dirty="0">
                <a:solidFill>
                  <a:srgbClr val="18243F"/>
                </a:solidFill>
                <a:latin typeface="Calibri" pitchFamily="34" charset="0"/>
                <a:ea typeface="Calibri" pitchFamily="34" charset="-122"/>
                <a:cs typeface="Calibri" pitchFamily="34" charset="-120"/>
              </a:rPr>
              <a:t>DataHub ETL /</a:t>
            </a:r>
            <a:endParaRPr lang="en-US" sz="1050" dirty="0"/>
          </a:p>
          <a:p>
            <a:pPr marL="0" indent="0" algn="ctr">
              <a:buNone/>
            </a:pPr>
            <a:r>
              <a:rPr lang="en-US" sz="1050" b="1" dirty="0">
                <a:solidFill>
                  <a:srgbClr val="18243F"/>
                </a:solidFill>
                <a:latin typeface="Calibri" pitchFamily="34" charset="0"/>
                <a:ea typeface="Calibri" pitchFamily="34" charset="-122"/>
                <a:cs typeface="Calibri" pitchFamily="34" charset="-120"/>
              </a:rPr>
              <a:t>Beacon upload</a:t>
            </a:r>
            <a:endParaRPr lang="en-US" sz="1050" dirty="0"/>
          </a:p>
        </p:txBody>
      </p:sp>
      <p:sp>
        <p:nvSpPr>
          <p:cNvPr id="9" name="Shape 7"/>
          <p:cNvSpPr/>
          <p:nvPr/>
        </p:nvSpPr>
        <p:spPr>
          <a:xfrm>
            <a:off x="6986016" y="1943100"/>
            <a:ext cx="201168" cy="0"/>
          </a:xfrm>
          <a:prstGeom prst="line">
            <a:avLst/>
          </a:prstGeom>
          <a:noFill/>
          <a:ln w="22225">
            <a:solidFill>
              <a:srgbClr val="5A6B8C"/>
            </a:solidFill>
            <a:prstDash val="solid"/>
            <a:tailEnd type="triangle"/>
          </a:ln>
        </p:spPr>
        <p:txBody>
          <a:bodyPr/>
          <a:lstStyle/>
          <a:p>
            <a:endParaRPr lang="en-US"/>
          </a:p>
        </p:txBody>
      </p:sp>
      <p:sp>
        <p:nvSpPr>
          <p:cNvPr id="10" name="Text 8"/>
          <p:cNvSpPr txBox="1"/>
          <p:nvPr/>
        </p:nvSpPr>
        <p:spPr>
          <a:xfrm>
            <a:off x="7214616" y="1463040"/>
            <a:ext cx="1737360" cy="960120"/>
          </a:xfrm>
          <a:prstGeom prst="roundRect">
            <a:avLst>
              <a:gd name="adj" fmla="val 8571"/>
            </a:avLst>
          </a:prstGeom>
          <a:solidFill>
            <a:srgbClr val="EEF2F9"/>
          </a:solidFill>
          <a:ln>
            <a:solidFill>
              <a:srgbClr val="EEF2F9"/>
            </a:solidFill>
          </a:ln>
        </p:spPr>
        <p:txBody>
          <a:bodyPr wrap="square" lIns="25400" tIns="25400" rIns="25400" bIns="25400" rtlCol="0" anchor="ctr">
            <a:normAutofit/>
          </a:bodyPr>
          <a:lstStyle/>
          <a:p>
            <a:pPr marL="0" indent="0" algn="ctr">
              <a:buNone/>
            </a:pPr>
            <a:r>
              <a:rPr lang="en-US" sz="1050" b="1" dirty="0">
                <a:solidFill>
                  <a:srgbClr val="18243F"/>
                </a:solidFill>
                <a:latin typeface="Calibri" pitchFamily="34" charset="0"/>
                <a:ea typeface="Calibri" pitchFamily="34" charset="-122"/>
                <a:cs typeface="Calibri" pitchFamily="34" charset="-120"/>
              </a:rPr>
              <a:t>ComplianceLink</a:t>
            </a:r>
            <a:endParaRPr lang="en-US" sz="1050" dirty="0"/>
          </a:p>
          <a:p>
            <a:pPr marL="0" indent="0" algn="ctr">
              <a:buNone/>
            </a:pPr>
            <a:r>
              <a:rPr lang="en-US" sz="1050" b="1" dirty="0">
                <a:solidFill>
                  <a:srgbClr val="18243F"/>
                </a:solidFill>
                <a:latin typeface="Calibri" pitchFamily="34" charset="0"/>
                <a:ea typeface="Calibri" pitchFamily="34" charset="-122"/>
                <a:cs typeface="Calibri" pitchFamily="34" charset="-120"/>
              </a:rPr>
              <a:t>OFAC screening</a:t>
            </a:r>
            <a:endParaRPr lang="en-US" sz="1050" dirty="0"/>
          </a:p>
        </p:txBody>
      </p:sp>
      <p:sp>
        <p:nvSpPr>
          <p:cNvPr id="11" name="Shape 9"/>
          <p:cNvSpPr/>
          <p:nvPr/>
        </p:nvSpPr>
        <p:spPr>
          <a:xfrm>
            <a:off x="8979408" y="1943100"/>
            <a:ext cx="201168" cy="0"/>
          </a:xfrm>
          <a:prstGeom prst="line">
            <a:avLst/>
          </a:prstGeom>
          <a:noFill/>
          <a:ln w="22225">
            <a:solidFill>
              <a:srgbClr val="5A6B8C"/>
            </a:solidFill>
            <a:prstDash val="solid"/>
            <a:tailEnd type="triangle"/>
          </a:ln>
        </p:spPr>
        <p:txBody>
          <a:bodyPr/>
          <a:lstStyle/>
          <a:p>
            <a:endParaRPr lang="en-US"/>
          </a:p>
        </p:txBody>
      </p:sp>
      <p:sp>
        <p:nvSpPr>
          <p:cNvPr id="12" name="Text 10"/>
          <p:cNvSpPr txBox="1"/>
          <p:nvPr/>
        </p:nvSpPr>
        <p:spPr>
          <a:xfrm>
            <a:off x="9208008" y="1463040"/>
            <a:ext cx="2148840" cy="960120"/>
          </a:xfrm>
          <a:prstGeom prst="roundRect">
            <a:avLst>
              <a:gd name="adj" fmla="val 8571"/>
            </a:avLst>
          </a:prstGeom>
          <a:solidFill>
            <a:srgbClr val="EEF2F9"/>
          </a:solidFill>
          <a:ln>
            <a:solidFill>
              <a:srgbClr val="EEF2F9"/>
            </a:solidFill>
          </a:ln>
        </p:spPr>
        <p:txBody>
          <a:bodyPr wrap="square" lIns="25400" tIns="25400" rIns="25400" bIns="25400" rtlCol="0" anchor="ctr">
            <a:normAutofit/>
          </a:bodyPr>
          <a:lstStyle/>
          <a:p>
            <a:pPr marL="0" indent="0" algn="ctr">
              <a:buNone/>
            </a:pPr>
            <a:r>
              <a:rPr lang="en-US" sz="1050" b="1" dirty="0">
                <a:solidFill>
                  <a:srgbClr val="18243F"/>
                </a:solidFill>
                <a:latin typeface="Calibri" pitchFamily="34" charset="0"/>
                <a:ea typeface="Calibri" pitchFamily="34" charset="-122"/>
                <a:cs typeface="Calibri" pitchFamily="34" charset="-120"/>
              </a:rPr>
              <a:t>Beacon workflow</a:t>
            </a:r>
            <a:endParaRPr lang="en-US" sz="1050" dirty="0"/>
          </a:p>
          <a:p>
            <a:pPr marL="0" indent="0" algn="ctr">
              <a:buNone/>
            </a:pPr>
            <a:r>
              <a:rPr lang="en-US" sz="1050" b="1" dirty="0">
                <a:solidFill>
                  <a:srgbClr val="18243F"/>
                </a:solidFill>
                <a:latin typeface="Calibri" pitchFamily="34" charset="0"/>
                <a:ea typeface="Calibri" pitchFamily="34" charset="-122"/>
                <a:cs typeface="Calibri" pitchFamily="34" charset="-120"/>
              </a:rPr>
              <a:t>(exceptions → manual review)</a:t>
            </a:r>
            <a:endParaRPr lang="en-US" sz="1050" dirty="0"/>
          </a:p>
        </p:txBody>
      </p:sp>
      <p:sp>
        <p:nvSpPr>
          <p:cNvPr id="13" name="Shape 11"/>
          <p:cNvSpPr/>
          <p:nvPr/>
        </p:nvSpPr>
        <p:spPr>
          <a:xfrm>
            <a:off x="6080760" y="2468880"/>
            <a:ext cx="0" cy="320040"/>
          </a:xfrm>
          <a:prstGeom prst="line">
            <a:avLst/>
          </a:prstGeom>
          <a:noFill/>
          <a:ln w="22225">
            <a:solidFill>
              <a:srgbClr val="5A6B8C"/>
            </a:solidFill>
            <a:prstDash val="solid"/>
            <a:tailEnd type="triangle"/>
          </a:ln>
        </p:spPr>
        <p:txBody>
          <a:bodyPr/>
          <a:lstStyle/>
          <a:p>
            <a:endParaRPr lang="en-US"/>
          </a:p>
        </p:txBody>
      </p:sp>
      <p:sp>
        <p:nvSpPr>
          <p:cNvPr id="14" name="Text 12"/>
          <p:cNvSpPr txBox="1"/>
          <p:nvPr/>
        </p:nvSpPr>
        <p:spPr>
          <a:xfrm>
            <a:off x="4297680" y="2880360"/>
            <a:ext cx="3566160" cy="822960"/>
          </a:xfrm>
          <a:prstGeom prst="roundRect">
            <a:avLst>
              <a:gd name="adj" fmla="val 10000"/>
            </a:avLst>
          </a:prstGeom>
          <a:solidFill>
            <a:srgbClr val="0F1E3D"/>
          </a:solidFill>
          <a:ln>
            <a:solidFill>
              <a:srgbClr val="0F1E3D"/>
            </a:solidFill>
          </a:ln>
        </p:spPr>
        <p:txBody>
          <a:bodyPr wrap="square" lIns="25400" tIns="25400" rIns="25400" bIns="25400" rtlCol="0" anchor="ctr">
            <a:normAutofit/>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Finacle posts the credit</a:t>
            </a:r>
            <a:endParaRPr lang="en-US" sz="1200" dirty="0"/>
          </a:p>
          <a:p>
            <a:pPr marL="0" indent="0" algn="ctr">
              <a:buNone/>
            </a:pPr>
            <a:r>
              <a:rPr lang="en-US" sz="1200" b="1" dirty="0">
                <a:solidFill>
                  <a:srgbClr val="FFFFFF"/>
                </a:solidFill>
                <a:latin typeface="Calibri" pitchFamily="34" charset="0"/>
                <a:ea typeface="Calibri" pitchFamily="34" charset="-122"/>
                <a:cs typeface="Calibri" pitchFamily="34" charset="-120"/>
              </a:rPr>
              <a:t>customer account + GL “Wire In Credit”</a:t>
            </a:r>
            <a:endParaRPr lang="en-US" sz="1200" dirty="0"/>
          </a:p>
        </p:txBody>
      </p:sp>
      <p:sp>
        <p:nvSpPr>
          <p:cNvPr id="15" name="Shape 13"/>
          <p:cNvSpPr/>
          <p:nvPr/>
        </p:nvSpPr>
        <p:spPr>
          <a:xfrm>
            <a:off x="548640" y="4114800"/>
            <a:ext cx="5440680" cy="1783080"/>
          </a:xfrm>
          <a:prstGeom prst="roundRect">
            <a:avLst>
              <a:gd name="adj" fmla="val 6154"/>
            </a:avLst>
          </a:prstGeom>
          <a:solidFill>
            <a:srgbClr val="FFFFFF"/>
          </a:solidFill>
          <a:ln w="12700">
            <a:solidFill>
              <a:srgbClr val="D8E1F0"/>
            </a:solidFill>
            <a:prstDash val="solid"/>
          </a:ln>
        </p:spPr>
        <p:txBody>
          <a:bodyPr/>
          <a:lstStyle/>
          <a:p>
            <a:endParaRPr lang="en-US"/>
          </a:p>
        </p:txBody>
      </p:sp>
      <p:sp>
        <p:nvSpPr>
          <p:cNvPr id="16" name="Text 14"/>
          <p:cNvSpPr txBox="1"/>
          <p:nvPr/>
        </p:nvSpPr>
        <p:spPr>
          <a:xfrm>
            <a:off x="822960" y="4279392"/>
            <a:ext cx="4892040" cy="365760"/>
          </a:xfrm>
          <a:prstGeom prst="rect">
            <a:avLst/>
          </a:prstGeom>
          <a:noFill/>
          <a:ln/>
        </p:spPr>
        <p:txBody>
          <a:bodyPr wrap="square" lIns="0" tIns="0" rIns="0" bIns="0" rtlCol="0" anchor="ctr"/>
          <a:lstStyle/>
          <a:p>
            <a:pPr marL="0" indent="0">
              <a:buNone/>
            </a:pPr>
            <a:r>
              <a:rPr lang="en-US" sz="1450" b="1" dirty="0">
                <a:solidFill>
                  <a:srgbClr val="18243F"/>
                </a:solidFill>
                <a:latin typeface="Calibri" pitchFamily="34" charset="0"/>
                <a:ea typeface="Calibri" pitchFamily="34" charset="-122"/>
                <a:cs typeface="Calibri" pitchFamily="34" charset="-120"/>
              </a:rPr>
              <a:t>Quality &amp; audit</a:t>
            </a:r>
            <a:endParaRPr lang="en-US" sz="1450" dirty="0"/>
          </a:p>
        </p:txBody>
      </p:sp>
      <p:sp>
        <p:nvSpPr>
          <p:cNvPr id="17" name="Text 15"/>
          <p:cNvSpPr txBox="1"/>
          <p:nvPr/>
        </p:nvSpPr>
        <p:spPr>
          <a:xfrm>
            <a:off x="822960" y="4681728"/>
            <a:ext cx="4892040" cy="1097280"/>
          </a:xfrm>
          <a:prstGeom prst="rect">
            <a:avLst/>
          </a:prstGeom>
          <a:noFill/>
          <a:ln/>
        </p:spPr>
        <p:txBody>
          <a:bodyPr wrap="square" lIns="0" tIns="0" rIns="0" bIns="0" rtlCol="0" anchor="ctr"/>
          <a:lstStyle/>
          <a:p>
            <a:pPr marL="0" indent="0">
              <a:buNone/>
            </a:pPr>
            <a:r>
              <a:rPr lang="en-US" sz="1150" dirty="0">
                <a:solidFill>
                  <a:srgbClr val="5A6B8C"/>
                </a:solidFill>
                <a:latin typeface="Calibri" pitchFamily="34" charset="0"/>
                <a:ea typeface="Calibri" pitchFamily="34" charset="-122"/>
                <a:cs typeface="Calibri" pitchFamily="34" charset="-120"/>
              </a:rPr>
              <a:t>BEST team samples daily against BNY / Fed reports and Finacle postings; evidence in QMS. Full traceability for FFIEC / OCC and SOX.</a:t>
            </a:r>
            <a:endParaRPr lang="en-US" sz="1150" dirty="0"/>
          </a:p>
        </p:txBody>
      </p:sp>
      <p:sp>
        <p:nvSpPr>
          <p:cNvPr id="18" name="Shape 16"/>
          <p:cNvSpPr/>
          <p:nvPr/>
        </p:nvSpPr>
        <p:spPr>
          <a:xfrm>
            <a:off x="6199632" y="4114800"/>
            <a:ext cx="5440680" cy="1783080"/>
          </a:xfrm>
          <a:prstGeom prst="roundRect">
            <a:avLst>
              <a:gd name="adj" fmla="val 6154"/>
            </a:avLst>
          </a:prstGeom>
          <a:solidFill>
            <a:srgbClr val="FFFFFF"/>
          </a:solidFill>
          <a:ln w="12700">
            <a:solidFill>
              <a:srgbClr val="D8E1F0"/>
            </a:solidFill>
            <a:prstDash val="solid"/>
          </a:ln>
        </p:spPr>
        <p:txBody>
          <a:bodyPr/>
          <a:lstStyle/>
          <a:p>
            <a:endParaRPr lang="en-US"/>
          </a:p>
        </p:txBody>
      </p:sp>
      <p:sp>
        <p:nvSpPr>
          <p:cNvPr id="19" name="Text 17"/>
          <p:cNvSpPr txBox="1"/>
          <p:nvPr/>
        </p:nvSpPr>
        <p:spPr>
          <a:xfrm>
            <a:off x="6473952" y="4279392"/>
            <a:ext cx="4892040" cy="365760"/>
          </a:xfrm>
          <a:prstGeom prst="rect">
            <a:avLst/>
          </a:prstGeom>
          <a:noFill/>
          <a:ln/>
        </p:spPr>
        <p:txBody>
          <a:bodyPr wrap="square" lIns="0" tIns="0" rIns="0" bIns="0" rtlCol="0" anchor="ctr"/>
          <a:lstStyle/>
          <a:p>
            <a:pPr marL="0" indent="0">
              <a:buNone/>
            </a:pPr>
            <a:r>
              <a:rPr lang="en-US" sz="1450" b="1" dirty="0">
                <a:solidFill>
                  <a:srgbClr val="18243F"/>
                </a:solidFill>
                <a:latin typeface="Calibri" pitchFamily="34" charset="0"/>
                <a:ea typeface="Calibri" pitchFamily="34" charset="-122"/>
                <a:cs typeface="Calibri" pitchFamily="34" charset="-120"/>
              </a:rPr>
              <a:t>Returns, when needed</a:t>
            </a:r>
            <a:endParaRPr lang="en-US" sz="1450" dirty="0"/>
          </a:p>
        </p:txBody>
      </p:sp>
      <p:sp>
        <p:nvSpPr>
          <p:cNvPr id="20" name="Text 18"/>
          <p:cNvSpPr txBox="1"/>
          <p:nvPr/>
        </p:nvSpPr>
        <p:spPr>
          <a:xfrm>
            <a:off x="6473952" y="4681728"/>
            <a:ext cx="4892040" cy="1097280"/>
          </a:xfrm>
          <a:prstGeom prst="rect">
            <a:avLst/>
          </a:prstGeom>
          <a:noFill/>
          <a:ln/>
        </p:spPr>
        <p:txBody>
          <a:bodyPr wrap="square" lIns="0" tIns="0" rIns="0" bIns="0" rtlCol="0" anchor="ctr"/>
          <a:lstStyle/>
          <a:p>
            <a:pPr marL="0" indent="0">
              <a:buNone/>
            </a:pPr>
            <a:r>
              <a:rPr lang="en-US" sz="1150" dirty="0">
                <a:solidFill>
                  <a:srgbClr val="5A6B8C"/>
                </a:solidFill>
                <a:latin typeface="Calibri" pitchFamily="34" charset="0"/>
                <a:ea typeface="Calibri" pitchFamily="34" charset="-122"/>
                <a:cs typeface="Calibri" pitchFamily="34" charset="-120"/>
              </a:rPr>
              <a:t>Finacle Wire Return Screen → OFAC re-scan → Fedwire 1002/02 same-day (6:45 PM ET cut-off) or 1002/08 prior-day. Post-ISO 20022: pacs.004 returns, camt.056 reversal requests.</a:t>
            </a:r>
            <a:endParaRPr lang="en-US" sz="1150" dirty="0"/>
          </a:p>
        </p:txBody>
      </p:sp>
      <p:pic>
        <p:nvPicPr>
          <p:cNvPr id="21" name="Image 0" descr="C:\Users\vasan\AppData\Local\Temp\claude\D--unfold-git-work-fisOPF\bdc8cb48-9752-4a6c-a524-d1dfc31f95fd\scratchpad/icons/times_C0392B.png"/>
          <p:cNvPicPr>
            <a:picLocks noChangeAspect="1"/>
          </p:cNvPicPr>
          <p:nvPr/>
        </p:nvPicPr>
        <p:blipFill>
          <a:blip r:embed="rId3"/>
          <a:stretch>
            <a:fillRect/>
          </a:stretch>
        </p:blipFill>
        <p:spPr>
          <a:xfrm>
            <a:off x="8778240" y="3017520"/>
            <a:ext cx="310896" cy="310896"/>
          </a:xfrm>
          <a:prstGeom prst="rect">
            <a:avLst/>
          </a:prstGeom>
        </p:spPr>
      </p:pic>
      <p:sp>
        <p:nvSpPr>
          <p:cNvPr id="22" name="Text 19"/>
          <p:cNvSpPr txBox="1"/>
          <p:nvPr/>
        </p:nvSpPr>
        <p:spPr>
          <a:xfrm>
            <a:off x="9144000" y="3017520"/>
            <a:ext cx="2377440" cy="320040"/>
          </a:xfrm>
          <a:prstGeom prst="rect">
            <a:avLst/>
          </a:prstGeom>
          <a:noFill/>
          <a:ln/>
        </p:spPr>
        <p:txBody>
          <a:bodyPr wrap="square" lIns="0" tIns="0" rIns="0" bIns="0" rtlCol="0" anchor="ctr"/>
          <a:lstStyle/>
          <a:p>
            <a:pPr marL="0" indent="0">
              <a:buNone/>
            </a:pPr>
            <a:r>
              <a:rPr lang="en-US" sz="1250" b="1" dirty="0">
                <a:solidFill>
                  <a:srgbClr val="C0392B"/>
                </a:solidFill>
                <a:latin typeface="Calibri" pitchFamily="34" charset="0"/>
                <a:ea typeface="Calibri" pitchFamily="34" charset="-122"/>
                <a:cs typeface="Calibri" pitchFamily="34" charset="-120"/>
              </a:rPr>
              <a:t>OPF: not involved</a:t>
            </a:r>
            <a:endParaRPr lang="en-US" sz="1250" dirty="0"/>
          </a:p>
        </p:txBody>
      </p:sp>
      <p:sp>
        <p:nvSpPr>
          <p:cNvPr id="23" name="Text 20"/>
          <p:cNvSpPr txBox="1"/>
          <p:nvPr/>
        </p:nvSpPr>
        <p:spPr>
          <a:xfrm>
            <a:off x="548640" y="6035040"/>
            <a:ext cx="11064240" cy="365760"/>
          </a:xfrm>
          <a:prstGeom prst="rect">
            <a:avLst/>
          </a:prstGeom>
          <a:noFill/>
          <a:ln/>
        </p:spPr>
        <p:txBody>
          <a:bodyPr wrap="square" lIns="0" tIns="0" rIns="0" bIns="0" rtlCol="0" anchor="ctr"/>
          <a:lstStyle/>
          <a:p>
            <a:pPr marL="0" indent="0">
              <a:buNone/>
            </a:pPr>
            <a:r>
              <a:rPr lang="en-US" sz="1200" i="1" dirty="0">
                <a:solidFill>
                  <a:srgbClr val="5A6B8C"/>
                </a:solidFill>
                <a:latin typeface="Calibri" pitchFamily="34" charset="0"/>
                <a:ea typeface="Calibri" pitchFamily="34" charset="-122"/>
                <a:cs typeface="Calibri" pitchFamily="34" charset="-120"/>
              </a:rPr>
              <a:t>Inbound is file/report-driven today — a known modernization opportunity (Capital One's inbound is event-driven over FedLine Direct).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E3D"/>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1064240" cy="64008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Why OPF matters to us</a:t>
            </a:r>
            <a:endParaRPr lang="en-US" sz="3000" dirty="0"/>
          </a:p>
        </p:txBody>
      </p:sp>
      <p:sp>
        <p:nvSpPr>
          <p:cNvPr id="3" name="Shape 1"/>
          <p:cNvSpPr/>
          <p:nvPr/>
        </p:nvSpPr>
        <p:spPr>
          <a:xfrm>
            <a:off x="822960" y="1234440"/>
            <a:ext cx="512064" cy="512064"/>
          </a:xfrm>
          <a:prstGeom prst="ellipse">
            <a:avLst/>
          </a:prstGeom>
          <a:solidFill>
            <a:srgbClr val="FF6000"/>
          </a:solidFill>
          <a:ln w="12700">
            <a:solidFill>
              <a:srgbClr val="FF6000"/>
            </a:solidFill>
            <a:prstDash val="solid"/>
          </a:ln>
        </p:spPr>
        <p:txBody>
          <a:bodyPr/>
          <a:lstStyle/>
          <a:p>
            <a:endParaRPr lang="en-US"/>
          </a:p>
        </p:txBody>
      </p:sp>
      <p:pic>
        <p:nvPicPr>
          <p:cNvPr id="4" name="Image 0" descr="C:\Users\vasan\AppData\Local\Temp\claude\D--unfold-git-work-fisOPF\bdc8cb48-9752-4a6c-a524-d1dfc31f95fd\scratchpad/icons/bolt_FFFFFF.png"/>
          <p:cNvPicPr>
            <a:picLocks noChangeAspect="1"/>
          </p:cNvPicPr>
          <p:nvPr/>
        </p:nvPicPr>
        <p:blipFill>
          <a:blip r:embed="rId3"/>
          <a:stretch>
            <a:fillRect/>
          </a:stretch>
        </p:blipFill>
        <p:spPr>
          <a:xfrm>
            <a:off x="956097" y="1367577"/>
            <a:ext cx="245791" cy="245791"/>
          </a:xfrm>
          <a:prstGeom prst="rect">
            <a:avLst/>
          </a:prstGeom>
        </p:spPr>
      </p:pic>
      <p:sp>
        <p:nvSpPr>
          <p:cNvPr id="5" name="Text 2"/>
          <p:cNvSpPr txBox="1"/>
          <p:nvPr/>
        </p:nvSpPr>
        <p:spPr>
          <a:xfrm>
            <a:off x="1554480" y="1216152"/>
            <a:ext cx="3108960" cy="5029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ISO 20022 native</a:t>
            </a:r>
            <a:endParaRPr lang="en-US" sz="1600" dirty="0"/>
          </a:p>
        </p:txBody>
      </p:sp>
      <p:sp>
        <p:nvSpPr>
          <p:cNvPr id="6" name="Text 3"/>
          <p:cNvSpPr txBox="1"/>
          <p:nvPr/>
        </p:nvSpPr>
        <p:spPr>
          <a:xfrm>
            <a:off x="4754880" y="1179576"/>
            <a:ext cx="6766560" cy="658368"/>
          </a:xfrm>
          <a:prstGeom prst="rect">
            <a:avLst/>
          </a:prstGeom>
          <a:noFill/>
          <a:ln/>
        </p:spPr>
        <p:txBody>
          <a:bodyPr wrap="square" lIns="0" tIns="0" rIns="0" bIns="0" rtlCol="0" anchor="ctr"/>
          <a:lstStyle/>
          <a:p>
            <a:pPr marL="0" indent="0">
              <a:buNone/>
            </a:pPr>
            <a:r>
              <a:rPr lang="en-US" sz="1250" dirty="0">
                <a:solidFill>
                  <a:srgbClr val="C9D9F5"/>
                </a:solidFill>
                <a:latin typeface="Calibri" pitchFamily="34" charset="0"/>
                <a:ea typeface="Calibri" pitchFamily="34" charset="-122"/>
                <a:cs typeface="Calibri" pitchFamily="34" charset="-120"/>
              </a:rPr>
              <a:t>Fedwire migrated to ISO 20022 in July 2025; OPF has carried strong ISO support since 2022 — we inherit readiness instead of building it.</a:t>
            </a:r>
            <a:endParaRPr lang="en-US" sz="1250" dirty="0"/>
          </a:p>
        </p:txBody>
      </p:sp>
      <p:sp>
        <p:nvSpPr>
          <p:cNvPr id="7" name="Shape 4"/>
          <p:cNvSpPr/>
          <p:nvPr/>
        </p:nvSpPr>
        <p:spPr>
          <a:xfrm>
            <a:off x="822960" y="2130552"/>
            <a:ext cx="512064" cy="512064"/>
          </a:xfrm>
          <a:prstGeom prst="ellipse">
            <a:avLst/>
          </a:prstGeom>
          <a:solidFill>
            <a:srgbClr val="FF6000"/>
          </a:solidFill>
          <a:ln w="12700">
            <a:solidFill>
              <a:srgbClr val="FF6000"/>
            </a:solidFill>
            <a:prstDash val="solid"/>
          </a:ln>
        </p:spPr>
        <p:txBody>
          <a:bodyPr/>
          <a:lstStyle/>
          <a:p>
            <a:endParaRPr lang="en-US"/>
          </a:p>
        </p:txBody>
      </p:sp>
      <p:pic>
        <p:nvPicPr>
          <p:cNvPr id="8" name="Image 1" descr="C:\Users\vasan\AppData\Local\Temp\claude\D--unfold-git-work-fisOPF\bdc8cb48-9752-4a6c-a524-d1dfc31f95fd\scratchpad/icons/shield_FFFFFF.png"/>
          <p:cNvPicPr>
            <a:picLocks noChangeAspect="1"/>
          </p:cNvPicPr>
          <p:nvPr/>
        </p:nvPicPr>
        <p:blipFill>
          <a:blip r:embed="rId4"/>
          <a:stretch>
            <a:fillRect/>
          </a:stretch>
        </p:blipFill>
        <p:spPr>
          <a:xfrm>
            <a:off x="956097" y="2263689"/>
            <a:ext cx="245791" cy="245791"/>
          </a:xfrm>
          <a:prstGeom prst="rect">
            <a:avLst/>
          </a:prstGeom>
        </p:spPr>
      </p:pic>
      <p:sp>
        <p:nvSpPr>
          <p:cNvPr id="9" name="Text 5"/>
          <p:cNvSpPr txBox="1"/>
          <p:nvPr/>
        </p:nvSpPr>
        <p:spPr>
          <a:xfrm>
            <a:off x="1554480" y="2112264"/>
            <a:ext cx="3108960" cy="5029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Compliance built in</a:t>
            </a:r>
            <a:endParaRPr lang="en-US" sz="1600" dirty="0"/>
          </a:p>
        </p:txBody>
      </p:sp>
      <p:sp>
        <p:nvSpPr>
          <p:cNvPr id="10" name="Text 6"/>
          <p:cNvSpPr txBox="1"/>
          <p:nvPr/>
        </p:nvSpPr>
        <p:spPr>
          <a:xfrm>
            <a:off x="4754880" y="2075688"/>
            <a:ext cx="6766560" cy="658368"/>
          </a:xfrm>
          <a:prstGeom prst="rect">
            <a:avLst/>
          </a:prstGeom>
          <a:noFill/>
          <a:ln/>
        </p:spPr>
        <p:txBody>
          <a:bodyPr wrap="square" lIns="0" tIns="0" rIns="0" bIns="0" rtlCol="0" anchor="ctr"/>
          <a:lstStyle/>
          <a:p>
            <a:pPr marL="0" indent="0">
              <a:buNone/>
            </a:pPr>
            <a:r>
              <a:rPr lang="en-US" sz="1250" dirty="0">
                <a:solidFill>
                  <a:srgbClr val="C9D9F5"/>
                </a:solidFill>
                <a:latin typeface="Calibri" pitchFamily="34" charset="0"/>
                <a:ea typeface="Calibri" pitchFamily="34" charset="-122"/>
                <a:cs typeface="Calibri" pitchFamily="34" charset="-120"/>
              </a:rPr>
              <a:t>OFAC / AML screening, cut-offs, duplicate checks, and audit trails are platform features, not custom code we maintain.</a:t>
            </a:r>
            <a:endParaRPr lang="en-US" sz="1250" dirty="0"/>
          </a:p>
        </p:txBody>
      </p:sp>
      <p:sp>
        <p:nvSpPr>
          <p:cNvPr id="11" name="Shape 7"/>
          <p:cNvSpPr/>
          <p:nvPr/>
        </p:nvSpPr>
        <p:spPr>
          <a:xfrm>
            <a:off x="822960" y="3026664"/>
            <a:ext cx="512064" cy="512064"/>
          </a:xfrm>
          <a:prstGeom prst="ellipse">
            <a:avLst/>
          </a:prstGeom>
          <a:solidFill>
            <a:srgbClr val="FF6000"/>
          </a:solidFill>
          <a:ln w="12700">
            <a:solidFill>
              <a:srgbClr val="FF6000"/>
            </a:solidFill>
            <a:prstDash val="solid"/>
          </a:ln>
        </p:spPr>
        <p:txBody>
          <a:bodyPr/>
          <a:lstStyle/>
          <a:p>
            <a:endParaRPr lang="en-US"/>
          </a:p>
        </p:txBody>
      </p:sp>
      <p:pic>
        <p:nvPicPr>
          <p:cNvPr id="12" name="Image 2" descr="C:\Users\vasan\AppData\Local\Temp\claude\D--unfold-git-work-fisOPF\bdc8cb48-9752-4a6c-a524-d1dfc31f95fd\scratchpad/icons/sitemap_FFFFFF.png"/>
          <p:cNvPicPr>
            <a:picLocks noChangeAspect="1"/>
          </p:cNvPicPr>
          <p:nvPr/>
        </p:nvPicPr>
        <p:blipFill>
          <a:blip r:embed="rId5"/>
          <a:stretch>
            <a:fillRect/>
          </a:stretch>
        </p:blipFill>
        <p:spPr>
          <a:xfrm>
            <a:off x="956097" y="3159801"/>
            <a:ext cx="245791" cy="245791"/>
          </a:xfrm>
          <a:prstGeom prst="rect">
            <a:avLst/>
          </a:prstGeom>
        </p:spPr>
      </p:pic>
      <p:sp>
        <p:nvSpPr>
          <p:cNvPr id="13" name="Text 8"/>
          <p:cNvSpPr txBox="1"/>
          <p:nvPr/>
        </p:nvSpPr>
        <p:spPr>
          <a:xfrm>
            <a:off x="1554480" y="3008376"/>
            <a:ext cx="3108960" cy="5029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No home-grown pipelines</a:t>
            </a:r>
            <a:endParaRPr lang="en-US" sz="1600" dirty="0"/>
          </a:p>
        </p:txBody>
      </p:sp>
      <p:sp>
        <p:nvSpPr>
          <p:cNvPr id="14" name="Text 9"/>
          <p:cNvSpPr txBox="1"/>
          <p:nvPr/>
        </p:nvSpPr>
        <p:spPr>
          <a:xfrm>
            <a:off x="4754880" y="2971800"/>
            <a:ext cx="6766560" cy="658368"/>
          </a:xfrm>
          <a:prstGeom prst="rect">
            <a:avLst/>
          </a:prstGeom>
          <a:noFill/>
          <a:ln/>
        </p:spPr>
        <p:txBody>
          <a:bodyPr wrap="square" lIns="0" tIns="0" rIns="0" bIns="0" rtlCol="0" anchor="ctr"/>
          <a:lstStyle/>
          <a:p>
            <a:pPr marL="0" indent="0">
              <a:buNone/>
            </a:pPr>
            <a:r>
              <a:rPr lang="en-US" sz="1250" dirty="0">
                <a:solidFill>
                  <a:srgbClr val="C9D9F5"/>
                </a:solidFill>
                <a:latin typeface="Calibri" pitchFamily="34" charset="0"/>
                <a:ea typeface="Calibri" pitchFamily="34" charset="-122"/>
                <a:cs typeface="Calibri" pitchFamily="34" charset="-120"/>
              </a:rPr>
              <a:t>OPF is the scalable orchestration layer — we never build or certify our own Fedwire / CHIPS / SWIFT connectivity.</a:t>
            </a:r>
            <a:endParaRPr lang="en-US" sz="1250" dirty="0"/>
          </a:p>
        </p:txBody>
      </p:sp>
      <p:sp>
        <p:nvSpPr>
          <p:cNvPr id="15" name="Shape 10"/>
          <p:cNvSpPr/>
          <p:nvPr/>
        </p:nvSpPr>
        <p:spPr>
          <a:xfrm>
            <a:off x="822960" y="3922776"/>
            <a:ext cx="512064" cy="512064"/>
          </a:xfrm>
          <a:prstGeom prst="ellipse">
            <a:avLst/>
          </a:prstGeom>
          <a:solidFill>
            <a:srgbClr val="FF6000"/>
          </a:solidFill>
          <a:ln w="12700">
            <a:solidFill>
              <a:srgbClr val="FF6000"/>
            </a:solidFill>
            <a:prstDash val="solid"/>
          </a:ln>
        </p:spPr>
        <p:txBody>
          <a:bodyPr/>
          <a:lstStyle/>
          <a:p>
            <a:endParaRPr lang="en-US"/>
          </a:p>
        </p:txBody>
      </p:sp>
      <p:pic>
        <p:nvPicPr>
          <p:cNvPr id="16" name="Image 3" descr="C:\Users\vasan\AppData\Local\Temp\claude\D--unfold-git-work-fisOPF\bdc8cb48-9752-4a6c-a524-d1dfc31f95fd\scratchpad/icons/handshake_FFFFFF.png"/>
          <p:cNvPicPr>
            <a:picLocks noChangeAspect="1"/>
          </p:cNvPicPr>
          <p:nvPr/>
        </p:nvPicPr>
        <p:blipFill>
          <a:blip r:embed="rId6"/>
          <a:stretch>
            <a:fillRect/>
          </a:stretch>
        </p:blipFill>
        <p:spPr>
          <a:xfrm>
            <a:off x="956097" y="4055913"/>
            <a:ext cx="245791" cy="245791"/>
          </a:xfrm>
          <a:prstGeom prst="rect">
            <a:avLst/>
          </a:prstGeom>
        </p:spPr>
      </p:pic>
      <p:sp>
        <p:nvSpPr>
          <p:cNvPr id="17" name="Text 11"/>
          <p:cNvSpPr txBox="1"/>
          <p:nvPr/>
        </p:nvSpPr>
        <p:spPr>
          <a:xfrm>
            <a:off x="1554480" y="3904488"/>
            <a:ext cx="3108960" cy="5029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Merger-friendly</a:t>
            </a:r>
            <a:endParaRPr lang="en-US" sz="1600" dirty="0"/>
          </a:p>
        </p:txBody>
      </p:sp>
      <p:sp>
        <p:nvSpPr>
          <p:cNvPr id="18" name="Text 12"/>
          <p:cNvSpPr txBox="1"/>
          <p:nvPr/>
        </p:nvSpPr>
        <p:spPr>
          <a:xfrm>
            <a:off x="4754880" y="3867912"/>
            <a:ext cx="6766560" cy="658368"/>
          </a:xfrm>
          <a:prstGeom prst="rect">
            <a:avLst/>
          </a:prstGeom>
          <a:noFill/>
          <a:ln/>
        </p:spPr>
        <p:txBody>
          <a:bodyPr wrap="square" lIns="0" tIns="0" rIns="0" bIns="0" rtlCol="0" anchor="ctr"/>
          <a:lstStyle/>
          <a:p>
            <a:pPr marL="0" indent="0">
              <a:buNone/>
            </a:pPr>
            <a:r>
              <a:rPr lang="en-US" sz="1250" dirty="0">
                <a:solidFill>
                  <a:srgbClr val="C9D9F5"/>
                </a:solidFill>
                <a:latin typeface="Calibri" pitchFamily="34" charset="0"/>
                <a:ea typeface="Calibri" pitchFamily="34" charset="-122"/>
                <a:cs typeface="Calibri" pitchFamily="34" charset="-120"/>
              </a:rPr>
              <a:t>FIS platforms are widely used and stable — a lower-risk anchor while Discover and Capital One payment stacks converge.</a:t>
            </a:r>
            <a:endParaRPr lang="en-US" sz="1250" dirty="0"/>
          </a:p>
        </p:txBody>
      </p:sp>
      <p:sp>
        <p:nvSpPr>
          <p:cNvPr id="19" name="Shape 13"/>
          <p:cNvSpPr/>
          <p:nvPr/>
        </p:nvSpPr>
        <p:spPr>
          <a:xfrm>
            <a:off x="822960" y="4818888"/>
            <a:ext cx="512064" cy="512064"/>
          </a:xfrm>
          <a:prstGeom prst="ellipse">
            <a:avLst/>
          </a:prstGeom>
          <a:solidFill>
            <a:srgbClr val="FF6000"/>
          </a:solidFill>
          <a:ln w="12700">
            <a:solidFill>
              <a:srgbClr val="FF6000"/>
            </a:solidFill>
            <a:prstDash val="solid"/>
          </a:ln>
        </p:spPr>
        <p:txBody>
          <a:bodyPr/>
          <a:lstStyle/>
          <a:p>
            <a:endParaRPr lang="en-US"/>
          </a:p>
        </p:txBody>
      </p:sp>
      <p:pic>
        <p:nvPicPr>
          <p:cNvPr id="20" name="Image 4" descr="C:\Users\vasan\AppData\Local\Temp\claude\D--unfold-git-work-fisOPF\bdc8cb48-9752-4a6c-a524-d1dfc31f95fd\scratchpad/icons/layers_FFFFFF.png"/>
          <p:cNvPicPr>
            <a:picLocks noChangeAspect="1"/>
          </p:cNvPicPr>
          <p:nvPr/>
        </p:nvPicPr>
        <p:blipFill>
          <a:blip r:embed="rId7"/>
          <a:stretch>
            <a:fillRect/>
          </a:stretch>
        </p:blipFill>
        <p:spPr>
          <a:xfrm>
            <a:off x="956097" y="4952025"/>
            <a:ext cx="245791" cy="245791"/>
          </a:xfrm>
          <a:prstGeom prst="rect">
            <a:avLst/>
          </a:prstGeom>
        </p:spPr>
      </p:pic>
      <p:sp>
        <p:nvSpPr>
          <p:cNvPr id="21" name="Text 14"/>
          <p:cNvSpPr txBox="1"/>
          <p:nvPr/>
        </p:nvSpPr>
        <p:spPr>
          <a:xfrm>
            <a:off x="1554480" y="4800600"/>
            <a:ext cx="3108960" cy="50292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Room to centralize</a:t>
            </a:r>
            <a:endParaRPr lang="en-US" sz="1600" dirty="0"/>
          </a:p>
        </p:txBody>
      </p:sp>
      <p:sp>
        <p:nvSpPr>
          <p:cNvPr id="22" name="Text 15"/>
          <p:cNvSpPr txBox="1"/>
          <p:nvPr/>
        </p:nvSpPr>
        <p:spPr>
          <a:xfrm>
            <a:off x="4754880" y="4764024"/>
            <a:ext cx="6766560" cy="658368"/>
          </a:xfrm>
          <a:prstGeom prst="rect">
            <a:avLst/>
          </a:prstGeom>
          <a:noFill/>
          <a:ln/>
        </p:spPr>
        <p:txBody>
          <a:bodyPr wrap="square" lIns="0" tIns="0" rIns="0" bIns="0" rtlCol="0" anchor="ctr"/>
          <a:lstStyle/>
          <a:p>
            <a:pPr marL="0" indent="0">
              <a:buNone/>
            </a:pPr>
            <a:r>
              <a:rPr lang="en-US" sz="1250" dirty="0">
                <a:solidFill>
                  <a:srgbClr val="C9D9F5"/>
                </a:solidFill>
                <a:latin typeface="Calibri" pitchFamily="34" charset="0"/>
                <a:ea typeface="Calibri" pitchFamily="34" charset="-122"/>
                <a:cs typeface="Calibri" pitchFamily="34" charset="-120"/>
              </a:rPr>
              <a:t>One platform can carry wires, ACH, RTP, SWIFT, and internal transfers — today we use it for wires; the runway is there.</a:t>
            </a:r>
            <a:endParaRPr lang="en-US" sz="1250" dirty="0"/>
          </a:p>
        </p:txBody>
      </p:sp>
      <p:sp>
        <p:nvSpPr>
          <p:cNvPr id="23" name="Text 16"/>
          <p:cNvSpPr txBox="1"/>
          <p:nvPr/>
        </p:nvSpPr>
        <p:spPr>
          <a:xfrm>
            <a:off x="822960" y="5897880"/>
            <a:ext cx="10515600" cy="548640"/>
          </a:xfrm>
          <a:prstGeom prst="rect">
            <a:avLst/>
          </a:prstGeom>
          <a:noFill/>
          <a:ln/>
        </p:spPr>
        <p:txBody>
          <a:bodyPr wrap="square" lIns="0" tIns="0" rIns="0" bIns="0" rtlCol="0" anchor="ctr"/>
          <a:lstStyle/>
          <a:p>
            <a:pPr marL="0" indent="0">
              <a:buNone/>
            </a:pPr>
            <a:r>
              <a:rPr lang="en-US" sz="1600" b="1" i="1" dirty="0">
                <a:solidFill>
                  <a:srgbClr val="FF6000"/>
                </a:solidFill>
                <a:latin typeface="Calibri" pitchFamily="34" charset="0"/>
                <a:ea typeface="Calibri" pitchFamily="34" charset="-122"/>
                <a:cs typeface="Calibri" pitchFamily="34" charset="-120"/>
              </a:rPr>
              <a:t>One engine, every outbound wire — understand OPF and you understand how Discover moves money.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292608"/>
            <a:ext cx="11064240" cy="640080"/>
          </a:xfrm>
          <a:prstGeom prst="rect">
            <a:avLst/>
          </a:prstGeom>
          <a:noFill/>
          <a:ln/>
        </p:spPr>
        <p:txBody>
          <a:bodyPr wrap="square" lIns="0" tIns="0" rIns="0" bIns="0" rtlCol="0" anchor="ctr"/>
          <a:lstStyle/>
          <a:p>
            <a:pPr marL="0" indent="0">
              <a:buNone/>
            </a:pPr>
            <a:r>
              <a:rPr lang="en-US" sz="3000" b="1" dirty="0">
                <a:solidFill>
                  <a:srgbClr val="18243F"/>
                </a:solidFill>
                <a:latin typeface="Calibri" pitchFamily="34" charset="0"/>
                <a:ea typeface="Calibri" pitchFamily="34" charset="-122"/>
                <a:cs typeface="Calibri" pitchFamily="34" charset="-120"/>
              </a:rPr>
              <a:t>Appendix: who's who in the wire stack</a:t>
            </a:r>
            <a:endParaRPr lang="en-US" sz="3000" dirty="0"/>
          </a:p>
        </p:txBody>
      </p:sp>
      <p:sp>
        <p:nvSpPr>
          <p:cNvPr id="3" name="Shape 1"/>
          <p:cNvSpPr/>
          <p:nvPr/>
        </p:nvSpPr>
        <p:spPr>
          <a:xfrm>
            <a:off x="548640" y="1316736"/>
            <a:ext cx="5440680" cy="566928"/>
          </a:xfrm>
          <a:prstGeom prst="roundRect">
            <a:avLst>
              <a:gd name="adj" fmla="val 9677"/>
            </a:avLst>
          </a:prstGeom>
          <a:solidFill>
            <a:srgbClr val="EEF2F9"/>
          </a:solidFill>
          <a:ln w="12700">
            <a:solidFill>
              <a:srgbClr val="EEF2F9"/>
            </a:solidFill>
            <a:prstDash val="solid"/>
          </a:ln>
        </p:spPr>
        <p:txBody>
          <a:bodyPr/>
          <a:lstStyle/>
          <a:p>
            <a:endParaRPr lang="en-US"/>
          </a:p>
        </p:txBody>
      </p:sp>
      <p:sp>
        <p:nvSpPr>
          <p:cNvPr id="4" name="Text 2"/>
          <p:cNvSpPr txBox="1"/>
          <p:nvPr/>
        </p:nvSpPr>
        <p:spPr>
          <a:xfrm>
            <a:off x="731520" y="1371600"/>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FIS OPF</a:t>
            </a:r>
            <a:endParaRPr lang="en-US" sz="1150" dirty="0"/>
          </a:p>
        </p:txBody>
      </p:sp>
      <p:sp>
        <p:nvSpPr>
          <p:cNvPr id="5" name="Text 3"/>
          <p:cNvSpPr txBox="1"/>
          <p:nvPr/>
        </p:nvSpPr>
        <p:spPr>
          <a:xfrm>
            <a:off x="2560320" y="1371600"/>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Open Payments Framework — outbound wire engine (ex-Quantum)</a:t>
            </a:r>
            <a:endParaRPr lang="en-US" sz="1050" dirty="0"/>
          </a:p>
        </p:txBody>
      </p:sp>
      <p:sp>
        <p:nvSpPr>
          <p:cNvPr id="6" name="Text 4"/>
          <p:cNvSpPr txBox="1"/>
          <p:nvPr/>
        </p:nvSpPr>
        <p:spPr>
          <a:xfrm>
            <a:off x="731520" y="1975104"/>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Wires-App</a:t>
            </a:r>
            <a:endParaRPr lang="en-US" sz="1150" dirty="0"/>
          </a:p>
        </p:txBody>
      </p:sp>
      <p:sp>
        <p:nvSpPr>
          <p:cNvPr id="7" name="Text 5"/>
          <p:cNvSpPr txBox="1"/>
          <p:nvPr/>
        </p:nvSpPr>
        <p:spPr>
          <a:xfrm>
            <a:off x="2560320" y="1975104"/>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Customer-facing wires UI / APIs</a:t>
            </a:r>
            <a:endParaRPr lang="en-US" sz="1050" dirty="0"/>
          </a:p>
        </p:txBody>
      </p:sp>
      <p:sp>
        <p:nvSpPr>
          <p:cNvPr id="8" name="Shape 6"/>
          <p:cNvSpPr/>
          <p:nvPr/>
        </p:nvSpPr>
        <p:spPr>
          <a:xfrm>
            <a:off x="548640" y="2523744"/>
            <a:ext cx="5440680" cy="566928"/>
          </a:xfrm>
          <a:prstGeom prst="roundRect">
            <a:avLst>
              <a:gd name="adj" fmla="val 9677"/>
            </a:avLst>
          </a:prstGeom>
          <a:solidFill>
            <a:srgbClr val="EEF2F9"/>
          </a:solidFill>
          <a:ln w="12700">
            <a:solidFill>
              <a:srgbClr val="EEF2F9"/>
            </a:solidFill>
            <a:prstDash val="solid"/>
          </a:ln>
        </p:spPr>
        <p:txBody>
          <a:bodyPr/>
          <a:lstStyle/>
          <a:p>
            <a:endParaRPr lang="en-US"/>
          </a:p>
        </p:txBody>
      </p:sp>
      <p:sp>
        <p:nvSpPr>
          <p:cNvPr id="9" name="Text 7"/>
          <p:cNvSpPr txBox="1"/>
          <p:nvPr/>
        </p:nvSpPr>
        <p:spPr>
          <a:xfrm>
            <a:off x="731520" y="2578608"/>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Atlas</a:t>
            </a:r>
            <a:endParaRPr lang="en-US" sz="1150" dirty="0"/>
          </a:p>
        </p:txBody>
      </p:sp>
      <p:sp>
        <p:nvSpPr>
          <p:cNvPr id="10" name="Text 8"/>
          <p:cNvSpPr txBox="1"/>
          <p:nvPr/>
        </p:nvSpPr>
        <p:spPr>
          <a:xfrm>
            <a:off x="2560320" y="2578608"/>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Agent processing for paper / fax / mail wires</a:t>
            </a:r>
            <a:endParaRPr lang="en-US" sz="1050" dirty="0"/>
          </a:p>
        </p:txBody>
      </p:sp>
      <p:sp>
        <p:nvSpPr>
          <p:cNvPr id="11" name="Text 9"/>
          <p:cNvSpPr txBox="1"/>
          <p:nvPr/>
        </p:nvSpPr>
        <p:spPr>
          <a:xfrm>
            <a:off x="731520" y="3182112"/>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IBM BPM (Almanac)</a:t>
            </a:r>
            <a:endParaRPr lang="en-US" sz="1150" dirty="0"/>
          </a:p>
        </p:txBody>
      </p:sp>
      <p:sp>
        <p:nvSpPr>
          <p:cNvPr id="12" name="Text 10"/>
          <p:cNvSpPr txBox="1"/>
          <p:nvPr/>
        </p:nvSpPr>
        <p:spPr>
          <a:xfrm>
            <a:off x="2560320" y="3182112"/>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Wire case management &amp; dual approvals</a:t>
            </a:r>
            <a:endParaRPr lang="en-US" sz="1050" dirty="0"/>
          </a:p>
        </p:txBody>
      </p:sp>
      <p:sp>
        <p:nvSpPr>
          <p:cNvPr id="13" name="Shape 11"/>
          <p:cNvSpPr/>
          <p:nvPr/>
        </p:nvSpPr>
        <p:spPr>
          <a:xfrm>
            <a:off x="548640" y="3730752"/>
            <a:ext cx="5440680" cy="566928"/>
          </a:xfrm>
          <a:prstGeom prst="roundRect">
            <a:avLst>
              <a:gd name="adj" fmla="val 9677"/>
            </a:avLst>
          </a:prstGeom>
          <a:solidFill>
            <a:srgbClr val="EEF2F9"/>
          </a:solidFill>
          <a:ln w="12700">
            <a:solidFill>
              <a:srgbClr val="EEF2F9"/>
            </a:solidFill>
            <a:prstDash val="solid"/>
          </a:ln>
        </p:spPr>
        <p:txBody>
          <a:bodyPr/>
          <a:lstStyle/>
          <a:p>
            <a:endParaRPr lang="en-US"/>
          </a:p>
        </p:txBody>
      </p:sp>
      <p:sp>
        <p:nvSpPr>
          <p:cNvPr id="14" name="Text 12"/>
          <p:cNvSpPr txBox="1"/>
          <p:nvPr/>
        </p:nvSpPr>
        <p:spPr>
          <a:xfrm>
            <a:off x="731520" y="3785616"/>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Wires Batch</a:t>
            </a:r>
            <a:endParaRPr lang="en-US" sz="1150" dirty="0"/>
          </a:p>
        </p:txBody>
      </p:sp>
      <p:sp>
        <p:nvSpPr>
          <p:cNvPr id="15" name="Text 13"/>
          <p:cNvSpPr txBox="1"/>
          <p:nvPr/>
        </p:nvSpPr>
        <p:spPr>
          <a:xfrm>
            <a:off x="2560320" y="3785616"/>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Spring Batch app: cases → OPF files; statuses → BPM</a:t>
            </a:r>
            <a:endParaRPr lang="en-US" sz="1050" dirty="0"/>
          </a:p>
        </p:txBody>
      </p:sp>
      <p:sp>
        <p:nvSpPr>
          <p:cNvPr id="16" name="Text 14"/>
          <p:cNvSpPr txBox="1"/>
          <p:nvPr/>
        </p:nvSpPr>
        <p:spPr>
          <a:xfrm>
            <a:off x="731520" y="4389120"/>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AutoSys</a:t>
            </a:r>
            <a:endParaRPr lang="en-US" sz="1150" dirty="0"/>
          </a:p>
        </p:txBody>
      </p:sp>
      <p:sp>
        <p:nvSpPr>
          <p:cNvPr id="17" name="Text 15"/>
          <p:cNvSpPr txBox="1"/>
          <p:nvPr/>
        </p:nvSpPr>
        <p:spPr>
          <a:xfrm>
            <a:off x="2560320" y="4389120"/>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Job scheduler: request / response / file-watch jobs</a:t>
            </a:r>
            <a:endParaRPr lang="en-US" sz="1050" dirty="0"/>
          </a:p>
        </p:txBody>
      </p:sp>
      <p:sp>
        <p:nvSpPr>
          <p:cNvPr id="18" name="Shape 16"/>
          <p:cNvSpPr/>
          <p:nvPr/>
        </p:nvSpPr>
        <p:spPr>
          <a:xfrm>
            <a:off x="548640" y="4937760"/>
            <a:ext cx="5440680" cy="566928"/>
          </a:xfrm>
          <a:prstGeom prst="roundRect">
            <a:avLst>
              <a:gd name="adj" fmla="val 9677"/>
            </a:avLst>
          </a:prstGeom>
          <a:solidFill>
            <a:srgbClr val="EEF2F9"/>
          </a:solidFill>
          <a:ln w="12700">
            <a:solidFill>
              <a:srgbClr val="EEF2F9"/>
            </a:solidFill>
            <a:prstDash val="solid"/>
          </a:ln>
        </p:spPr>
        <p:txBody>
          <a:bodyPr/>
          <a:lstStyle/>
          <a:p>
            <a:endParaRPr lang="en-US"/>
          </a:p>
        </p:txBody>
      </p:sp>
      <p:sp>
        <p:nvSpPr>
          <p:cNvPr id="19" name="Text 17"/>
          <p:cNvSpPr txBox="1"/>
          <p:nvPr/>
        </p:nvSpPr>
        <p:spPr>
          <a:xfrm>
            <a:off x="731520" y="4992624"/>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DFTP</a:t>
            </a:r>
            <a:endParaRPr lang="en-US" sz="1150" dirty="0"/>
          </a:p>
        </p:txBody>
      </p:sp>
      <p:sp>
        <p:nvSpPr>
          <p:cNvPr id="20" name="Text 18"/>
          <p:cNvSpPr txBox="1"/>
          <p:nvPr/>
        </p:nvSpPr>
        <p:spPr>
          <a:xfrm>
            <a:off x="2560320" y="4992624"/>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In-house enterprise file transmission (SFTP-grade)</a:t>
            </a:r>
            <a:endParaRPr lang="en-US" sz="1050" dirty="0"/>
          </a:p>
        </p:txBody>
      </p:sp>
      <p:sp>
        <p:nvSpPr>
          <p:cNvPr id="21" name="Text 19"/>
          <p:cNvSpPr txBox="1"/>
          <p:nvPr/>
        </p:nvSpPr>
        <p:spPr>
          <a:xfrm>
            <a:off x="731520" y="5596128"/>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Pep+</a:t>
            </a:r>
            <a:endParaRPr lang="en-US" sz="1150" dirty="0"/>
          </a:p>
        </p:txBody>
      </p:sp>
      <p:sp>
        <p:nvSpPr>
          <p:cNvPr id="22" name="Text 20"/>
          <p:cNvSpPr txBox="1"/>
          <p:nvPr/>
        </p:nvSpPr>
        <p:spPr>
          <a:xfrm>
            <a:off x="2560320" y="5596128"/>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FIS mainframe hub relaying files toward OPF</a:t>
            </a:r>
            <a:endParaRPr lang="en-US" sz="1050" dirty="0"/>
          </a:p>
        </p:txBody>
      </p:sp>
      <p:sp>
        <p:nvSpPr>
          <p:cNvPr id="23" name="Shape 21"/>
          <p:cNvSpPr/>
          <p:nvPr/>
        </p:nvSpPr>
        <p:spPr>
          <a:xfrm>
            <a:off x="6217920" y="1316736"/>
            <a:ext cx="5440680" cy="566928"/>
          </a:xfrm>
          <a:prstGeom prst="roundRect">
            <a:avLst>
              <a:gd name="adj" fmla="val 9677"/>
            </a:avLst>
          </a:prstGeom>
          <a:solidFill>
            <a:srgbClr val="EEF2F9"/>
          </a:solidFill>
          <a:ln w="12700">
            <a:solidFill>
              <a:srgbClr val="EEF2F9"/>
            </a:solidFill>
            <a:prstDash val="solid"/>
          </a:ln>
        </p:spPr>
        <p:txBody>
          <a:bodyPr/>
          <a:lstStyle/>
          <a:p>
            <a:endParaRPr lang="en-US"/>
          </a:p>
        </p:txBody>
      </p:sp>
      <p:sp>
        <p:nvSpPr>
          <p:cNvPr id="24" name="Text 22"/>
          <p:cNvSpPr txBox="1"/>
          <p:nvPr/>
        </p:nvSpPr>
        <p:spPr>
          <a:xfrm>
            <a:off x="6400800" y="1371600"/>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BT Payments</a:t>
            </a:r>
            <a:endParaRPr lang="en-US" sz="1150" dirty="0"/>
          </a:p>
        </p:txBody>
      </p:sp>
      <p:sp>
        <p:nvSpPr>
          <p:cNvPr id="25" name="Text 23"/>
          <p:cNvSpPr txBox="1"/>
          <p:nvPr/>
        </p:nvSpPr>
        <p:spPr>
          <a:xfrm>
            <a:off x="8229600" y="1371600"/>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Recipient bank validation &amp; batch push</a:t>
            </a:r>
            <a:endParaRPr lang="en-US" sz="1050" dirty="0"/>
          </a:p>
        </p:txBody>
      </p:sp>
      <p:sp>
        <p:nvSpPr>
          <p:cNvPr id="26" name="Text 24"/>
          <p:cNvSpPr txBox="1"/>
          <p:nvPr/>
        </p:nvSpPr>
        <p:spPr>
          <a:xfrm>
            <a:off x="6400800" y="1975104"/>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Finacle</a:t>
            </a:r>
            <a:endParaRPr lang="en-US" sz="1150" dirty="0"/>
          </a:p>
        </p:txBody>
      </p:sp>
      <p:sp>
        <p:nvSpPr>
          <p:cNvPr id="27" name="Text 25"/>
          <p:cNvSpPr txBox="1"/>
          <p:nvPr/>
        </p:nvSpPr>
        <p:spPr>
          <a:xfrm>
            <a:off x="8229600" y="1975104"/>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Core banking — debits, credits, GL</a:t>
            </a:r>
            <a:endParaRPr lang="en-US" sz="1050" dirty="0"/>
          </a:p>
        </p:txBody>
      </p:sp>
      <p:sp>
        <p:nvSpPr>
          <p:cNvPr id="28" name="Shape 26"/>
          <p:cNvSpPr/>
          <p:nvPr/>
        </p:nvSpPr>
        <p:spPr>
          <a:xfrm>
            <a:off x="6217920" y="2523744"/>
            <a:ext cx="5440680" cy="566928"/>
          </a:xfrm>
          <a:prstGeom prst="roundRect">
            <a:avLst>
              <a:gd name="adj" fmla="val 9677"/>
            </a:avLst>
          </a:prstGeom>
          <a:solidFill>
            <a:srgbClr val="EEF2F9"/>
          </a:solidFill>
          <a:ln w="12700">
            <a:solidFill>
              <a:srgbClr val="EEF2F9"/>
            </a:solidFill>
            <a:prstDash val="solid"/>
          </a:ln>
        </p:spPr>
        <p:txBody>
          <a:bodyPr/>
          <a:lstStyle/>
          <a:p>
            <a:endParaRPr lang="en-US"/>
          </a:p>
        </p:txBody>
      </p:sp>
      <p:sp>
        <p:nvSpPr>
          <p:cNvPr id="29" name="Text 27"/>
          <p:cNvSpPr txBox="1"/>
          <p:nvPr/>
        </p:nvSpPr>
        <p:spPr>
          <a:xfrm>
            <a:off x="6400800" y="2578608"/>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EDP Decision Engine</a:t>
            </a:r>
            <a:endParaRPr lang="en-US" sz="1150" dirty="0"/>
          </a:p>
        </p:txBody>
      </p:sp>
      <p:sp>
        <p:nvSpPr>
          <p:cNvPr id="30" name="Text 28"/>
          <p:cNvSpPr txBox="1"/>
          <p:nvPr/>
        </p:nvSpPr>
        <p:spPr>
          <a:xfrm>
            <a:off x="8229600" y="2578608"/>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Fraud decisioning on wire requests</a:t>
            </a:r>
            <a:endParaRPr lang="en-US" sz="1050" dirty="0"/>
          </a:p>
        </p:txBody>
      </p:sp>
      <p:sp>
        <p:nvSpPr>
          <p:cNvPr id="31" name="Text 29"/>
          <p:cNvSpPr txBox="1"/>
          <p:nvPr/>
        </p:nvSpPr>
        <p:spPr>
          <a:xfrm>
            <a:off x="6400800" y="3182112"/>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Beacon</a:t>
            </a:r>
            <a:endParaRPr lang="en-US" sz="1150" dirty="0"/>
          </a:p>
        </p:txBody>
      </p:sp>
      <p:sp>
        <p:nvSpPr>
          <p:cNvPr id="32" name="Text 30"/>
          <p:cNvSpPr txBox="1"/>
          <p:nvPr/>
        </p:nvSpPr>
        <p:spPr>
          <a:xfrm>
            <a:off x="8229600" y="3182112"/>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Inbound wires workflow portal</a:t>
            </a:r>
            <a:endParaRPr lang="en-US" sz="1050" dirty="0"/>
          </a:p>
        </p:txBody>
      </p:sp>
      <p:sp>
        <p:nvSpPr>
          <p:cNvPr id="33" name="Shape 31"/>
          <p:cNvSpPr/>
          <p:nvPr/>
        </p:nvSpPr>
        <p:spPr>
          <a:xfrm>
            <a:off x="6217920" y="3730752"/>
            <a:ext cx="5440680" cy="566928"/>
          </a:xfrm>
          <a:prstGeom prst="roundRect">
            <a:avLst>
              <a:gd name="adj" fmla="val 9677"/>
            </a:avLst>
          </a:prstGeom>
          <a:solidFill>
            <a:srgbClr val="EEF2F9"/>
          </a:solidFill>
          <a:ln w="12700">
            <a:solidFill>
              <a:srgbClr val="EEF2F9"/>
            </a:solidFill>
            <a:prstDash val="solid"/>
          </a:ln>
        </p:spPr>
        <p:txBody>
          <a:bodyPr/>
          <a:lstStyle/>
          <a:p>
            <a:endParaRPr lang="en-US"/>
          </a:p>
        </p:txBody>
      </p:sp>
      <p:sp>
        <p:nvSpPr>
          <p:cNvPr id="34" name="Text 32"/>
          <p:cNvSpPr txBox="1"/>
          <p:nvPr/>
        </p:nvSpPr>
        <p:spPr>
          <a:xfrm>
            <a:off x="6400800" y="3785616"/>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DataHub</a:t>
            </a:r>
            <a:endParaRPr lang="en-US" sz="1150" dirty="0"/>
          </a:p>
        </p:txBody>
      </p:sp>
      <p:sp>
        <p:nvSpPr>
          <p:cNvPr id="35" name="Text 33"/>
          <p:cNvSpPr txBox="1"/>
          <p:nvPr/>
        </p:nvSpPr>
        <p:spPr>
          <a:xfrm>
            <a:off x="8229600" y="3785616"/>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Internal ETL for inbound BNY files</a:t>
            </a:r>
            <a:endParaRPr lang="en-US" sz="1050" dirty="0"/>
          </a:p>
        </p:txBody>
      </p:sp>
      <p:sp>
        <p:nvSpPr>
          <p:cNvPr id="36" name="Text 34"/>
          <p:cNvSpPr txBox="1"/>
          <p:nvPr/>
        </p:nvSpPr>
        <p:spPr>
          <a:xfrm>
            <a:off x="6400800" y="4389120"/>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ComplianceLink</a:t>
            </a:r>
            <a:endParaRPr lang="en-US" sz="1150" dirty="0"/>
          </a:p>
        </p:txBody>
      </p:sp>
      <p:sp>
        <p:nvSpPr>
          <p:cNvPr id="37" name="Text 35"/>
          <p:cNvSpPr txBox="1"/>
          <p:nvPr/>
        </p:nvSpPr>
        <p:spPr>
          <a:xfrm>
            <a:off x="8229600" y="4389120"/>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FIS OFAC / sanctions screening</a:t>
            </a:r>
            <a:endParaRPr lang="en-US" sz="1050" dirty="0"/>
          </a:p>
        </p:txBody>
      </p:sp>
      <p:sp>
        <p:nvSpPr>
          <p:cNvPr id="38" name="Shape 36"/>
          <p:cNvSpPr/>
          <p:nvPr/>
        </p:nvSpPr>
        <p:spPr>
          <a:xfrm>
            <a:off x="6217920" y="4937760"/>
            <a:ext cx="5440680" cy="566928"/>
          </a:xfrm>
          <a:prstGeom prst="roundRect">
            <a:avLst>
              <a:gd name="adj" fmla="val 9677"/>
            </a:avLst>
          </a:prstGeom>
          <a:solidFill>
            <a:srgbClr val="EEF2F9"/>
          </a:solidFill>
          <a:ln w="12700">
            <a:solidFill>
              <a:srgbClr val="EEF2F9"/>
            </a:solidFill>
            <a:prstDash val="solid"/>
          </a:ln>
        </p:spPr>
        <p:txBody>
          <a:bodyPr/>
          <a:lstStyle/>
          <a:p>
            <a:endParaRPr lang="en-US"/>
          </a:p>
        </p:txBody>
      </p:sp>
      <p:sp>
        <p:nvSpPr>
          <p:cNvPr id="39" name="Text 37"/>
          <p:cNvSpPr txBox="1"/>
          <p:nvPr/>
        </p:nvSpPr>
        <p:spPr>
          <a:xfrm>
            <a:off x="6400800" y="4992624"/>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BNY Mellon</a:t>
            </a:r>
            <a:endParaRPr lang="en-US" sz="1150" dirty="0"/>
          </a:p>
        </p:txBody>
      </p:sp>
      <p:sp>
        <p:nvSpPr>
          <p:cNvPr id="40" name="Text 38"/>
          <p:cNvSpPr txBox="1"/>
          <p:nvPr/>
        </p:nvSpPr>
        <p:spPr>
          <a:xfrm>
            <a:off x="8229600" y="4992624"/>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Correspondent bank / settlement agent</a:t>
            </a:r>
            <a:endParaRPr lang="en-US" sz="1050" dirty="0"/>
          </a:p>
        </p:txBody>
      </p:sp>
      <p:sp>
        <p:nvSpPr>
          <p:cNvPr id="41" name="Text 39"/>
          <p:cNvSpPr txBox="1"/>
          <p:nvPr/>
        </p:nvSpPr>
        <p:spPr>
          <a:xfrm>
            <a:off x="6400800" y="5596128"/>
            <a:ext cx="1783080" cy="457200"/>
          </a:xfrm>
          <a:prstGeom prst="rect">
            <a:avLst/>
          </a:prstGeom>
          <a:noFill/>
          <a:ln/>
        </p:spPr>
        <p:txBody>
          <a:bodyPr wrap="square" lIns="0" tIns="0" rIns="0" bIns="0" rtlCol="0" anchor="ctr"/>
          <a:lstStyle/>
          <a:p>
            <a:pPr marL="0" indent="0">
              <a:buNone/>
            </a:pPr>
            <a:r>
              <a:rPr lang="en-US" sz="1150" b="1" dirty="0">
                <a:solidFill>
                  <a:srgbClr val="18243F"/>
                </a:solidFill>
                <a:latin typeface="Calibri" pitchFamily="34" charset="0"/>
                <a:ea typeface="Calibri" pitchFamily="34" charset="-122"/>
                <a:cs typeface="Calibri" pitchFamily="34" charset="-120"/>
              </a:rPr>
              <a:t>BCP files</a:t>
            </a:r>
            <a:endParaRPr lang="en-US" sz="1150" dirty="0"/>
          </a:p>
        </p:txBody>
      </p:sp>
      <p:sp>
        <p:nvSpPr>
          <p:cNvPr id="42" name="Text 40"/>
          <p:cNvSpPr txBox="1"/>
          <p:nvPr/>
        </p:nvSpPr>
        <p:spPr>
          <a:xfrm>
            <a:off x="8229600" y="5596128"/>
            <a:ext cx="3383280" cy="457200"/>
          </a:xfrm>
          <a:prstGeom prst="rect">
            <a:avLst/>
          </a:prstGeom>
          <a:noFill/>
          <a:ln/>
        </p:spPr>
        <p:txBody>
          <a:bodyPr wrap="square" lIns="0" tIns="0" rIns="0" bIns="0" rtlCol="0" anchor="ctr"/>
          <a:lstStyle/>
          <a:p>
            <a:pPr marL="0" indent="0">
              <a:buNone/>
            </a:pPr>
            <a:r>
              <a:rPr lang="en-US" sz="1050" dirty="0">
                <a:solidFill>
                  <a:srgbClr val="5A6B8C"/>
                </a:solidFill>
                <a:latin typeface="Calibri" pitchFamily="34" charset="0"/>
                <a:ea typeface="Calibri" pitchFamily="34" charset="-122"/>
                <a:cs typeface="Calibri" pitchFamily="34" charset="-120"/>
              </a:rPr>
              <a:t>Pre-positioned backups for business continuity</a:t>
            </a:r>
            <a:endParaRPr lang="en-US" sz="1050" dirty="0"/>
          </a:p>
        </p:txBody>
      </p:sp>
      <p:sp>
        <p:nvSpPr>
          <p:cNvPr id="43" name="Text 41"/>
          <p:cNvSpPr txBox="1"/>
          <p:nvPr/>
        </p:nvSpPr>
        <p:spPr>
          <a:xfrm>
            <a:off x="548640" y="6355080"/>
            <a:ext cx="11064240" cy="320040"/>
          </a:xfrm>
          <a:prstGeom prst="rect">
            <a:avLst/>
          </a:prstGeom>
          <a:noFill/>
          <a:ln/>
        </p:spPr>
        <p:txBody>
          <a:bodyPr wrap="square" lIns="0" tIns="0" rIns="0" bIns="0" rtlCol="0" anchor="ctr"/>
          <a:lstStyle/>
          <a:p>
            <a:pPr marL="0" indent="0">
              <a:buNone/>
            </a:pPr>
            <a:r>
              <a:rPr lang="en-US" sz="1000" i="1" dirty="0">
                <a:solidFill>
                  <a:srgbClr val="5A6B8C"/>
                </a:solidFill>
                <a:latin typeface="Calibri" pitchFamily="34" charset="0"/>
                <a:ea typeface="Calibri" pitchFamily="34" charset="-122"/>
                <a:cs typeface="Calibri" pitchFamily="34" charset="-120"/>
              </a:rPr>
              <a:t>Sources: wires-transfer-batch wiki · wires-inbound-flow.md · inbound-return.md · Architecture &amp; Data Stores slides (Outbound / Inbound) · FIS OPF platform notes</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2274</Words>
  <Application>Microsoft Office PowerPoint</Application>
  <PresentationFormat>Widescreen</PresentationFormat>
  <Paragraphs>229</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FIS OPF &amp; the Wire Transfer Architecture</dc:title>
  <dc:subject>PptxGenJS Presentation</dc:subject>
  <dc:creator>Money Movement</dc:creator>
  <cp:lastModifiedBy>Vasanth S</cp:lastModifiedBy>
  <cp:revision>2</cp:revision>
  <dcterms:created xsi:type="dcterms:W3CDTF">2026-09-01T13:32:56Z</dcterms:created>
  <dcterms:modified xsi:type="dcterms:W3CDTF">2026-09-01T13:40:29Z</dcterms:modified>
</cp:coreProperties>
</file>