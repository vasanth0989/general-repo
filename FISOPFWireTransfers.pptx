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this briefing: give leadership a working mental model of FIS OPF — what it is, where it sits in Discover's wire architecture, and how outbound wires actually move. Key headline up front: OPF is our outbound wire engine; inbound wires never touch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to remember. 1) OPF is a processing platform from FIS — the successor of FIS Quantum, which is why BPM still shows a 'Quantum' step. 2) It sits only on the outbound side. 3) Integration is file-based: request batches out, ACK/NACK responses back, settlement via BNY Mellon.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OPF's seven core jobs condensed to six tiles: intake, validation/compliance, enrichment, format transformation, routing, settlement &amp; exception handling. Point out the naming note — people will see 'Quantum' in BPM screens and this pre-empts the confusion. FIS added strong ISO 20022 compliance starting 2022, which matters because Fedwire itself migrated to ISO 20022 in July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answer for this briefing. Outbound: channels → Wires App (validation + EDP fraud decisioning) → BPM case with two human approvals → Wires Batch hands the file to BT Payments (Pep+), which formats it for OPF → FIS OPF → BNY Mellon → Fedwire or SWIFT. Inbound: Fed and BNY report files → parsing portal / DataHub → ComplianceLink OFAC → Beacon → Finacle. OPF appears exactly once — on the outbound lane. The nuance at the bottom pre-empts a sharp question: yes, files flow FROM OPF to us, but they're outbound-wire statuses.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lifecycle left to right. Emphasize the control layers before OPF: validation services, EDP fraud decisioning, and dual approval in BPM. OPF is deliberately downstream of all human decisions — it industrializes the hand-off to the networks. Stage 4 is dark to signal 'money leaves the bank 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file relay and renames — worth showing because ops tickets often reference these exact file names. DFTP is our in-house enterprise file transmission; BT Payments (Pep+) is the mainframe-side hub that decorates the file into OPF's required format and cuts the BCP backup files. Right: the operational clock. Note: the OPF migration changed only the response flow; the request flow is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automation story: statuses return without manual work. ACK path: totals from the ACK file, wait for all per-wire XMLs (PSR files), parse, update BPM through its REST API. NACK path: whole batch set stops — a deliberate safety property; cases remain in BPM and ride the next batch after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model: OPF formats and routes; BNY Mellon is our correspondent/settlement agent to Fedwire (domestic) and SWIFT (international). We are not a direct Fedwire participant on this path — FedLine Advantage is only a low-volume manual fallback. BCP files are the continuity answer leadership usually asks about: BT Payments (Pep+) cuts them alongside every OPF hand-off, and if OPF is down we use them to process critical wires manually through JPMorgan.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contrast: inbound wires arrive via Fed daily reports (parsed to Excel through a secure portal) and BNY export files. DataHub/Beacon stage them, ComplianceLink screens OFAC, Beacon manages exceptions, Finacle posts credit. Manual-heavy but well-controlled (BEST QA, QMS evidence). If asked about the merger: Capital One runs event-driven inbound over FedLine Direct with auto-posting — the likely convergence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frame: OPF buys ISO 20022 readiness, embedded compliance, and network connectivity we'd otherwise build and certify ourselves — and it de-risks merger integration because FIS platforms are common ground. Leave leadership with the one-liner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— leave up during Q&amp;A. Every system named in the earlier flows appears here with a one-line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Open Payments Framework powers Discover's outbound wires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Movement  ·  Leadership Briefing  ·  September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1234440" cy="566928"/>
          </a:xfrm>
          <a:prstGeom prst="roundRect">
            <a:avLst>
              <a:gd name="adj" fmla="val 14516"/>
            </a:avLst>
          </a:prstGeom>
          <a:solidFill>
            <a:srgbClr val="1C3059"/>
          </a:solidFill>
          <a:ln>
            <a:solidFill>
              <a:srgbClr val="1C305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03120" y="5358384"/>
            <a:ext cx="292608" cy="0"/>
          </a:xfrm>
          <a:prstGeom prst="line">
            <a:avLst/>
          </a:prstGeom>
          <a:noFill/>
          <a:ln w="22225">
            <a:solidFill>
              <a:srgbClr val="44598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441448" y="5074920"/>
            <a:ext cx="1234440" cy="566928"/>
          </a:xfrm>
          <a:prstGeom prst="roundRect">
            <a:avLst>
              <a:gd name="adj" fmla="val 14516"/>
            </a:avLst>
          </a:prstGeom>
          <a:solidFill>
            <a:srgbClr val="1C3059"/>
          </a:solidFill>
          <a:ln>
            <a:solidFill>
              <a:srgbClr val="1C305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case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21608" y="5358384"/>
            <a:ext cx="292608" cy="0"/>
          </a:xfrm>
          <a:prstGeom prst="line">
            <a:avLst/>
          </a:prstGeom>
          <a:noFill/>
          <a:ln w="22225">
            <a:solidFill>
              <a:srgbClr val="44598C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059936" y="5074920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C3059"/>
          </a:solidFill>
          <a:ln>
            <a:solidFill>
              <a:srgbClr val="1C305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Batch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77256" y="5358384"/>
            <a:ext cx="292608" cy="0"/>
          </a:xfrm>
          <a:prstGeom prst="line">
            <a:avLst/>
          </a:prstGeom>
          <a:noFill/>
          <a:ln w="22225">
            <a:solidFill>
              <a:srgbClr val="44598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815584" y="5074920"/>
            <a:ext cx="1325880" cy="566928"/>
          </a:xfrm>
          <a:prstGeom prst="roundRect">
            <a:avLst>
              <a:gd name="adj" fmla="val 14516"/>
            </a:avLst>
          </a:prstGeom>
          <a:solidFill>
            <a:srgbClr val="FF6000"/>
          </a:solidFill>
          <a:ln>
            <a:solidFill>
              <a:srgbClr val="FF6000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87184" y="5358384"/>
            <a:ext cx="292608" cy="0"/>
          </a:xfrm>
          <a:prstGeom prst="line">
            <a:avLst/>
          </a:prstGeom>
          <a:noFill/>
          <a:ln w="22225">
            <a:solidFill>
              <a:srgbClr val="44598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525512" y="5074920"/>
            <a:ext cx="1371600" cy="566928"/>
          </a:xfrm>
          <a:prstGeom prst="roundRect">
            <a:avLst>
              <a:gd name="adj" fmla="val 14516"/>
            </a:avLst>
          </a:prstGeom>
          <a:solidFill>
            <a:srgbClr val="1C3059"/>
          </a:solidFill>
          <a:ln>
            <a:solidFill>
              <a:srgbClr val="1C305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Mellon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42832" y="5358384"/>
            <a:ext cx="292608" cy="0"/>
          </a:xfrm>
          <a:prstGeom prst="line">
            <a:avLst/>
          </a:prstGeom>
          <a:noFill/>
          <a:ln w="22225">
            <a:solidFill>
              <a:srgbClr val="44598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281160" y="5074920"/>
            <a:ext cx="1737360" cy="566928"/>
          </a:xfrm>
          <a:prstGeom prst="roundRect">
            <a:avLst>
              <a:gd name="adj" fmla="val 14516"/>
            </a:avLst>
          </a:prstGeom>
          <a:solidFill>
            <a:srgbClr val="1C3059"/>
          </a:solidFill>
          <a:ln>
            <a:solidFill>
              <a:srgbClr val="1C305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/ SWIFT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every outbound wire takes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645920"/>
            <a:ext cx="566928" cy="56692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5" name="Image 0" descr="C:\Users\vasan\AppData\Local\Temp\claude\D--unfold-git-work-fisOPF\bdc8cb48-9752-4a6c-a524-d1dfc31f95fd\scratchpad/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7933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3317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payments engine,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network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15468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 (Open Payments Framework — successor to FIS Quantum) validates, enriches, formats, and routes high-value payments. It gives us Fedwire / SWIFT plumbing without building our own.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27448" y="1645920"/>
            <a:ext cx="566928" cy="56692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0" name="Image 1" descr="C:\Users\vasan\AppData\Local\Temp\claude\D--unfold-git-work-fisOPF\bdc8cb48-9752-4a6c-a524-d1dfc31f95fd\scratchpad/icons/paperPla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849" y="17933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27448" y="23317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last stop before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leaves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727448" y="315468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outbound wire funnels through OPF after dual approval in BPM. Inbound wires take a completely separate path (Beacon → Finacle) that never touches OPF.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321040" y="13716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13648" y="1645920"/>
            <a:ext cx="566928" cy="56692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5" name="Image 2" descr="C:\Users\vasan\AppData\Local\Temp\claude\D--unfold-git-work-fisOPF\bdc8cb48-9752-4a6c-a524-d1dfc31f95fd\scratchpad/icons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049" y="179332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13648" y="23317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files out,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back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613648" y="3154680"/>
            <a:ext cx="2980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Wires Batch app hands approved cases to BT Payments (Pep+), which formats them for OPF. OPF answers with ACK / NACK plus per-wire XML, and settles through BNY Mellon to Fedwire or SWIFT.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FE9DC"/>
          </a:solidFill>
          <a:ln w="12700">
            <a:solidFill>
              <a:srgbClr val="FFE9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6868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4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 is the outbound wire processing engine — the bridge between our case management (BPM) and the payment networks (Fedwire / SWIFT, via BNY Mellon).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 OPF actually does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 (Open Payments Framework) is an enterprise payment-processing platform from Fidelity Information Services. For wire transfers it acts as the central orchestration layer — the brain between a bank's internal systems and the payment networks.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1012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note: </a:t>
            </a:r>
            <a:pPr indent="0" marL="0">
              <a:buNone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succeeded the FIS Quantum platform. BPM's internal “Quantum” step is legacy naming — it is OPF today.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7548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every wire type we care about
</a:t>
            </a:r>
            <a:pPr indent="0" marL="0">
              <a:buNone/>
            </a:pPr>
            <a:r>
              <a:rPr lang="en-US" sz="11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(domestic USD, real-time) · CHIPS · SWIFT MT &amp; ISO MX · international USD via correspondents · FX wires · internal transfers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132588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9" name="Image 0" descr="C:\Users\vasan\AppData\Local\Temp\claude\D--unfold-git-work-fisOPF\bdc8cb48-9752-4a6c-a524-d1dfc31f95fd\scratchpad/icons/inbo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547" y="1449507"/>
            <a:ext cx="228234" cy="2282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96712" y="127101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intake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696712" y="160020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wires from core (Finacle), IBM BPM, APIs, and host systems (mainframe, MQ, file).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732520" y="132588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3" name="Image 1" descr="C:\Users\vasan\AppData\Local\Temp\claude\D--unfold-git-work-fisOPF\bdc8cb48-9752-4a6c-a524-d1dfc31f95fd\scratchpad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147" y="1449507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354312" y="127101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compliance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9354312" y="160020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checks, cut-off enforcement, duplicate checks, OFAC / AML / regulatory screening.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74920" y="297180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7" name="Image 2" descr="C:\Users\vasan\AppData\Local\Temp\claude\D--unfold-git-work-fisOPF\bdc8cb48-9752-4a6c-a524-d1dfc31f95fd\scratchpad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547" y="3095427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96712" y="291693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enrichment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696712" y="324612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 routing numbers, SWIFT BICs, currency codes, intermediary bank details.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732520" y="297180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1" name="Image 3" descr="C:\Users\vasan\AppData\Local\Temp\claude\D--unfold-git-work-fisOPF\bdc8cb48-9752-4a6c-a524-d1dfc31f95fd\scratchpad/icons/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147" y="3095427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54312" y="291693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transformation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354312" y="324612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 → Fedwire, CHIPS, SWIFT MT/MX; native ISO 20022 (pacs.008 / pacs.009).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74920" y="461772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5" name="Image 4" descr="C:\Users\vasan\AppData\Local\Temp\claude\D--unfold-git-work-fisOPF\bdc8cb48-9752-4a6c-a524-d1dfc31f95fd\scratchpad/icons/random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547" y="4741347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96712" y="456285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routing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696712" y="489204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rail — Fedwire or CHIPS domestic, SWIFT international — with fallback routing.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732520" y="4617720"/>
            <a:ext cx="475488" cy="47548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9" name="Image 5" descr="C:\Users\vasan\AppData\Local\Temp\claude\D--unfold-git-work-fisOPF\bdc8cb48-9752-4a6c-a524-d1dfc31f95fd\scratchpad/icons/mone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6147" y="4741347"/>
            <a:ext cx="228234" cy="22823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354312" y="4562856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repair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9354312" y="489204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FIS settlement systems; GL and posting correctness; returns, repairs, queues.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OPF sits: outbound only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2057400"/>
          </a:xfrm>
          <a:prstGeom prst="roundRect">
            <a:avLst>
              <a:gd name="adj" fmla="val 5333"/>
            </a:avLst>
          </a:prstGeom>
          <a:solidFill>
            <a:srgbClr val="FFE9DC"/>
          </a:solidFill>
          <a:ln w="12700">
            <a:solidFill>
              <a:srgbClr val="FFE9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pPr indent="0" marL="0">
              <a:buNone/>
            </a:pPr>
            <a:r>
              <a:rPr lang="en-US" sz="12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wire we send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1234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39696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395728" y="196596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App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fraud check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03904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059936" y="196596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approval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68112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724144" y="1965960"/>
            <a:ext cx="1097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Pep+ format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114032" y="1965960"/>
            <a:ext cx="1325880" cy="960120"/>
          </a:xfrm>
          <a:prstGeom prst="roundRect">
            <a:avLst>
              <a:gd name="adj" fmla="val 8571"/>
            </a:avLst>
          </a:prstGeom>
          <a:solidFill>
            <a:srgbClr val="FF6000"/>
          </a:solidFill>
          <a:ln w="12700">
            <a:solidFill>
              <a:srgbClr val="FF6000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76488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732520" y="1965960"/>
            <a:ext cx="10972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66376" y="2446020"/>
            <a:ext cx="219456" cy="0"/>
          </a:xfrm>
          <a:prstGeom prst="line">
            <a:avLst/>
          </a:prstGeom>
          <a:noFill/>
          <a:ln w="22225">
            <a:solidFill>
              <a:srgbClr val="C77E4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0122408" y="1965960"/>
            <a:ext cx="12344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C9B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91672" cy="2057400"/>
          </a:xfrm>
          <a:prstGeom prst="roundRect">
            <a:avLst>
              <a:gd name="adj" fmla="val 5333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pPr indent="0" marL="0">
              <a:buNone/>
            </a:pPr>
            <a:r>
              <a:rPr lang="en-US" sz="12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every wire we receive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29768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6E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daily report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BNY export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4777740"/>
            <a:ext cx="29260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990088" y="429768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6E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portal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ETL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73168" y="4777740"/>
            <a:ext cx="29260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111496" y="429768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6E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ComplianceLink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screen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94576" y="4777740"/>
            <a:ext cx="29260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232904" y="4297680"/>
            <a:ext cx="1371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6E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50224" y="4777740"/>
            <a:ext cx="29260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988552" y="4297680"/>
            <a:ext cx="1554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6E8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credit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</a:t>
            </a:r>
            <a:endParaRPr lang="en-US" sz="1150" dirty="0"/>
          </a:p>
        </p:txBody>
      </p:sp>
      <p:pic>
        <p:nvPicPr>
          <p:cNvPr id="29" name="Image 0" descr="C:\Users\vasan\AppData\Local\Temp\claude\D--unfold-git-work-fisOPF\bdc8cb48-9752-4a6c-a524-d1dfc31f95fd\scratchpad/icons/times_C03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730752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098280" y="37216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OPF anywhere in this path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does send files back to us (ACK / NACK / status XML) — but those are responses about outbound wires, not inbound wire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outbound wire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70048" cy="4206240"/>
          </a:xfrm>
          <a:prstGeom prst="roundRect">
            <a:avLst>
              <a:gd name="adj" fmla="val 4110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350008" y="1627632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6" name="Image 0" descr="C:\Users\vasan\AppData\Local\Temp\claude\D--unfold-git-work-fisOPF\bdc8cb48-9752-4a6c-a524-d1dfc31f95fd\scratchpad/icons/user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145" y="1760769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2860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743200"/>
            <a:ext cx="2157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via web / mobile (Wires-App) or paper, fax &amp; mail handled by Atlas agents.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Up-front validation and EDP fraud decisioning before a case is even created.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3383280"/>
            <a:ext cx="237744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11296" y="1371600"/>
            <a:ext cx="2670048" cy="4206240"/>
          </a:xfrm>
          <a:prstGeom prst="roundRect">
            <a:avLst>
              <a:gd name="adj" fmla="val 4110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67328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5312664" y="1627632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3" name="Image 1" descr="C:\Users\vasan\AppData\Local\Temp\claude\D--unfold-git-work-fisOPF\bdc8cb48-9752-4a6c-a524-d1dfc31f95fd\scratchpad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801" y="176076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67328" y="22860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3767328" y="2743200"/>
            <a:ext cx="2157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BPM case: validate → contact customer → 1st approval → 2nd approval.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debits the account (systematic via BPM; manual only for CD / full-balance wires).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08776" y="3383280"/>
            <a:ext cx="237744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473952" y="1371600"/>
            <a:ext cx="2670048" cy="4206240"/>
          </a:xfrm>
          <a:prstGeom prst="roundRect">
            <a:avLst>
              <a:gd name="adj" fmla="val 4110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729984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8275320" y="1627632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0" name="Image 2" descr="C:\Users\vasan\AppData\Local\Temp\claude\D--unfold-git-work-fisOPF\bdc8cb48-9752-4a6c-a524-d1dfc31f95fd\scratchpad/icons/fi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457" y="1760769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9984" y="22860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729984" y="2743200"/>
            <a:ext cx="2157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Batch collects second-approved cases and writes a fixed-length request file.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DFTP carries it to BT Payments (Pep+), which decorates it into OPF's required format.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71432" y="3383280"/>
            <a:ext cx="237744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436608" y="1371600"/>
            <a:ext cx="2670048" cy="4206240"/>
          </a:xfrm>
          <a:prstGeom prst="roundRect">
            <a:avLst>
              <a:gd name="adj" fmla="val 411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692640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1237976" y="1627632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7" name="Image 3" descr="C:\Users\vasan\AppData\Local\Temp\claude\D--unfold-git-work-fisOPF\bdc8cb48-9752-4a6c-a524-d1dfc31f95fd\scratchpad/icons/glob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1113" y="1760769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692640" y="228600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692640" y="2743200"/>
            <a:ext cx="21579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validates, formats, and routes: BNY Mellon settles to Fedwire (domestic) or SWIFT (international).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/ status XML flows back; BPM case confirms &amp; closes.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wire is validated, fraud-screened, and approved by two humans before it ever reaches OPF.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Wires Transfer Batch: files on a schedule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Batch application, orchestrated by AutoSys — request files out, response files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89320" cy="841248"/>
          </a:xfrm>
          <a:prstGeom prst="roundRect">
            <a:avLst>
              <a:gd name="adj" fmla="val 9783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server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DEPW&lt;ddmmyyyy&gt;&lt;HHMMSS&gt;.txt  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request file from active BPM cases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38728" y="2459736"/>
            <a:ext cx="0" cy="219456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679192"/>
            <a:ext cx="5989320" cy="841248"/>
          </a:xfrm>
          <a:prstGeom prst="roundRect">
            <a:avLst>
              <a:gd name="adj" fmla="val 9783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523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DFTP  (in-house enterprise file transfer)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4495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CHP0.DEPOSITS.FEDWIRE  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in flight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38728" y="3538728"/>
            <a:ext cx="0" cy="219456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758184"/>
            <a:ext cx="5989320" cy="841248"/>
          </a:xfrm>
          <a:prstGeom prst="roundRect">
            <a:avLst>
              <a:gd name="adj" fmla="val 9783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313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Payments / Pep+  (mainframe hub)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239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CHP0.ACHM320.SUNGARD.DEPOSITS  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decorated to OPF format · BCP files cut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38728" y="4617720"/>
            <a:ext cx="0" cy="219456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837176"/>
            <a:ext cx="5989320" cy="841248"/>
          </a:xfrm>
          <a:prstGeom prst="roundRect">
            <a:avLst>
              <a:gd name="adj" fmla="val 978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10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DFTP → FIS OPF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0293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&lt;ENV&gt;_BPM_YYYYMMDD_HHMMSS.txt   </a:t>
            </a:r>
            <a:pPr indent="0" marL="0">
              <a:buNone/>
            </a:pPr>
            <a:r>
              <a:rPr lang="en-US" sz="10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validates &amp; processes the batch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is tracked with .SENT markers; processed files are archived.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4736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AM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169164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batch of the day (EST)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679192"/>
            <a:ext cx="4736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27706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→ 15 min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70632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mornings every 30 min, afternoons every 15 from 1 PM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758184"/>
            <a:ext cx="4736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384962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PM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849624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for verbal authorization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4837176"/>
            <a:ext cx="4736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49286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 PM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4928616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batch — received &amp; verified by 3 PM = same-day wire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5989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 runs it all: request jobs, response jobs, and 5-minute file watchers.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loop: ACK &amp; NACK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wire statuses get back into BPM without a human touching them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691640" cy="868680"/>
          </a:xfrm>
          <a:prstGeom prst="roundRect">
            <a:avLst>
              <a:gd name="adj" fmla="val 9474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drops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files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423160" y="1805940"/>
            <a:ext cx="292608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761488" y="13716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 watcher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5 min)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90288" y="1805940"/>
            <a:ext cx="292608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928616" y="1371600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agWireResponse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Batch.sh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11696" y="1805940"/>
            <a:ext cx="292608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050024" y="13716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opfResponseJob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 Batch)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78824" y="1805940"/>
            <a:ext cx="292608" cy="0"/>
          </a:xfrm>
          <a:prstGeom prst="line">
            <a:avLst/>
          </a:prstGeom>
          <a:noFill/>
          <a:ln w="22225">
            <a:solidFill>
              <a:srgbClr val="FF6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217152" y="1371600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0F1E3D"/>
          </a:solidFill>
          <a:ln>
            <a:solidFill>
              <a:srgbClr val="0F1E3D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case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via REST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E2F3EA"/>
          </a:solidFill>
          <a:ln w="12700">
            <a:solidFill>
              <a:srgbClr val="E2F3EA"/>
            </a:solidFill>
            <a:prstDash val="solid"/>
          </a:ln>
        </p:spPr>
      </p:sp>
      <p:pic>
        <p:nvPicPr>
          <p:cNvPr id="14" name="Image 0" descr="C:\Users\vasan\AppData\Local\Temp\claude\D--unfold-git-work-fisOPF\bdc8cb48-9752-4a6c-a524-d1dfc31f95fd\scratchpad/icons/check_1E8E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834640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7160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— batch accepted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" y="33375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ACK*.txt arrives with one XML per wire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AckStep reads the expected transaction 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WatchPSRFileStep waits until every XML lands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xmlProcessStep parses each case and posts its status to BPM via REST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archived; case moves to confirmation &amp; close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99632" y="260604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pic>
        <p:nvPicPr>
          <p:cNvPr id="18" name="Image 1" descr="C:\Users\vasan\AppData\Local\Temp\claude\D--unfold-git-work-fisOPF\bdc8cb48-9752-4a6c-a524-d1dfc31f95fd\scratchpad/icons/times_C039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83464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022592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NACK — batch rejected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547104" y="33375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case failing OPF validation rejects the batch set — no further processing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detects NACK*.txt.SENT and archives the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stay open in BPM for correction and the next scheduled batch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investigates via BPM queues — nothing is silently lost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OPF platform migration only changed this response flow — the request flow was untouched.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money actually leaves: BNY Mellon &amp; the networks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6000"/>
          </a:solidFill>
          <a:ln>
            <a:solidFill>
              <a:srgbClr val="FF6000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34640" y="2286000"/>
            <a:ext cx="502920" cy="0"/>
          </a:xfrm>
          <a:prstGeom prst="line">
            <a:avLst/>
          </a:prstGeom>
          <a:noFill/>
          <a:ln w="22225">
            <a:solidFill>
              <a:srgbClr val="C9D9F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3429000" y="182880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Mellon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 flipV="1">
            <a:off x="5806440" y="1645920"/>
            <a:ext cx="548640" cy="640080"/>
          </a:xfrm>
          <a:prstGeom prst="line">
            <a:avLst/>
          </a:prstGeom>
          <a:noFill/>
          <a:ln w="22225">
            <a:solidFill>
              <a:srgbClr val="C9D9F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06440" y="2286000"/>
            <a:ext cx="548640" cy="640080"/>
          </a:xfrm>
          <a:prstGeom prst="line">
            <a:avLst/>
          </a:prstGeom>
          <a:noFill/>
          <a:ln w="22225">
            <a:solidFill>
              <a:srgbClr val="C9D9F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492240" y="114300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1C3059"/>
          </a:solidFill>
          <a:ln w="12700">
            <a:solidFill>
              <a:srgbClr val="44598C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USD, real-time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1C3059"/>
          </a:solidFill>
          <a:ln w="12700">
            <a:solidFill>
              <a:srgbClr val="44598C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international, via BNY</a:t>
            </a:r>
            <a:endParaRPr lang="en-US" sz="1250" dirty="0"/>
          </a:p>
        </p:txBody>
      </p:sp>
      <p:pic>
        <p:nvPicPr>
          <p:cNvPr id="10" name="Image 0" descr="C:\Users\vasan\AppData\Local\Temp\claude\D--unfold-git-work-fisOPF\bdc8cb48-9752-4a6c-a524-d1dfc31f95fd\scratchpad/icons/ba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325880"/>
            <a:ext cx="457200" cy="457200"/>
          </a:xfrm>
          <a:prstGeom prst="rect">
            <a:avLst/>
          </a:prstGeom>
        </p:spPr>
      </p:pic>
      <p:pic>
        <p:nvPicPr>
          <p:cNvPr id="11" name="Image 1" descr="C:\Users\vasan\AppData\Local\Temp\claude\D--unfold-git-work-fisOPF\bdc8cb48-9752-4a6c-a524-d1dfc31f95fd\scratchpad/icons/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2918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is not a direct Fedwire participant in this flow — BNY Mellon settles on our behalf. FedLine Advantage exists only as a rare, manual fallback.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66344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1C3059"/>
          </a:solidFill>
          <a:ln w="12700">
            <a:solidFill>
              <a:srgbClr val="44598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43000" y="4937760"/>
            <a:ext cx="566928" cy="566928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5" name="Image 2" descr="C:\Users\vasan\AppData\Local\Temp\claude\D--unfold-git-work-fisOPF\bdc8cb48-9752-4a6c-a524-d1dfc31f95fd\scratchpad/icons/lifeR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01" y="50851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846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is built into every batch.  </a:t>
            </a:r>
            <a:pPr indent="0" marL="0">
              <a:buNone/>
            </a:pPr>
            <a:r>
              <a:rPr lang="en-US" sz="13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Payments (Pep+) cuts BCP backup files alongside every OPF hand-off. If OPF ever goes down, we use those pre-positioned files ourselves to process the critical wires manually through JPMorgan.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inbound wires: a different world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Report-driven and Beacon-managed — FIS OPF is not involved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daily report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(secure parsing portal → Excel)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953512" y="1943100"/>
            <a:ext cx="20116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182112" y="1463040"/>
            <a:ext cx="1828800" cy="960120"/>
          </a:xfrm>
          <a:prstGeom prst="roundRect">
            <a:avLst>
              <a:gd name="adj" fmla="val 8571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export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(CSV, international)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38344" y="1943100"/>
            <a:ext cx="20116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266944" y="14630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ETL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upload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86016" y="1943100"/>
            <a:ext cx="20116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214616" y="1463040"/>
            <a:ext cx="1737360" cy="960120"/>
          </a:xfrm>
          <a:prstGeom prst="roundRect">
            <a:avLst>
              <a:gd name="adj" fmla="val 8571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ComplianceLink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screening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979408" y="1943100"/>
            <a:ext cx="201168" cy="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208008" y="146304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EEF2F9"/>
          </a:solidFill>
          <a:ln>
            <a:solidFill>
              <a:srgbClr val="EEF2F9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workflow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(exceptions → manual review)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2468880"/>
            <a:ext cx="0" cy="320040"/>
          </a:xfrm>
          <a:prstGeom prst="line">
            <a:avLst/>
          </a:prstGeom>
          <a:noFill/>
          <a:ln w="22225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297680" y="288036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0F1E3D"/>
          </a:solidFill>
          <a:ln>
            <a:solidFill>
              <a:srgbClr val="0F1E3D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posts the credit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+ GL “Wire In Credit”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79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audit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8172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team samples daily against BNY / Fed reports and Finacle postings; evidence in QMS. Full traceability for FFIEC / OCC and SOX.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41148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1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4279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when needed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468172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 Wire Return Screen → OFAC re-scan → Fedwire 1002/02 same-day (6:45 PM ET cut-off) or 1002/08 prior-day. Post-ISO 20022: pacs.004 returns, camt.056 reversal requests.</a:t>
            </a:r>
            <a:endParaRPr lang="en-US" sz="1150" dirty="0"/>
          </a:p>
        </p:txBody>
      </p:sp>
      <p:pic>
        <p:nvPicPr>
          <p:cNvPr id="21" name="Image 0" descr="C:\Users\vasan\AppData\Local\Temp\claude\D--unfold-git-work-fisOPF\bdc8cb48-9752-4a6c-a524-d1dfc31f95fd\scratchpad/icons/times_C039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017520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144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OPF: not involved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is file/report-driven today — a known modernization opportunity (Capital One's inbound is event-driven over FedLine Direct).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OPF matters to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4" name="Image 0" descr="C:\Users\vasan\AppData\Local\Temp\claude\D--unfold-git-work-fisOPF\bdc8cb48-9752-4a6c-a524-d1dfc31f95fd\scratchpad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7" y="1367577"/>
            <a:ext cx="245791" cy="2457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216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native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795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migrated to ISO 20022 in July 2025; OPF has carried strong ISO support since 2022 — we inherit readiness instead of building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2130552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8" name="Image 1" descr="C:\Users\vasan\AppData\Local\Temp\claude\D--unfold-git-work-fisOPF\bdc8cb48-9752-4a6c-a524-d1dfc31f95fd\scratchpad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97" y="2263689"/>
            <a:ext cx="245791" cy="2457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1122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 in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20756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/ AML screening, cut-offs, duplicate checks, and audit trails are platform features, not custom code we maintain.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026664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2" name="Image 2" descr="C:\Users\vasan\AppData\Local\Temp\claude\D--unfold-git-work-fisOPF\bdc8cb48-9752-4a6c-a524-d1dfc31f95fd\scratchpad/icons/site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3159801"/>
            <a:ext cx="245791" cy="24579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008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home-grown pipelines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9718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is the scalable orchestration layer — we never build or certify our own Fedwire / CHIPS / SWIFT connectivity.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922776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16" name="Image 3" descr="C:\Users\vasan\AppData\Local\Temp\claude\D--unfold-git-work-fisOPF\bdc8cb48-9752-4a6c-a524-d1dfc31f95fd\scratchpad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97" y="4055913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39044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Merger-friendly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754880" y="386791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platforms are widely used and stable — a lower-risk anchor while Discover and Capital One payment stacks converge.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822960" y="4818888"/>
            <a:ext cx="512064" cy="512064"/>
          </a:xfrm>
          <a:prstGeom prst="ellipse">
            <a:avLst/>
          </a:prstGeom>
          <a:solidFill>
            <a:srgbClr val="FF6000"/>
          </a:solidFill>
          <a:ln w="12700">
            <a:solidFill>
              <a:srgbClr val="FF6000"/>
            </a:solidFill>
            <a:prstDash val="solid"/>
          </a:ln>
        </p:spPr>
      </p:sp>
      <p:pic>
        <p:nvPicPr>
          <p:cNvPr id="20" name="Image 4" descr="C:\Users\vasan\AppData\Local\Temp\claude\D--unfold-git-work-fisOPF\bdc8cb48-9752-4a6c-a524-d1dfc31f95fd\scratchpad/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97" y="4952025"/>
            <a:ext cx="245791" cy="24579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centralize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754880" y="476402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can carry wires, ACH, RTP, SWIFT, and internal transfers — today we use it for wires; the runway is there.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outbound wire — understand OPF and you understand how Discover moves money.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who's who in the wire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1673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Payments Framework — outbound wire engine (ex-Quantum)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751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Wires-App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75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wires UI / APIs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2374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processing for paper / fax / mail wires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82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BPM (Almanac)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182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case management &amp; dual approvals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856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Batch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856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Batch app: cases → OPF files; statuses → BPM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89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scheduler: request / response / file-watch jobs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9926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DFTP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4992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enterprise file transmission (SFTP-grade)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596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Payments / Pep+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560320" y="5596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 hub — formats files for OPF, cuts BCP backups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131673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/ QMS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QA team &amp; evidence store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19751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Finacle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1975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— debits, credits, GL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52374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Decision Engine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decisioning on wire requests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31821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182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wires workflow portal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7307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37856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37856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ETL for inbound BNY files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4389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ComplianceLink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OFAC / sanctions screening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493776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926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BNY Mellon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992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 / settlement agent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55961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files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596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Pep+ — manual wires via JPMorgan if OPF is down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wires-transfer-batch wiki · wires-inbound-flow.md · inbound-return.md · Architecture &amp; Data Stores slides (Outbound / Inbound) · FIS OPF platform notes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 OPF &amp; the Wire Transfer Architecture</dc:title>
  <dc:subject>PptxGenJS Presentation</dc:subject>
  <dc:creator>Money Movement</dc:creator>
  <cp:lastModifiedBy>Money Movement</cp:lastModifiedBy>
  <cp:revision>1</cp:revision>
  <dcterms:created xsi:type="dcterms:W3CDTF">2026-09-01T13:55:36Z</dcterms:created>
  <dcterms:modified xsi:type="dcterms:W3CDTF">2026-09-01T13:55:36Z</dcterms:modified>
</cp:coreProperties>
</file>